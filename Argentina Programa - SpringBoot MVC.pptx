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304" r:id="rId2"/>
    <p:sldId id="525" r:id="rId3"/>
    <p:sldId id="394" r:id="rId4"/>
    <p:sldId id="662" r:id="rId5"/>
    <p:sldId id="663" r:id="rId6"/>
    <p:sldId id="664" r:id="rId7"/>
    <p:sldId id="665" r:id="rId8"/>
    <p:sldId id="666" r:id="rId9"/>
    <p:sldId id="667" r:id="rId10"/>
    <p:sldId id="668" r:id="rId11"/>
    <p:sldId id="669" r:id="rId12"/>
    <p:sldId id="670" r:id="rId13"/>
    <p:sldId id="673" r:id="rId14"/>
    <p:sldId id="679" r:id="rId15"/>
    <p:sldId id="680" r:id="rId16"/>
    <p:sldId id="700" r:id="rId17"/>
    <p:sldId id="705" r:id="rId18"/>
    <p:sldId id="699" r:id="rId19"/>
    <p:sldId id="701" r:id="rId20"/>
    <p:sldId id="702" r:id="rId21"/>
    <p:sldId id="703" r:id="rId22"/>
    <p:sldId id="681" r:id="rId23"/>
    <p:sldId id="302" r:id="rId2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DA54"/>
    <a:srgbClr val="FDE23D"/>
    <a:srgbClr val="FBE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53" autoAdjust="0"/>
    <p:restoredTop sz="94660"/>
  </p:normalViewPr>
  <p:slideViewPr>
    <p:cSldViewPr snapToGrid="0">
      <p:cViewPr>
        <p:scale>
          <a:sx n="80" d="100"/>
          <a:sy n="80" d="100"/>
        </p:scale>
        <p:origin x="-348" y="-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4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BE8C58-22A4-4B46-91FB-20BA2CD12ABB}" type="datetimeFigureOut">
              <a:rPr lang="es-AR" smtClean="0"/>
              <a:t>3/3/2022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1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4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5ED687-2B03-400F-8981-3FC49579929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46432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p3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1863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" name="Google Shape;14;p3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54019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836079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2" name="Google Shape;32;p4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3" name="Google Shape;33;p4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7421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6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36" name="Google Shape;36;p4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279077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7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7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0" name="Google Shape;40;p47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1" name="Google Shape;41;p47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57189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4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93711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8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4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93323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49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355514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2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32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3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391563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</p:sldLayoutIdLst>
  <mc:AlternateContent xmlns:mc="http://schemas.openxmlformats.org/markup-compatibility/2006" xmlns:p14="http://schemas.microsoft.com/office/powerpoint/2010/main">
    <mc:Choice Requires="p14">
      <p:transition spd="slow" p14:dur="25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://www.profesor-p.com/2018/08/28/ejemplo-aplicacion-mvc-con-spring-boot-usando-netbeans-9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://localhost:8080/otra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://localhost:8080/otra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- 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Back </a:t>
            </a:r>
            <a:r>
              <a:rPr lang="es-ES" sz="4000" b="1" kern="0" dirty="0" err="1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 - 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3192686" y="2022493"/>
            <a:ext cx="7653505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effectLst/>
                <a:latin typeface="Encode Sans" panose="020B0604020202020204"/>
                <a:ea typeface="Calibri" panose="020F0502020204030204" pitchFamily="34" charset="0"/>
              </a:rPr>
              <a:t>Tema</a:t>
            </a:r>
            <a:r>
              <a:rPr lang="es-MX" sz="2400" b="1" dirty="0">
                <a:effectLst/>
                <a:latin typeface="Encode Sans" panose="020B0604020202020204"/>
                <a:ea typeface="Calibri" panose="020F0502020204030204" pitchFamily="34" charset="0"/>
              </a:rPr>
              <a:t>: </a:t>
            </a:r>
            <a:r>
              <a:rPr lang="es-MX" sz="2400" b="1" dirty="0" smtClean="0">
                <a:effectLst/>
                <a:latin typeface="Encode Sans" panose="020B0604020202020204"/>
                <a:ea typeface="Calibri" panose="020F0502020204030204" pitchFamily="34" charset="0"/>
              </a:rPr>
              <a:t>Spring y </a:t>
            </a:r>
            <a:r>
              <a:rPr lang="es-MX" sz="2400" b="1" dirty="0" err="1" smtClean="0">
                <a:effectLst/>
                <a:latin typeface="Encode Sans" panose="020B0604020202020204"/>
                <a:ea typeface="Calibri" panose="020F0502020204030204" pitchFamily="34" charset="0"/>
              </a:rPr>
              <a:t>MySQL</a:t>
            </a:r>
            <a:endParaRPr lang="es-MX" sz="2400" b="1" dirty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u="sng" dirty="0"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rgbClr val="000000"/>
                </a:solidFill>
                <a:latin typeface="Calibri" panose="020F0502020204030204" pitchFamily="34" charset="0"/>
              </a:rPr>
              <a:t>¿</a:t>
            </a:r>
            <a:r>
              <a:rPr lang="es-MX" dirty="0" smtClean="0">
                <a:solidFill>
                  <a:srgbClr val="000000"/>
                </a:solidFill>
                <a:latin typeface="Calibri" panose="020F0502020204030204" pitchFamily="34" charset="0"/>
              </a:rPr>
              <a:t>Qué es Spring?</a:t>
            </a:r>
            <a:endParaRPr lang="es-MX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rgbClr val="000000"/>
                </a:solidFill>
                <a:latin typeface="Calibri" panose="020F0502020204030204" pitchFamily="34" charset="0"/>
              </a:rPr>
              <a:t>¿Cuales son las ventajas de Spring?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 smtClean="0">
                <a:solidFill>
                  <a:srgbClr val="000000"/>
                </a:solidFill>
                <a:latin typeface="Calibri" panose="020F0502020204030204" pitchFamily="34" charset="0"/>
              </a:rPr>
              <a:t>Partes </a:t>
            </a:r>
            <a:r>
              <a:rPr lang="es-MX" dirty="0">
                <a:solidFill>
                  <a:srgbClr val="000000"/>
                </a:solidFill>
                <a:latin typeface="Calibri" panose="020F0502020204030204" pitchFamily="34" charset="0"/>
              </a:rPr>
              <a:t>Framework Spring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rgbClr val="000000"/>
                </a:solidFill>
                <a:latin typeface="Calibri" panose="020F0502020204030204" pitchFamily="34" charset="0"/>
              </a:rPr>
              <a:t>Instalación java para </a:t>
            </a:r>
            <a:r>
              <a:rPr lang="es-MX" dirty="0" err="1">
                <a:solidFill>
                  <a:srgbClr val="000000"/>
                </a:solidFill>
                <a:latin typeface="Calibri" panose="020F0502020204030204" pitchFamily="34" charset="0"/>
              </a:rPr>
              <a:t>VSCode</a:t>
            </a:r>
            <a:endParaRPr lang="es-MX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rgbClr val="000000"/>
                </a:solidFill>
                <a:latin typeface="Calibri" panose="020F0502020204030204" pitchFamily="34" charset="0"/>
              </a:rPr>
              <a:t>Verificar Versión de Java Instalado y desde </a:t>
            </a:r>
            <a:r>
              <a:rPr lang="es-MX" dirty="0" err="1">
                <a:solidFill>
                  <a:srgbClr val="000000"/>
                </a:solidFill>
                <a:latin typeface="Calibri" panose="020F0502020204030204" pitchFamily="34" charset="0"/>
              </a:rPr>
              <a:t>VSCode</a:t>
            </a:r>
            <a:endParaRPr lang="es-MX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rgbClr val="000000"/>
                </a:solidFill>
                <a:latin typeface="Calibri" panose="020F0502020204030204" pitchFamily="34" charset="0"/>
              </a:rPr>
              <a:t>Instalando Spring </a:t>
            </a:r>
            <a:r>
              <a:rPr lang="es-MX" dirty="0" err="1">
                <a:solidFill>
                  <a:srgbClr val="000000"/>
                </a:solidFill>
                <a:latin typeface="Calibri" panose="020F0502020204030204" pitchFamily="34" charset="0"/>
              </a:rPr>
              <a:t>Boot</a:t>
            </a:r>
            <a:r>
              <a:rPr lang="es-MX" dirty="0">
                <a:solidFill>
                  <a:srgbClr val="000000"/>
                </a:solidFill>
                <a:latin typeface="Calibri" panose="020F0502020204030204" pitchFamily="34" charset="0"/>
              </a:rPr>
              <a:t> en </a:t>
            </a:r>
            <a:r>
              <a:rPr lang="es-MX" dirty="0" err="1">
                <a:solidFill>
                  <a:srgbClr val="000000"/>
                </a:solidFill>
                <a:latin typeface="Calibri" panose="020F0502020204030204" pitchFamily="34" charset="0"/>
              </a:rPr>
              <a:t>VSCode</a:t>
            </a:r>
            <a:endParaRPr lang="es-MX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rgbClr val="000000"/>
                </a:solidFill>
                <a:latin typeface="Calibri" panose="020F0502020204030204" pitchFamily="34" charset="0"/>
              </a:rPr>
              <a:t>Ejemplo Spring </a:t>
            </a:r>
            <a:r>
              <a:rPr lang="es-MX" dirty="0" err="1">
                <a:solidFill>
                  <a:srgbClr val="000000"/>
                </a:solidFill>
                <a:latin typeface="Calibri" panose="020F0502020204030204" pitchFamily="34" charset="0"/>
              </a:rPr>
              <a:t>Boot</a:t>
            </a:r>
            <a:r>
              <a:rPr lang="es-MX" dirty="0">
                <a:solidFill>
                  <a:srgbClr val="000000"/>
                </a:solidFill>
                <a:latin typeface="Calibri" panose="020F0502020204030204" pitchFamily="34" charset="0"/>
              </a:rPr>
              <a:t> en </a:t>
            </a:r>
            <a:r>
              <a:rPr lang="es-MX" dirty="0" err="1">
                <a:solidFill>
                  <a:srgbClr val="000000"/>
                </a:solidFill>
                <a:latin typeface="Calibri" panose="020F0502020204030204" pitchFamily="34" charset="0"/>
              </a:rPr>
              <a:t>VSCode</a:t>
            </a:r>
            <a:endParaRPr lang="es-MX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rgbClr val="000000"/>
                </a:solidFill>
                <a:latin typeface="Calibri" panose="020F0502020204030204" pitchFamily="34" charset="0"/>
              </a:rPr>
              <a:t>Empaquetando archivos en un archivo JAR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rgbClr val="000000"/>
                </a:solidFill>
                <a:latin typeface="Calibri" panose="020F0502020204030204" pitchFamily="34" charset="0"/>
              </a:rPr>
              <a:t>Modificar </a:t>
            </a:r>
            <a:r>
              <a:rPr lang="es-MX" dirty="0" smtClean="0">
                <a:solidFill>
                  <a:srgbClr val="000000"/>
                </a:solidFill>
                <a:latin typeface="Calibri" panose="020F0502020204030204" pitchFamily="34" charset="0"/>
              </a:rPr>
              <a:t>Puerto</a:t>
            </a:r>
            <a:endParaRPr lang="es-MX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441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 - 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Spring </a:t>
            </a:r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MVC </a:t>
            </a:r>
          </a:p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Primera </a:t>
            </a:r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Parte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494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 - 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4"/>
            <a:ext cx="11131990" cy="3936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proyecto desde web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En nuestro caso generaremos un proyecto web </a:t>
            </a:r>
            <a:r>
              <a:rPr lang="es-AR" b="1" dirty="0" smtClean="0"/>
              <a:t>Spring Web</a:t>
            </a:r>
            <a:r>
              <a:rPr lang="es-ES" dirty="0" smtClean="0"/>
              <a:t> y utilizaremos un complemento llamado </a:t>
            </a:r>
            <a:r>
              <a:rPr lang="es-AR" b="1" dirty="0" err="1" smtClean="0"/>
              <a:t>Thymeleaf</a:t>
            </a:r>
            <a:r>
              <a:rPr lang="es-AR" b="1" dirty="0" smtClean="0"/>
              <a:t>  </a:t>
            </a:r>
            <a:r>
              <a:rPr lang="es-AR" dirty="0"/>
              <a:t>que es una </a:t>
            </a:r>
            <a:r>
              <a:rPr lang="es-AR" dirty="0" smtClean="0"/>
              <a:t>evolución de nuestro lenguaje </a:t>
            </a:r>
            <a:r>
              <a:rPr lang="es-AR" b="1" dirty="0" smtClean="0"/>
              <a:t>JSP Java</a:t>
            </a:r>
            <a:r>
              <a:rPr lang="es-ES" dirty="0" smtClean="0"/>
              <a:t> </a:t>
            </a:r>
            <a:r>
              <a:rPr lang="es-ES" dirty="0"/>
              <a:t>con diferentes mejoras y que se integra perfectamente con </a:t>
            </a:r>
            <a:r>
              <a:rPr lang="es-ES" dirty="0" smtClean="0"/>
              <a:t>Spring.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>
                <a:hlinkClick r:id="rId4"/>
              </a:rPr>
              <a:t>http://www.profesor-p.com/2018/08/28/ejemplo-aplicacion-mvc-con-spring-boot-usando-netbeans-9</a:t>
            </a:r>
            <a:r>
              <a:rPr lang="es-ES" dirty="0" smtClean="0">
                <a:hlinkClick r:id="rId4"/>
              </a:rPr>
              <a:t>/</a:t>
            </a: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/>
              <a:t>https://www.youtube.com/watch?v=SyoEVbeEFEQ</a:t>
            </a:r>
            <a:endParaRPr lang="es-ES" dirty="0" smtClean="0"/>
          </a:p>
        </p:txBody>
      </p:sp>
    </p:spTree>
    <p:extLst>
      <p:ext uri="{BB962C8B-B14F-4D97-AF65-F5344CB8AC3E}">
        <p14:creationId xmlns:p14="http://schemas.microsoft.com/office/powerpoint/2010/main" val="361625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5"/>
            <a:ext cx="11131990" cy="175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Abrimos la paleta de comandos con </a:t>
            </a:r>
            <a:r>
              <a:rPr lang="es-ES" dirty="0" err="1" smtClean="0"/>
              <a:t>ctrl+shift+p</a:t>
            </a:r>
            <a:r>
              <a:rPr lang="es-ES" dirty="0" smtClean="0"/>
              <a:t>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Indicamos el siguiente comando dentro de dicha paleta.</a:t>
            </a: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4889" y="3764476"/>
            <a:ext cx="9717132" cy="21019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09243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5"/>
            <a:ext cx="11131990" cy="175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Debemos de especificar la versión de nuestro Sprint </a:t>
            </a:r>
            <a:r>
              <a:rPr lang="es-ES" dirty="0" err="1" smtClean="0"/>
              <a:t>Boot</a:t>
            </a:r>
            <a:r>
              <a:rPr lang="es-ES" dirty="0" smtClean="0"/>
              <a:t>.</a:t>
            </a: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3" name="Picture 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4843" y="3538846"/>
            <a:ext cx="6972927" cy="30173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32747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5"/>
            <a:ext cx="11131990" cy="175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Debemos de especificar el lenguaje de programación a utilizar en nuestro proyecto, en nuestro caso será Java.</a:t>
            </a: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712" y="3747655"/>
            <a:ext cx="8582759" cy="20712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93181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1419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Debemos de especificar el nombre de nuestra dirección o dominio web para nuestro proyecto.</a:t>
            </a: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404" y="3325092"/>
            <a:ext cx="8095037" cy="16117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2013" y="4932047"/>
            <a:ext cx="6059509" cy="1570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Flecha derecha"/>
          <p:cNvSpPr/>
          <p:nvPr/>
        </p:nvSpPr>
        <p:spPr>
          <a:xfrm rot="1735653">
            <a:off x="2410691" y="4846174"/>
            <a:ext cx="2042556" cy="5106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56621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120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Especificamos el correspondiente nombre de nuestro proyecto.</a:t>
            </a: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724" y="3111335"/>
            <a:ext cx="5981107" cy="1401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3948" y="4805939"/>
            <a:ext cx="5767557" cy="1607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Flecha derecha"/>
          <p:cNvSpPr/>
          <p:nvPr/>
        </p:nvSpPr>
        <p:spPr>
          <a:xfrm rot="1405322">
            <a:off x="1640660" y="4465067"/>
            <a:ext cx="3296767" cy="5106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6185252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1466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Especificamos el paquete que se utilizara para el tipo de aplicación a realizar, en nuestro caso la aplicación es web por ende se debería e elegir «</a:t>
            </a:r>
            <a:r>
              <a:rPr lang="es-ES" dirty="0" err="1" smtClean="0"/>
              <a:t>War</a:t>
            </a:r>
            <a:r>
              <a:rPr lang="es-ES" dirty="0" smtClean="0"/>
              <a:t>» pero también e la puede realizar de tipo «</a:t>
            </a:r>
            <a:r>
              <a:rPr lang="es-ES" dirty="0" err="1" smtClean="0"/>
              <a:t>Jar</a:t>
            </a:r>
            <a:r>
              <a:rPr lang="es-ES" dirty="0" smtClean="0"/>
              <a:t>» que será la que nosotros elegiremos.</a:t>
            </a: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053" y="3533595"/>
            <a:ext cx="6286500" cy="154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5726" y="4809506"/>
            <a:ext cx="7374844" cy="18101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Flecha derecha"/>
          <p:cNvSpPr/>
          <p:nvPr/>
        </p:nvSpPr>
        <p:spPr>
          <a:xfrm rot="1405322">
            <a:off x="1522330" y="4944413"/>
            <a:ext cx="3296767" cy="38688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981199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120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Especificamos la versión del Java instalado en nuestro caso será la versión 11.</a:t>
            </a: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048" y="3105645"/>
            <a:ext cx="4943475" cy="1562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291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3042" y="4417373"/>
            <a:ext cx="6539884" cy="2066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Flecha derecha"/>
          <p:cNvSpPr/>
          <p:nvPr/>
        </p:nvSpPr>
        <p:spPr>
          <a:xfrm rot="1405322">
            <a:off x="1577496" y="4697674"/>
            <a:ext cx="4165631" cy="4112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74937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7"/>
            <a:ext cx="11131990" cy="1442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Según la intención de nuestra aplicación en esta parte se agregaran los distintos tipos de dependencias que necesitaremos en nuestro proyecto.</a:t>
            </a: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148" y="3491347"/>
            <a:ext cx="10034603" cy="30117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46972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7"/>
            <a:ext cx="11131990" cy="36062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/>
              <a:t>En este caso agregaremos las </a:t>
            </a:r>
            <a:r>
              <a:rPr lang="es-ES" dirty="0" smtClean="0"/>
              <a:t>dependencias: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AR" b="1" dirty="0" smtClean="0"/>
              <a:t>Spring Web</a:t>
            </a:r>
            <a:r>
              <a:rPr lang="es-ES" dirty="0" smtClean="0"/>
              <a:t>…, para poder generar aplicaciones </a:t>
            </a:r>
          </a:p>
          <a:p>
            <a:r>
              <a:rPr lang="es-ES" dirty="0" smtClean="0"/>
              <a:t>de tipo web.</a:t>
            </a:r>
          </a:p>
          <a:p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AR" b="1" dirty="0" err="1" smtClean="0"/>
              <a:t>Thymeleaf</a:t>
            </a:r>
            <a:r>
              <a:rPr lang="es-AR" b="1" dirty="0" smtClean="0"/>
              <a:t>…, </a:t>
            </a:r>
            <a:r>
              <a:rPr lang="es-AR" dirty="0"/>
              <a:t>es una evolución de nuestro </a:t>
            </a:r>
            <a:r>
              <a:rPr lang="es-AR" dirty="0" smtClean="0"/>
              <a:t>lenguaje</a:t>
            </a:r>
          </a:p>
          <a:p>
            <a:r>
              <a:rPr lang="es-AR" b="1" dirty="0" smtClean="0"/>
              <a:t>JSP </a:t>
            </a:r>
            <a:r>
              <a:rPr lang="es-AR" b="1" dirty="0"/>
              <a:t>Java</a:t>
            </a:r>
            <a:r>
              <a:rPr lang="es-ES" dirty="0"/>
              <a:t> con diferentes mejoras y que se integra </a:t>
            </a:r>
            <a:endParaRPr lang="es-ES" dirty="0" smtClean="0"/>
          </a:p>
          <a:p>
            <a:r>
              <a:rPr lang="es-ES" dirty="0" smtClean="0"/>
              <a:t>perfectamente </a:t>
            </a:r>
            <a:r>
              <a:rPr lang="es-ES" dirty="0"/>
              <a:t>con Spring. </a:t>
            </a: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8555" y="2553194"/>
            <a:ext cx="5993032" cy="14065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9195" y="4184443"/>
            <a:ext cx="5351751" cy="2513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39023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7"/>
            <a:ext cx="11131990" cy="1407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Finalizado el proceso de generación procedemos a abrir el mismo presionando el botón de Abrir, ubicado en el margen inferior derecha de nuestro </a:t>
            </a:r>
            <a:r>
              <a:rPr lang="es-ES" dirty="0" err="1" smtClean="0"/>
              <a:t>VSCode</a:t>
            </a:r>
            <a:r>
              <a:rPr lang="es-ES" dirty="0" smtClean="0"/>
              <a:t>.</a:t>
            </a:r>
          </a:p>
          <a:p>
            <a:endParaRPr lang="es-ES" dirty="0"/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501" y="3308137"/>
            <a:ext cx="5509162" cy="27369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Flecha derecha"/>
          <p:cNvSpPr/>
          <p:nvPr/>
        </p:nvSpPr>
        <p:spPr>
          <a:xfrm rot="1547129">
            <a:off x="2306464" y="4409511"/>
            <a:ext cx="3087584" cy="4248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6444" y="2895735"/>
            <a:ext cx="3667496" cy="38639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8 Flecha derecha"/>
          <p:cNvSpPr/>
          <p:nvPr/>
        </p:nvSpPr>
        <p:spPr>
          <a:xfrm rot="20636814">
            <a:off x="5943634" y="4929903"/>
            <a:ext cx="2706833" cy="4248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316060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8"/>
            <a:ext cx="11131990" cy="50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Rectángulo"/>
          <p:cNvSpPr/>
          <p:nvPr/>
        </p:nvSpPr>
        <p:spPr>
          <a:xfrm>
            <a:off x="364177" y="2777169"/>
            <a:ext cx="11475522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Procedemos a crear un archivo index.html dentro de nuestro directorio </a:t>
            </a:r>
            <a:r>
              <a:rPr lang="es-ES" dirty="0" err="1" smtClean="0"/>
              <a:t>static</a:t>
            </a:r>
            <a:r>
              <a:rPr lang="es-ES" dirty="0" smtClean="0"/>
              <a:t> que se encuentra dentro de </a:t>
            </a:r>
            <a:r>
              <a:rPr lang="es-ES" dirty="0" err="1" smtClean="0"/>
              <a:t>src</a:t>
            </a:r>
            <a:r>
              <a:rPr lang="es-ES" dirty="0" smtClean="0"/>
              <a:t>-&gt;</a:t>
            </a:r>
            <a:r>
              <a:rPr lang="es-ES" dirty="0" err="1" smtClean="0"/>
              <a:t>main</a:t>
            </a:r>
            <a:r>
              <a:rPr lang="es-ES" dirty="0" smtClean="0"/>
              <a:t>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Dentro de nuestro archivo index.html </a:t>
            </a:r>
          </a:p>
          <a:p>
            <a:r>
              <a:rPr lang="es-ES" dirty="0" smtClean="0"/>
              <a:t>redactaremos el siguiente código.</a:t>
            </a:r>
          </a:p>
          <a:p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Agregamos un código </a:t>
            </a:r>
            <a:r>
              <a:rPr lang="es-ES" dirty="0" err="1" smtClean="0"/>
              <a:t>html</a:t>
            </a:r>
            <a:r>
              <a:rPr lang="es-ES" dirty="0" smtClean="0"/>
              <a:t> dentro de</a:t>
            </a:r>
          </a:p>
          <a:p>
            <a:r>
              <a:rPr lang="es-ES" dirty="0" smtClean="0"/>
              <a:t>nuestro </a:t>
            </a:r>
            <a:r>
              <a:rPr lang="es-ES" dirty="0" err="1" smtClean="0"/>
              <a:t>index.tml</a:t>
            </a:r>
            <a:r>
              <a:rPr lang="es-ES" dirty="0" smtClean="0"/>
              <a:t> y lo hacemos </a:t>
            </a:r>
          </a:p>
          <a:p>
            <a:r>
              <a:rPr lang="es-ES" dirty="0" smtClean="0"/>
              <a:t>presionando </a:t>
            </a:r>
            <a:r>
              <a:rPr lang="es-ES" dirty="0" err="1" smtClean="0"/>
              <a:t>ctrl</a:t>
            </a:r>
            <a:r>
              <a:rPr lang="es-ES" dirty="0" smtClean="0"/>
              <a:t> + barra espacio y del</a:t>
            </a:r>
          </a:p>
          <a:p>
            <a:r>
              <a:rPr lang="es-ES" dirty="0"/>
              <a:t>m</a:t>
            </a:r>
            <a:r>
              <a:rPr lang="es-ES" dirty="0" smtClean="0"/>
              <a:t>enú seleccionaremos </a:t>
            </a:r>
            <a:r>
              <a:rPr lang="es-ES" dirty="0" err="1" smtClean="0"/>
              <a:t>html</a:t>
            </a:r>
            <a:endParaRPr lang="es-ES" dirty="0" smtClean="0"/>
          </a:p>
        </p:txBody>
      </p:sp>
      <p:pic>
        <p:nvPicPr>
          <p:cNvPr id="2150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5467" y="3264476"/>
            <a:ext cx="2655021" cy="33387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2531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9216" y="3264476"/>
            <a:ext cx="5501410" cy="26738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1" name="10 Flecha derecha"/>
          <p:cNvSpPr/>
          <p:nvPr/>
        </p:nvSpPr>
        <p:spPr>
          <a:xfrm rot="20171498">
            <a:off x="6316366" y="4983167"/>
            <a:ext cx="3104565" cy="343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594070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8"/>
            <a:ext cx="11131990" cy="50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Rectángulo"/>
          <p:cNvSpPr/>
          <p:nvPr/>
        </p:nvSpPr>
        <p:spPr>
          <a:xfrm>
            <a:off x="364177" y="2777169"/>
            <a:ext cx="11475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Agregamos a nuestro index.html un encabezado h1 con un mensaje de bienvenida.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Guardamos el cambio y volvemos a poner en funcionamiento nuestro servidor, logrando así cambiar nuestro mensaje de error por el mensaje que se encuentra dentro de nuestro archivo </a:t>
            </a:r>
            <a:r>
              <a:rPr lang="es-ES" dirty="0" err="1" smtClean="0"/>
              <a:t>index.tml</a:t>
            </a:r>
            <a:r>
              <a:rPr lang="es-ES" dirty="0" smtClean="0"/>
              <a:t>.</a:t>
            </a:r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176" y="4212520"/>
            <a:ext cx="4942665" cy="18438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5862" y="4874461"/>
            <a:ext cx="5898078" cy="18825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1" name="10 Flecha derecha"/>
          <p:cNvSpPr/>
          <p:nvPr/>
        </p:nvSpPr>
        <p:spPr>
          <a:xfrm rot="588393">
            <a:off x="3971231" y="5703167"/>
            <a:ext cx="1697817" cy="343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08787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8"/>
            <a:ext cx="11131990" cy="50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Rectángulo"/>
          <p:cNvSpPr/>
          <p:nvPr/>
        </p:nvSpPr>
        <p:spPr>
          <a:xfrm>
            <a:off x="364177" y="2777169"/>
            <a:ext cx="11475522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Código index.html</a:t>
            </a:r>
          </a:p>
          <a:p>
            <a:endParaRPr lang="es-ES" dirty="0"/>
          </a:p>
          <a:p>
            <a:r>
              <a:rPr lang="es-AR" dirty="0"/>
              <a:t>&lt;!DOCTYPE </a:t>
            </a:r>
            <a:r>
              <a:rPr lang="es-AR" dirty="0" err="1"/>
              <a:t>html</a:t>
            </a:r>
            <a:r>
              <a:rPr lang="es-AR" dirty="0"/>
              <a:t>&gt;</a:t>
            </a:r>
          </a:p>
          <a:p>
            <a:r>
              <a:rPr lang="es-AR" dirty="0"/>
              <a:t>&lt;</a:t>
            </a:r>
            <a:r>
              <a:rPr lang="es-AR" dirty="0" err="1"/>
              <a:t>html</a:t>
            </a:r>
            <a:r>
              <a:rPr lang="es-AR" dirty="0" smtClean="0"/>
              <a:t>&gt;&lt;</a:t>
            </a:r>
            <a:r>
              <a:rPr lang="es-AR" dirty="0"/>
              <a:t>head&gt;</a:t>
            </a:r>
          </a:p>
          <a:p>
            <a:r>
              <a:rPr lang="es-AR" dirty="0"/>
              <a:t>    &lt;meta </a:t>
            </a:r>
            <a:r>
              <a:rPr lang="es-AR" dirty="0" err="1"/>
              <a:t>charset</a:t>
            </a:r>
            <a:r>
              <a:rPr lang="es-AR" dirty="0"/>
              <a:t>='utf-8'&gt;</a:t>
            </a:r>
          </a:p>
          <a:p>
            <a:r>
              <a:rPr lang="es-AR" dirty="0"/>
              <a:t>    &lt;meta http-</a:t>
            </a:r>
            <a:r>
              <a:rPr lang="es-AR" dirty="0" err="1"/>
              <a:t>equiv</a:t>
            </a:r>
            <a:r>
              <a:rPr lang="es-AR" dirty="0"/>
              <a:t>='X-UA-Compatible' </a:t>
            </a:r>
            <a:r>
              <a:rPr lang="es-AR" dirty="0" err="1"/>
              <a:t>content</a:t>
            </a:r>
            <a:r>
              <a:rPr lang="es-AR" dirty="0"/>
              <a:t>='IE=</a:t>
            </a:r>
            <a:r>
              <a:rPr lang="es-AR" dirty="0" err="1"/>
              <a:t>edge</a:t>
            </a:r>
            <a:r>
              <a:rPr lang="es-AR" dirty="0"/>
              <a:t>'&gt;</a:t>
            </a:r>
          </a:p>
          <a:p>
            <a:r>
              <a:rPr lang="es-AR" dirty="0"/>
              <a:t>    &lt;</a:t>
            </a:r>
            <a:r>
              <a:rPr lang="es-AR" dirty="0" err="1"/>
              <a:t>title</a:t>
            </a:r>
            <a:r>
              <a:rPr lang="es-AR" dirty="0"/>
              <a:t>&gt;</a:t>
            </a:r>
            <a:r>
              <a:rPr lang="es-AR" dirty="0" err="1"/>
              <a:t>SpringBoot</a:t>
            </a:r>
            <a:r>
              <a:rPr lang="es-AR" dirty="0"/>
              <a:t>&lt;/</a:t>
            </a:r>
            <a:r>
              <a:rPr lang="es-AR" dirty="0" err="1"/>
              <a:t>title</a:t>
            </a:r>
            <a:r>
              <a:rPr lang="es-AR" dirty="0"/>
              <a:t>&gt;</a:t>
            </a:r>
          </a:p>
          <a:p>
            <a:r>
              <a:rPr lang="es-AR" dirty="0"/>
              <a:t>    &lt;meta </a:t>
            </a:r>
            <a:r>
              <a:rPr lang="es-AR" dirty="0" err="1"/>
              <a:t>name</a:t>
            </a:r>
            <a:r>
              <a:rPr lang="es-AR" dirty="0"/>
              <a:t>='</a:t>
            </a:r>
            <a:r>
              <a:rPr lang="es-AR" dirty="0" err="1"/>
              <a:t>viewport</a:t>
            </a:r>
            <a:r>
              <a:rPr lang="es-AR" dirty="0"/>
              <a:t>' </a:t>
            </a:r>
            <a:r>
              <a:rPr lang="es-AR" dirty="0" err="1"/>
              <a:t>content</a:t>
            </a:r>
            <a:r>
              <a:rPr lang="es-AR" dirty="0"/>
              <a:t>='</a:t>
            </a:r>
            <a:r>
              <a:rPr lang="es-AR" dirty="0" err="1"/>
              <a:t>width</a:t>
            </a:r>
            <a:r>
              <a:rPr lang="es-AR" dirty="0"/>
              <a:t>=</a:t>
            </a:r>
            <a:r>
              <a:rPr lang="es-AR" dirty="0" err="1"/>
              <a:t>device-width</a:t>
            </a:r>
            <a:r>
              <a:rPr lang="es-AR" dirty="0"/>
              <a:t>, </a:t>
            </a:r>
            <a:r>
              <a:rPr lang="es-AR" dirty="0" err="1"/>
              <a:t>initial-scale</a:t>
            </a:r>
            <a:r>
              <a:rPr lang="es-AR" dirty="0"/>
              <a:t>=1'&gt;</a:t>
            </a:r>
          </a:p>
          <a:p>
            <a:r>
              <a:rPr lang="es-AR" dirty="0"/>
              <a:t>    &lt;link </a:t>
            </a:r>
            <a:r>
              <a:rPr lang="es-AR" dirty="0" err="1"/>
              <a:t>rel</a:t>
            </a:r>
            <a:r>
              <a:rPr lang="es-AR" dirty="0"/>
              <a:t>='</a:t>
            </a:r>
            <a:r>
              <a:rPr lang="es-AR" dirty="0" err="1"/>
              <a:t>stylesheet</a:t>
            </a:r>
            <a:r>
              <a:rPr lang="es-AR" dirty="0"/>
              <a:t>' </a:t>
            </a:r>
            <a:r>
              <a:rPr lang="es-AR" dirty="0" err="1"/>
              <a:t>type</a:t>
            </a:r>
            <a:r>
              <a:rPr lang="es-AR" dirty="0"/>
              <a:t>='</a:t>
            </a:r>
            <a:r>
              <a:rPr lang="es-AR" dirty="0" err="1"/>
              <a:t>text</a:t>
            </a:r>
            <a:r>
              <a:rPr lang="es-AR" dirty="0"/>
              <a:t>/</a:t>
            </a:r>
            <a:r>
              <a:rPr lang="es-AR" dirty="0" err="1"/>
              <a:t>css</a:t>
            </a:r>
            <a:r>
              <a:rPr lang="es-AR" dirty="0"/>
              <a:t>' media='</a:t>
            </a:r>
            <a:r>
              <a:rPr lang="es-AR" dirty="0" err="1"/>
              <a:t>screen</a:t>
            </a:r>
            <a:r>
              <a:rPr lang="es-AR" dirty="0"/>
              <a:t>' </a:t>
            </a:r>
            <a:r>
              <a:rPr lang="es-AR" dirty="0" err="1"/>
              <a:t>href</a:t>
            </a:r>
            <a:r>
              <a:rPr lang="es-AR" dirty="0"/>
              <a:t>='main.css'&gt;</a:t>
            </a:r>
          </a:p>
          <a:p>
            <a:r>
              <a:rPr lang="es-AR" dirty="0"/>
              <a:t>    &lt;script </a:t>
            </a:r>
            <a:r>
              <a:rPr lang="es-AR" dirty="0" err="1"/>
              <a:t>src</a:t>
            </a:r>
            <a:r>
              <a:rPr lang="es-AR" dirty="0"/>
              <a:t>='main.js'&gt;&lt;/script&gt;</a:t>
            </a:r>
          </a:p>
          <a:p>
            <a:r>
              <a:rPr lang="es-AR" dirty="0"/>
              <a:t>&lt;/head&gt;</a:t>
            </a:r>
          </a:p>
          <a:p>
            <a:r>
              <a:rPr lang="es-AR" dirty="0"/>
              <a:t>&lt;</a:t>
            </a:r>
            <a:r>
              <a:rPr lang="es-AR" dirty="0" err="1"/>
              <a:t>body</a:t>
            </a:r>
            <a:r>
              <a:rPr lang="es-AR" dirty="0"/>
              <a:t>&gt;</a:t>
            </a:r>
          </a:p>
          <a:p>
            <a:r>
              <a:rPr lang="es-AR" dirty="0"/>
              <a:t>    &lt;h1&gt;Bienvenidos a </a:t>
            </a:r>
            <a:r>
              <a:rPr lang="es-AR" dirty="0" err="1"/>
              <a:t>SpringBoot</a:t>
            </a:r>
            <a:r>
              <a:rPr lang="es-AR" dirty="0"/>
              <a:t> con MVC&lt;/h1&gt;</a:t>
            </a:r>
          </a:p>
          <a:p>
            <a:r>
              <a:rPr lang="es-AR" dirty="0"/>
              <a:t>&lt;/</a:t>
            </a:r>
            <a:r>
              <a:rPr lang="es-AR" dirty="0" err="1"/>
              <a:t>body</a:t>
            </a:r>
            <a:r>
              <a:rPr lang="es-AR" dirty="0" smtClean="0"/>
              <a:t>&gt;&lt;/</a:t>
            </a:r>
            <a:r>
              <a:rPr lang="es-AR" dirty="0" err="1"/>
              <a:t>html</a:t>
            </a:r>
            <a:r>
              <a:rPr lang="es-AR" dirty="0" smtClean="0"/>
              <a:t>&gt;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1636456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 - 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Spring MVC </a:t>
            </a:r>
          </a:p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Segunda Parte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1343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8"/>
            <a:ext cx="11131990" cy="50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Rectángulo"/>
          <p:cNvSpPr/>
          <p:nvPr/>
        </p:nvSpPr>
        <p:spPr>
          <a:xfrm>
            <a:off x="364177" y="2777169"/>
            <a:ext cx="1147552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Agregamos dentro de la carpeta template un nuevo archivo llamado otrapagina.html un encabezado h1 con un mensaje de identificación de la misma.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Guardamos el cambio.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Ejecutamos nuestra aplicación y deberíamos de ver a nuestro archivo index.html con su correspondiente mensaje.</a:t>
            </a: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</p:txBody>
      </p:sp>
    </p:spTree>
    <p:extLst>
      <p:ext uri="{BB962C8B-B14F-4D97-AF65-F5344CB8AC3E}">
        <p14:creationId xmlns:p14="http://schemas.microsoft.com/office/powerpoint/2010/main" val="891426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8"/>
            <a:ext cx="11131990" cy="50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Rectángulo"/>
          <p:cNvSpPr/>
          <p:nvPr/>
        </p:nvSpPr>
        <p:spPr>
          <a:xfrm>
            <a:off x="364177" y="2777169"/>
            <a:ext cx="11475522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Código </a:t>
            </a:r>
            <a:r>
              <a:rPr lang="es-ES" u="sng" dirty="0" smtClean="0"/>
              <a:t>otrapagina.html</a:t>
            </a:r>
          </a:p>
          <a:p>
            <a:endParaRPr lang="es-ES" dirty="0"/>
          </a:p>
          <a:p>
            <a:r>
              <a:rPr lang="es-AR" dirty="0"/>
              <a:t>&lt;!DOCTYPE </a:t>
            </a:r>
            <a:r>
              <a:rPr lang="es-AR" dirty="0" err="1"/>
              <a:t>html</a:t>
            </a:r>
            <a:r>
              <a:rPr lang="es-AR" dirty="0"/>
              <a:t>&gt;</a:t>
            </a:r>
          </a:p>
          <a:p>
            <a:r>
              <a:rPr lang="es-AR" dirty="0"/>
              <a:t>&lt;</a:t>
            </a:r>
            <a:r>
              <a:rPr lang="es-AR" dirty="0" err="1"/>
              <a:t>html</a:t>
            </a:r>
            <a:r>
              <a:rPr lang="es-AR" dirty="0" smtClean="0"/>
              <a:t>&gt;&lt;</a:t>
            </a:r>
            <a:r>
              <a:rPr lang="es-AR" dirty="0"/>
              <a:t>head&gt;</a:t>
            </a:r>
          </a:p>
          <a:p>
            <a:r>
              <a:rPr lang="es-AR" dirty="0"/>
              <a:t>    &lt;meta </a:t>
            </a:r>
            <a:r>
              <a:rPr lang="es-AR" dirty="0" err="1"/>
              <a:t>charset</a:t>
            </a:r>
            <a:r>
              <a:rPr lang="es-AR" dirty="0"/>
              <a:t>='utf-8'&gt;</a:t>
            </a:r>
          </a:p>
          <a:p>
            <a:r>
              <a:rPr lang="es-AR" dirty="0"/>
              <a:t>    &lt;meta http-</a:t>
            </a:r>
            <a:r>
              <a:rPr lang="es-AR" dirty="0" err="1"/>
              <a:t>equiv</a:t>
            </a:r>
            <a:r>
              <a:rPr lang="es-AR" dirty="0"/>
              <a:t>='X-UA-Compatible' </a:t>
            </a:r>
            <a:r>
              <a:rPr lang="es-AR" dirty="0" err="1"/>
              <a:t>content</a:t>
            </a:r>
            <a:r>
              <a:rPr lang="es-AR" dirty="0"/>
              <a:t>='IE=</a:t>
            </a:r>
            <a:r>
              <a:rPr lang="es-AR" dirty="0" err="1"/>
              <a:t>edge</a:t>
            </a:r>
            <a:r>
              <a:rPr lang="es-AR" dirty="0"/>
              <a:t>'&gt;</a:t>
            </a:r>
          </a:p>
          <a:p>
            <a:r>
              <a:rPr lang="es-AR" dirty="0"/>
              <a:t>    &lt;</a:t>
            </a:r>
            <a:r>
              <a:rPr lang="es-AR" dirty="0" err="1"/>
              <a:t>title</a:t>
            </a:r>
            <a:r>
              <a:rPr lang="es-AR" dirty="0"/>
              <a:t>&gt;</a:t>
            </a:r>
            <a:r>
              <a:rPr lang="es-AR" dirty="0" err="1"/>
              <a:t>SpringBoot</a:t>
            </a:r>
            <a:r>
              <a:rPr lang="es-AR" dirty="0"/>
              <a:t>&lt;/</a:t>
            </a:r>
            <a:r>
              <a:rPr lang="es-AR" dirty="0" err="1"/>
              <a:t>title</a:t>
            </a:r>
            <a:r>
              <a:rPr lang="es-AR" dirty="0"/>
              <a:t>&gt;</a:t>
            </a:r>
          </a:p>
          <a:p>
            <a:r>
              <a:rPr lang="es-AR" dirty="0"/>
              <a:t>    &lt;meta </a:t>
            </a:r>
            <a:r>
              <a:rPr lang="es-AR" dirty="0" err="1"/>
              <a:t>name</a:t>
            </a:r>
            <a:r>
              <a:rPr lang="es-AR" dirty="0"/>
              <a:t>='</a:t>
            </a:r>
            <a:r>
              <a:rPr lang="es-AR" dirty="0" err="1"/>
              <a:t>viewport</a:t>
            </a:r>
            <a:r>
              <a:rPr lang="es-AR" dirty="0"/>
              <a:t>' </a:t>
            </a:r>
            <a:r>
              <a:rPr lang="es-AR" dirty="0" err="1"/>
              <a:t>content</a:t>
            </a:r>
            <a:r>
              <a:rPr lang="es-AR" dirty="0"/>
              <a:t>='</a:t>
            </a:r>
            <a:r>
              <a:rPr lang="es-AR" dirty="0" err="1"/>
              <a:t>width</a:t>
            </a:r>
            <a:r>
              <a:rPr lang="es-AR" dirty="0"/>
              <a:t>=</a:t>
            </a:r>
            <a:r>
              <a:rPr lang="es-AR" dirty="0" err="1"/>
              <a:t>device-width</a:t>
            </a:r>
            <a:r>
              <a:rPr lang="es-AR" dirty="0"/>
              <a:t>, </a:t>
            </a:r>
            <a:r>
              <a:rPr lang="es-AR" dirty="0" err="1"/>
              <a:t>initial-scale</a:t>
            </a:r>
            <a:r>
              <a:rPr lang="es-AR" dirty="0"/>
              <a:t>=1'&gt;</a:t>
            </a:r>
          </a:p>
          <a:p>
            <a:r>
              <a:rPr lang="es-AR" dirty="0"/>
              <a:t>    &lt;link </a:t>
            </a:r>
            <a:r>
              <a:rPr lang="es-AR" dirty="0" err="1"/>
              <a:t>rel</a:t>
            </a:r>
            <a:r>
              <a:rPr lang="es-AR" dirty="0"/>
              <a:t>='</a:t>
            </a:r>
            <a:r>
              <a:rPr lang="es-AR" dirty="0" err="1"/>
              <a:t>stylesheet</a:t>
            </a:r>
            <a:r>
              <a:rPr lang="es-AR" dirty="0"/>
              <a:t>' </a:t>
            </a:r>
            <a:r>
              <a:rPr lang="es-AR" dirty="0" err="1"/>
              <a:t>type</a:t>
            </a:r>
            <a:r>
              <a:rPr lang="es-AR" dirty="0"/>
              <a:t>='</a:t>
            </a:r>
            <a:r>
              <a:rPr lang="es-AR" dirty="0" err="1"/>
              <a:t>text</a:t>
            </a:r>
            <a:r>
              <a:rPr lang="es-AR" dirty="0"/>
              <a:t>/</a:t>
            </a:r>
            <a:r>
              <a:rPr lang="es-AR" dirty="0" err="1"/>
              <a:t>css</a:t>
            </a:r>
            <a:r>
              <a:rPr lang="es-AR" dirty="0"/>
              <a:t>' media='</a:t>
            </a:r>
            <a:r>
              <a:rPr lang="es-AR" dirty="0" err="1"/>
              <a:t>screen</a:t>
            </a:r>
            <a:r>
              <a:rPr lang="es-AR" dirty="0"/>
              <a:t>' </a:t>
            </a:r>
            <a:r>
              <a:rPr lang="es-AR" dirty="0" err="1"/>
              <a:t>href</a:t>
            </a:r>
            <a:r>
              <a:rPr lang="es-AR" dirty="0"/>
              <a:t>='main.css'&gt;</a:t>
            </a:r>
          </a:p>
          <a:p>
            <a:r>
              <a:rPr lang="es-AR" dirty="0"/>
              <a:t>    &lt;script </a:t>
            </a:r>
            <a:r>
              <a:rPr lang="es-AR" dirty="0" err="1"/>
              <a:t>src</a:t>
            </a:r>
            <a:r>
              <a:rPr lang="es-AR" dirty="0"/>
              <a:t>='main.js'&gt;&lt;/script&gt;</a:t>
            </a:r>
          </a:p>
          <a:p>
            <a:r>
              <a:rPr lang="es-AR" dirty="0"/>
              <a:t>&lt;/head&gt;</a:t>
            </a:r>
          </a:p>
          <a:p>
            <a:r>
              <a:rPr lang="es-AR" dirty="0"/>
              <a:t>&lt;</a:t>
            </a:r>
            <a:r>
              <a:rPr lang="es-AR" dirty="0" err="1"/>
              <a:t>body</a:t>
            </a:r>
            <a:r>
              <a:rPr lang="es-AR" dirty="0"/>
              <a:t>&gt;</a:t>
            </a:r>
          </a:p>
          <a:p>
            <a:r>
              <a:rPr lang="es-AR" dirty="0" smtClean="0"/>
              <a:t>    &lt;h1&gt;</a:t>
            </a:r>
            <a:r>
              <a:rPr lang="es-AR" dirty="0"/>
              <a:t>Hasta pronto</a:t>
            </a:r>
            <a:r>
              <a:rPr lang="es-AR" u="sng" dirty="0" smtClean="0"/>
              <a:t>!!!&lt;/</a:t>
            </a:r>
            <a:r>
              <a:rPr lang="es-AR" dirty="0" smtClean="0"/>
              <a:t>h1&gt;</a:t>
            </a:r>
          </a:p>
          <a:p>
            <a:r>
              <a:rPr lang="es-AR" dirty="0" smtClean="0"/>
              <a:t>&lt;/</a:t>
            </a:r>
            <a:r>
              <a:rPr lang="es-AR" dirty="0" err="1"/>
              <a:t>body</a:t>
            </a:r>
            <a:r>
              <a:rPr lang="es-AR" dirty="0" smtClean="0"/>
              <a:t>&gt;&lt;/</a:t>
            </a:r>
            <a:r>
              <a:rPr lang="es-AR" dirty="0" err="1"/>
              <a:t>html</a:t>
            </a:r>
            <a:r>
              <a:rPr lang="es-AR" dirty="0" smtClean="0"/>
              <a:t>&gt;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8694655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8"/>
            <a:ext cx="11131990" cy="50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Rectángulo"/>
          <p:cNvSpPr/>
          <p:nvPr/>
        </p:nvSpPr>
        <p:spPr>
          <a:xfrm>
            <a:off x="364177" y="2777169"/>
            <a:ext cx="11475522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Procederemos a crear </a:t>
            </a:r>
            <a:r>
              <a:rPr lang="es-ES" dirty="0"/>
              <a:t>el controlador para que se pueda mostrar la pagina otrapagina.html. </a:t>
            </a: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Para </a:t>
            </a:r>
            <a:r>
              <a:rPr lang="es-ES" dirty="0"/>
              <a:t>ello, en </a:t>
            </a:r>
            <a:r>
              <a:rPr lang="es-ES" dirty="0" err="1" smtClean="0"/>
              <a:t>src</a:t>
            </a:r>
            <a:r>
              <a:rPr lang="es-ES" dirty="0" smtClean="0"/>
              <a:t>-&gt;</a:t>
            </a:r>
            <a:r>
              <a:rPr lang="es-ES" dirty="0" err="1" smtClean="0"/>
              <a:t>main</a:t>
            </a:r>
            <a:r>
              <a:rPr lang="es-ES" dirty="0" smtClean="0"/>
              <a:t>,</a:t>
            </a:r>
            <a:r>
              <a:rPr lang="es-ES" dirty="0"/>
              <a:t> dentro </a:t>
            </a:r>
            <a:r>
              <a:rPr lang="es-ES" dirty="0" smtClean="0"/>
              <a:t>de esta generamos una nueva carpeta llamada </a:t>
            </a:r>
            <a:r>
              <a:rPr lang="es-ES" dirty="0" smtClean="0"/>
              <a:t>C</a:t>
            </a:r>
            <a:r>
              <a:rPr lang="es-ES" dirty="0" smtClean="0"/>
              <a:t>ontrolador </a:t>
            </a:r>
            <a:r>
              <a:rPr lang="es-ES" dirty="0" smtClean="0"/>
              <a:t>y dentro de esta crearemos </a:t>
            </a:r>
            <a:r>
              <a:rPr lang="es-ES" dirty="0"/>
              <a:t>un </a:t>
            </a:r>
            <a:r>
              <a:rPr lang="es-ES" dirty="0" smtClean="0"/>
              <a:t>archivo </a:t>
            </a:r>
            <a:r>
              <a:rPr lang="es-ES" dirty="0"/>
              <a:t>java al que llamaremos </a:t>
            </a:r>
            <a:r>
              <a:rPr lang="es-ES" dirty="0"/>
              <a:t>c</a:t>
            </a:r>
            <a:r>
              <a:rPr lang="es-ES" dirty="0" smtClean="0"/>
              <a:t>ontrolador.java</a:t>
            </a:r>
            <a:r>
              <a:rPr lang="es-ES" dirty="0" smtClean="0"/>
              <a:t>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/>
              <a:t>Esta clase marcada con @</a:t>
            </a:r>
            <a:r>
              <a:rPr lang="es-ES" dirty="0" err="1"/>
              <a:t>Controller</a:t>
            </a:r>
            <a:r>
              <a:rPr lang="es-ES" dirty="0"/>
              <a:t>, tendrá una única función que tiene la etiqueta @</a:t>
            </a:r>
            <a:r>
              <a:rPr lang="es-ES" dirty="0" err="1"/>
              <a:t>GetMapping</a:t>
            </a:r>
            <a:r>
              <a:rPr lang="es-ES" dirty="0"/>
              <a:t>. El parámetro de esa etiqueta </a:t>
            </a:r>
            <a:r>
              <a:rPr lang="es-ES" dirty="0" smtClean="0"/>
              <a:t>será </a:t>
            </a:r>
            <a:r>
              <a:rPr lang="es-ES" dirty="0"/>
              <a:t>la URL o página que debe tratar la función que tenemos </a:t>
            </a:r>
            <a:r>
              <a:rPr lang="es-ES" dirty="0" smtClean="0"/>
              <a:t>debajo.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Es </a:t>
            </a:r>
            <a:r>
              <a:rPr lang="es-ES" dirty="0"/>
              <a:t>decir, que cuando nosotros pongamos en nuestro </a:t>
            </a:r>
            <a:r>
              <a:rPr lang="es-ES" dirty="0" smtClean="0"/>
              <a:t>navegador:</a:t>
            </a:r>
          </a:p>
          <a:p>
            <a:pPr marL="285750" indent="-285750">
              <a:buFont typeface="Arial" pitchFamily="34" charset="0"/>
              <a:buChar char="•"/>
            </a:pPr>
            <a:endParaRPr lang="es-ES" b="1" dirty="0">
              <a:hlinkClick r:id="rId4"/>
            </a:endParaRPr>
          </a:p>
          <a:p>
            <a:pPr algn="ctr"/>
            <a:r>
              <a:rPr lang="es-ES" b="1" dirty="0" smtClean="0">
                <a:hlinkClick r:id="rId4"/>
              </a:rPr>
              <a:t>http</a:t>
            </a:r>
            <a:r>
              <a:rPr lang="es-ES" b="1" dirty="0">
                <a:hlinkClick r:id="rId4"/>
              </a:rPr>
              <a:t>://</a:t>
            </a:r>
            <a:r>
              <a:rPr lang="es-ES" b="1" dirty="0" smtClean="0">
                <a:hlinkClick r:id="rId4"/>
              </a:rPr>
              <a:t>localhost:8080/otra</a:t>
            </a:r>
            <a:endParaRPr lang="es-ES" b="1" dirty="0" smtClean="0"/>
          </a:p>
          <a:p>
            <a:pPr algn="ctr"/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/>
              <a:t>Spring ejecutara lo que haya en la función </a:t>
            </a:r>
            <a:r>
              <a:rPr lang="es-ES" b="1" dirty="0" err="1"/>
              <a:t>login</a:t>
            </a:r>
            <a:r>
              <a:rPr lang="es-ES" b="1" dirty="0" smtClean="0"/>
              <a:t>()</a:t>
            </a:r>
            <a:r>
              <a:rPr lang="es-ES" dirty="0" smtClean="0"/>
              <a:t>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358444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562027" y="1906078"/>
            <a:ext cx="11131990" cy="50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Ejemplo Spring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Boot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en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VSCode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356" y="867767"/>
            <a:ext cx="3518231" cy="1038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Rectángulo"/>
          <p:cNvSpPr/>
          <p:nvPr/>
        </p:nvSpPr>
        <p:spPr>
          <a:xfrm>
            <a:off x="364177" y="2777169"/>
            <a:ext cx="1147552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s-ES" dirty="0"/>
              <a:t>Procederemos a crear </a:t>
            </a:r>
            <a:r>
              <a:rPr lang="es-ES" dirty="0" smtClean="0"/>
              <a:t>el controlador para que se pueda mostrar la pagina otrapagina.html. 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/>
              <a:t>Si quisiéramos tener mas paginas simplemente añadiremos más funciones, con la etiqueta @</a:t>
            </a:r>
            <a:r>
              <a:rPr lang="es-ES" dirty="0" err="1"/>
              <a:t>GetMapping</a:t>
            </a:r>
            <a:r>
              <a:rPr lang="es-ES" dirty="0"/>
              <a:t>(“PAGINA QUE NOS DE LA GANA</a:t>
            </a:r>
            <a:r>
              <a:rPr lang="es-ES" dirty="0" smtClean="0"/>
              <a:t>”).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Terminar</a:t>
            </a:r>
            <a:r>
              <a:rPr lang="es-ES" dirty="0"/>
              <a:t>, comentando que el </a:t>
            </a:r>
            <a:r>
              <a:rPr lang="es-ES" dirty="0" err="1"/>
              <a:t>String</a:t>
            </a:r>
            <a:r>
              <a:rPr lang="es-ES" dirty="0"/>
              <a:t> devuelto por nuestra función es la pagina web (el fichero) creado bajo el directorio </a:t>
            </a:r>
            <a:r>
              <a:rPr lang="es-ES" dirty="0" err="1"/>
              <a:t>templates</a:t>
            </a:r>
            <a:r>
              <a:rPr lang="es-ES" dirty="0"/>
              <a:t> (sin la extensión </a:t>
            </a:r>
            <a:r>
              <a:rPr lang="es-ES" dirty="0" err="1"/>
              <a:t>html</a:t>
            </a:r>
            <a:r>
              <a:rPr lang="es-ES" dirty="0"/>
              <a:t>). Resumiendo, en este ejemplo, al ir a:</a:t>
            </a:r>
          </a:p>
          <a:p>
            <a:endParaRPr lang="es-ES" dirty="0" smtClean="0">
              <a:hlinkClick r:id="rId4"/>
            </a:endParaRPr>
          </a:p>
          <a:p>
            <a:pPr algn="ctr"/>
            <a:r>
              <a:rPr lang="es-ES" dirty="0" smtClean="0">
                <a:hlinkClick r:id="rId4"/>
              </a:rPr>
              <a:t>http</a:t>
            </a:r>
            <a:r>
              <a:rPr lang="es-ES" dirty="0">
                <a:hlinkClick r:id="rId4"/>
              </a:rPr>
              <a:t>://</a:t>
            </a:r>
            <a:r>
              <a:rPr lang="es-ES" dirty="0" smtClean="0">
                <a:hlinkClick r:id="rId4"/>
              </a:rPr>
              <a:t>localhost:8080/otra</a:t>
            </a:r>
            <a:endParaRPr lang="es-ES" dirty="0" smtClean="0"/>
          </a:p>
          <a:p>
            <a:pPr algn="ctr"/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/>
              <a:t>Spring </a:t>
            </a:r>
            <a:r>
              <a:rPr lang="es-ES" dirty="0" err="1"/>
              <a:t>parseara</a:t>
            </a:r>
            <a:r>
              <a:rPr lang="es-ES" dirty="0"/>
              <a:t> el fichero </a:t>
            </a:r>
            <a:r>
              <a:rPr lang="es-ES" b="1" dirty="0"/>
              <a:t>otrapagina.html</a:t>
            </a:r>
            <a:r>
              <a:rPr lang="es-ES" dirty="0"/>
              <a:t> y devolverá la pagina  </a:t>
            </a:r>
            <a:r>
              <a:rPr lang="es-ES" dirty="0" smtClean="0"/>
              <a:t>HTML, con </a:t>
            </a:r>
            <a:r>
              <a:rPr lang="es-ES" dirty="0"/>
              <a:t>esto, ya hemos creado nuestra primera pagina web con </a:t>
            </a:r>
            <a:r>
              <a:rPr lang="es-ES" dirty="0" smtClean="0"/>
              <a:t>Spring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242531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Módulo 8 - Back </a:t>
            </a:r>
            <a:r>
              <a:rPr lang="es-ES" sz="4000" b="1" kern="0" dirty="0" err="1" smtClean="0">
                <a:solidFill>
                  <a:srgbClr val="FDE23D"/>
                </a:solidFill>
                <a:latin typeface="Encode Sans"/>
                <a:sym typeface="Encode Sans"/>
              </a:rPr>
              <a:t>End</a:t>
            </a: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 - </a:t>
            </a:r>
            <a:r>
              <a:rPr lang="es-ES" sz="4000" b="1" kern="0" dirty="0">
                <a:solidFill>
                  <a:srgbClr val="FDE23D"/>
                </a:solidFill>
                <a:latin typeface="Encode Sans"/>
                <a:sym typeface="Encode Sans"/>
              </a:rPr>
              <a:t>Desarrollo Web Dinámico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="" xmlns:a16="http://schemas.microsoft.com/office/drawing/2014/main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Spring Tercera Parte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5343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1"/>
          <p:cNvSpPr txBox="1"/>
          <p:nvPr/>
        </p:nvSpPr>
        <p:spPr>
          <a:xfrm>
            <a:off x="804220" y="2251200"/>
            <a:ext cx="9507200" cy="18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0000" rIns="121900" bIns="0" anchor="t" anchorCtr="0">
            <a:noAutofit/>
          </a:bodyPr>
          <a:lstStyle/>
          <a:p>
            <a:pPr defTabSz="1219170">
              <a:buClr>
                <a:srgbClr val="000000"/>
              </a:buClr>
              <a:buSzPts val="4000"/>
            </a:pPr>
            <a:r>
              <a:rPr lang="es-AR" sz="5333" b="1" kern="0" dirty="0" smtClean="0">
                <a:solidFill>
                  <a:srgbClr val="FADA54"/>
                </a:solidFill>
                <a:latin typeface="Encode Sans"/>
                <a:ea typeface="Encode Sans"/>
                <a:cs typeface="Encode Sans"/>
                <a:sym typeface="Encode Sans"/>
              </a:rPr>
              <a:t>Fin Presentación.</a:t>
            </a:r>
            <a:endParaRPr sz="5333" b="1" kern="0" dirty="0">
              <a:solidFill>
                <a:srgbClr val="FADA54"/>
              </a:solidFill>
              <a:latin typeface="Encode Sans"/>
              <a:ea typeface="Encode Sans"/>
              <a:cs typeface="Encode Sans"/>
              <a:sym typeface="Encode Sans"/>
            </a:endParaRPr>
          </a:p>
        </p:txBody>
      </p:sp>
      <p:cxnSp>
        <p:nvCxnSpPr>
          <p:cNvPr id="139" name="Google Shape;139;p31"/>
          <p:cNvCxnSpPr/>
          <p:nvPr/>
        </p:nvCxnSpPr>
        <p:spPr>
          <a:xfrm rot="10800000">
            <a:off x="959347" y="4522684"/>
            <a:ext cx="2529200" cy="3200"/>
          </a:xfrm>
          <a:prstGeom prst="straightConnector1">
            <a:avLst/>
          </a:prstGeom>
          <a:noFill/>
          <a:ln w="9525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76319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12651</TotalTime>
  <Words>796</Words>
  <Application>Microsoft Office PowerPoint</Application>
  <PresentationFormat>Personalizado</PresentationFormat>
  <Paragraphs>157</Paragraphs>
  <Slides>23</Slides>
  <Notes>23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4" baseType="lpstr"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Estrella Noemí Pujol</dc:creator>
  <cp:lastModifiedBy>Jomolca</cp:lastModifiedBy>
  <cp:revision>585</cp:revision>
  <cp:lastPrinted>2021-12-27T10:45:11Z</cp:lastPrinted>
  <dcterms:created xsi:type="dcterms:W3CDTF">2021-07-26T23:29:19Z</dcterms:created>
  <dcterms:modified xsi:type="dcterms:W3CDTF">2022-03-03T10:10:19Z</dcterms:modified>
</cp:coreProperties>
</file>