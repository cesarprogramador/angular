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5"/>
  </p:notesMasterIdLst>
  <p:sldIdLst>
    <p:sldId id="304" r:id="rId2"/>
    <p:sldId id="525" r:id="rId3"/>
    <p:sldId id="662" r:id="rId4"/>
    <p:sldId id="706" r:id="rId5"/>
    <p:sldId id="707" r:id="rId6"/>
    <p:sldId id="711" r:id="rId7"/>
    <p:sldId id="709" r:id="rId8"/>
    <p:sldId id="710" r:id="rId9"/>
    <p:sldId id="663" r:id="rId10"/>
    <p:sldId id="664" r:id="rId11"/>
    <p:sldId id="665" r:id="rId12"/>
    <p:sldId id="666" r:id="rId13"/>
    <p:sldId id="667" r:id="rId14"/>
    <p:sldId id="668" r:id="rId15"/>
    <p:sldId id="669" r:id="rId16"/>
    <p:sldId id="670" r:id="rId17"/>
    <p:sldId id="673" r:id="rId18"/>
    <p:sldId id="679" r:id="rId19"/>
    <p:sldId id="680" r:id="rId20"/>
    <p:sldId id="700" r:id="rId21"/>
    <p:sldId id="705" r:id="rId22"/>
    <p:sldId id="699" r:id="rId23"/>
    <p:sldId id="712" r:id="rId24"/>
    <p:sldId id="713" r:id="rId25"/>
    <p:sldId id="714" r:id="rId26"/>
    <p:sldId id="715" r:id="rId27"/>
    <p:sldId id="716" r:id="rId28"/>
    <p:sldId id="717" r:id="rId29"/>
    <p:sldId id="718" r:id="rId30"/>
    <p:sldId id="719" r:id="rId31"/>
    <p:sldId id="720" r:id="rId32"/>
    <p:sldId id="681" r:id="rId33"/>
    <p:sldId id="721" r:id="rId34"/>
    <p:sldId id="722" r:id="rId35"/>
    <p:sldId id="723" r:id="rId36"/>
    <p:sldId id="724" r:id="rId37"/>
    <p:sldId id="726" r:id="rId38"/>
    <p:sldId id="725" r:id="rId39"/>
    <p:sldId id="727" r:id="rId40"/>
    <p:sldId id="728" r:id="rId41"/>
    <p:sldId id="729" r:id="rId42"/>
    <p:sldId id="730" r:id="rId43"/>
    <p:sldId id="731" r:id="rId44"/>
    <p:sldId id="733" r:id="rId45"/>
    <p:sldId id="732" r:id="rId46"/>
    <p:sldId id="734" r:id="rId47"/>
    <p:sldId id="735" r:id="rId48"/>
    <p:sldId id="736" r:id="rId49"/>
    <p:sldId id="737" r:id="rId50"/>
    <p:sldId id="738" r:id="rId51"/>
    <p:sldId id="302" r:id="rId52"/>
    <p:sldId id="394" r:id="rId53"/>
    <p:sldId id="739" r:id="rId54"/>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DA54"/>
    <a:srgbClr val="FDE23D"/>
    <a:srgbClr val="FBE8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53" autoAdjust="0"/>
    <p:restoredTop sz="94660"/>
  </p:normalViewPr>
  <p:slideViewPr>
    <p:cSldViewPr snapToGrid="0">
      <p:cViewPr>
        <p:scale>
          <a:sx n="80" d="100"/>
          <a:sy n="80" d="100"/>
        </p:scale>
        <p:origin x="-348" y="16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4" y="0"/>
            <a:ext cx="2971800" cy="458788"/>
          </a:xfrm>
          <a:prstGeom prst="rect">
            <a:avLst/>
          </a:prstGeom>
        </p:spPr>
        <p:txBody>
          <a:bodyPr vert="horz" lIns="91440" tIns="45720" rIns="91440" bIns="45720" rtlCol="0"/>
          <a:lstStyle>
            <a:lvl1pPr algn="r">
              <a:defRPr sz="1200"/>
            </a:lvl1pPr>
          </a:lstStyle>
          <a:p>
            <a:fld id="{63BE8C58-22A4-4B46-91FB-20BA2CD12ABB}" type="datetimeFigureOut">
              <a:rPr lang="es-AR" smtClean="0"/>
              <a:t>6/3/2022</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1"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4" y="8685213"/>
            <a:ext cx="2971800" cy="458787"/>
          </a:xfrm>
          <a:prstGeom prst="rect">
            <a:avLst/>
          </a:prstGeom>
        </p:spPr>
        <p:txBody>
          <a:bodyPr vert="horz" lIns="91440" tIns="45720" rIns="91440" bIns="45720" rtlCol="0" anchor="b"/>
          <a:lstStyle>
            <a:lvl1pPr algn="r">
              <a:defRPr sz="1200"/>
            </a:lvl1pPr>
          </a:lstStyle>
          <a:p>
            <a:fld id="{C45ED687-2B03-400F-8981-3FC495799291}" type="slidenum">
              <a:rPr lang="es-AR" smtClean="0"/>
              <a:t>‹Nº›</a:t>
            </a:fld>
            <a:endParaRPr lang="es-AR"/>
          </a:p>
        </p:txBody>
      </p:sp>
    </p:spTree>
    <p:extLst>
      <p:ext uri="{BB962C8B-B14F-4D97-AF65-F5344CB8AC3E}">
        <p14:creationId xmlns:p14="http://schemas.microsoft.com/office/powerpoint/2010/main" val="30464323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 name="Google Shape;135;p31: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0186399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1"/>
        <p:cNvGrpSpPr/>
        <p:nvPr/>
      </p:nvGrpSpPr>
      <p:grpSpPr>
        <a:xfrm>
          <a:off x="0" y="0"/>
          <a:ext cx="0" cy="0"/>
          <a:chOff x="0" y="0"/>
          <a:chExt cx="0" cy="0"/>
        </a:xfrm>
      </p:grpSpPr>
      <p:sp>
        <p:nvSpPr>
          <p:cNvPr id="12" name="Google Shape;12;p34"/>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3" name="Google Shape;13;p34"/>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609585" lvl="0" indent="-457189" algn="l">
              <a:lnSpc>
                <a:spcPct val="115000"/>
              </a:lnSpc>
              <a:spcBef>
                <a:spcPts val="0"/>
              </a:spcBef>
              <a:spcAft>
                <a:spcPts val="0"/>
              </a:spcAft>
              <a:buSzPts val="1800"/>
              <a:buChar char="●"/>
              <a:defRPr/>
            </a:lvl1pPr>
            <a:lvl2pPr marL="1219170" lvl="1" indent="-423323" algn="l">
              <a:lnSpc>
                <a:spcPct val="115000"/>
              </a:lnSpc>
              <a:spcBef>
                <a:spcPts val="2133"/>
              </a:spcBef>
              <a:spcAft>
                <a:spcPts val="0"/>
              </a:spcAft>
              <a:buSzPts val="1400"/>
              <a:buChar char="○"/>
              <a:defRPr/>
            </a:lvl2pPr>
            <a:lvl3pPr marL="1828754" lvl="2" indent="-423323" algn="l">
              <a:lnSpc>
                <a:spcPct val="115000"/>
              </a:lnSpc>
              <a:spcBef>
                <a:spcPts val="2133"/>
              </a:spcBef>
              <a:spcAft>
                <a:spcPts val="0"/>
              </a:spcAft>
              <a:buSzPts val="1400"/>
              <a:buChar char="■"/>
              <a:defRPr/>
            </a:lvl3pPr>
            <a:lvl4pPr marL="2438339" lvl="3" indent="-423323" algn="l">
              <a:lnSpc>
                <a:spcPct val="115000"/>
              </a:lnSpc>
              <a:spcBef>
                <a:spcPts val="2133"/>
              </a:spcBef>
              <a:spcAft>
                <a:spcPts val="0"/>
              </a:spcAft>
              <a:buSzPts val="1400"/>
              <a:buChar char="●"/>
              <a:defRPr/>
            </a:lvl4pPr>
            <a:lvl5pPr marL="3047924" lvl="4" indent="-423323" algn="l">
              <a:lnSpc>
                <a:spcPct val="115000"/>
              </a:lnSpc>
              <a:spcBef>
                <a:spcPts val="2133"/>
              </a:spcBef>
              <a:spcAft>
                <a:spcPts val="0"/>
              </a:spcAft>
              <a:buSzPts val="1400"/>
              <a:buChar char="○"/>
              <a:defRPr/>
            </a:lvl5pPr>
            <a:lvl6pPr marL="3657509" lvl="5" indent="-423323" algn="l">
              <a:lnSpc>
                <a:spcPct val="115000"/>
              </a:lnSpc>
              <a:spcBef>
                <a:spcPts val="2133"/>
              </a:spcBef>
              <a:spcAft>
                <a:spcPts val="0"/>
              </a:spcAft>
              <a:buSzPts val="1400"/>
              <a:buChar char="■"/>
              <a:defRPr/>
            </a:lvl6pPr>
            <a:lvl7pPr marL="4267093" lvl="6" indent="-423323" algn="l">
              <a:lnSpc>
                <a:spcPct val="115000"/>
              </a:lnSpc>
              <a:spcBef>
                <a:spcPts val="2133"/>
              </a:spcBef>
              <a:spcAft>
                <a:spcPts val="0"/>
              </a:spcAft>
              <a:buSzPts val="1400"/>
              <a:buChar char="●"/>
              <a:defRPr/>
            </a:lvl7pPr>
            <a:lvl8pPr marL="4876678" lvl="7" indent="-423323" algn="l">
              <a:lnSpc>
                <a:spcPct val="115000"/>
              </a:lnSpc>
              <a:spcBef>
                <a:spcPts val="2133"/>
              </a:spcBef>
              <a:spcAft>
                <a:spcPts val="0"/>
              </a:spcAft>
              <a:buSzPts val="1400"/>
              <a:buChar char="○"/>
              <a:defRPr/>
            </a:lvl8pPr>
            <a:lvl9pPr marL="5486263" lvl="8" indent="-423323" algn="l">
              <a:lnSpc>
                <a:spcPct val="115000"/>
              </a:lnSpc>
              <a:spcBef>
                <a:spcPts val="2133"/>
              </a:spcBef>
              <a:spcAft>
                <a:spcPts val="2133"/>
              </a:spcAft>
              <a:buSzPts val="1400"/>
              <a:buChar char="■"/>
              <a:defRPr/>
            </a:lvl9pPr>
          </a:lstStyle>
          <a:p>
            <a:endParaRPr/>
          </a:p>
        </p:txBody>
      </p:sp>
      <p:sp>
        <p:nvSpPr>
          <p:cNvPr id="14" name="Google Shape;14;p34"/>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s-AR" smtClean="0"/>
              <a:pPr/>
              <a:t>‹Nº›</a:t>
            </a:fld>
            <a:endParaRPr lang="es-AR"/>
          </a:p>
        </p:txBody>
      </p:sp>
    </p:spTree>
    <p:extLst>
      <p:ext uri="{BB962C8B-B14F-4D97-AF65-F5344CB8AC3E}">
        <p14:creationId xmlns:p14="http://schemas.microsoft.com/office/powerpoint/2010/main" val="4540195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7"/>
        <p:cNvGrpSpPr/>
        <p:nvPr/>
      </p:nvGrpSpPr>
      <p:grpSpPr>
        <a:xfrm>
          <a:off x="0" y="0"/>
          <a:ext cx="0" cy="0"/>
          <a:chOff x="0" y="0"/>
          <a:chExt cx="0" cy="0"/>
        </a:xfrm>
      </p:grpSpPr>
      <p:sp>
        <p:nvSpPr>
          <p:cNvPr id="28" name="Google Shape;28;p44"/>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 name="Google Shape;29;p44"/>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s-AR" smtClean="0"/>
              <a:pPr/>
              <a:t>‹Nº›</a:t>
            </a:fld>
            <a:endParaRPr lang="es-AR"/>
          </a:p>
        </p:txBody>
      </p:sp>
    </p:spTree>
    <p:extLst>
      <p:ext uri="{BB962C8B-B14F-4D97-AF65-F5344CB8AC3E}">
        <p14:creationId xmlns:p14="http://schemas.microsoft.com/office/powerpoint/2010/main" val="8360793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0"/>
        <p:cNvGrpSpPr/>
        <p:nvPr/>
      </p:nvGrpSpPr>
      <p:grpSpPr>
        <a:xfrm>
          <a:off x="0" y="0"/>
          <a:ext cx="0" cy="0"/>
          <a:chOff x="0" y="0"/>
          <a:chExt cx="0" cy="0"/>
        </a:xfrm>
      </p:grpSpPr>
      <p:sp>
        <p:nvSpPr>
          <p:cNvPr id="31" name="Google Shape;31;p45"/>
          <p:cNvSpPr txBox="1">
            <a:spLocks noGrp="1"/>
          </p:cNvSpPr>
          <p:nvPr>
            <p:ph type="title"/>
          </p:nvPr>
        </p:nvSpPr>
        <p:spPr>
          <a:xfrm>
            <a:off x="415600" y="740800"/>
            <a:ext cx="3744000" cy="1007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3200"/>
            </a:lvl1pPr>
            <a:lvl2pPr lvl="1" algn="l">
              <a:lnSpc>
                <a:spcPct val="100000"/>
              </a:lnSpc>
              <a:spcBef>
                <a:spcPts val="0"/>
              </a:spcBef>
              <a:spcAft>
                <a:spcPts val="0"/>
              </a:spcAft>
              <a:buSzPts val="2400"/>
              <a:buNone/>
              <a:defRPr sz="3200"/>
            </a:lvl2pPr>
            <a:lvl3pPr lvl="2" algn="l">
              <a:lnSpc>
                <a:spcPct val="100000"/>
              </a:lnSpc>
              <a:spcBef>
                <a:spcPts val="0"/>
              </a:spcBef>
              <a:spcAft>
                <a:spcPts val="0"/>
              </a:spcAft>
              <a:buSzPts val="2400"/>
              <a:buNone/>
              <a:defRPr sz="3200"/>
            </a:lvl3pPr>
            <a:lvl4pPr lvl="3" algn="l">
              <a:lnSpc>
                <a:spcPct val="100000"/>
              </a:lnSpc>
              <a:spcBef>
                <a:spcPts val="0"/>
              </a:spcBef>
              <a:spcAft>
                <a:spcPts val="0"/>
              </a:spcAft>
              <a:buSzPts val="2400"/>
              <a:buNone/>
              <a:defRPr sz="3200"/>
            </a:lvl4pPr>
            <a:lvl5pPr lvl="4" algn="l">
              <a:lnSpc>
                <a:spcPct val="100000"/>
              </a:lnSpc>
              <a:spcBef>
                <a:spcPts val="0"/>
              </a:spcBef>
              <a:spcAft>
                <a:spcPts val="0"/>
              </a:spcAft>
              <a:buSzPts val="2400"/>
              <a:buNone/>
              <a:defRPr sz="3200"/>
            </a:lvl5pPr>
            <a:lvl6pPr lvl="5" algn="l">
              <a:lnSpc>
                <a:spcPct val="100000"/>
              </a:lnSpc>
              <a:spcBef>
                <a:spcPts val="0"/>
              </a:spcBef>
              <a:spcAft>
                <a:spcPts val="0"/>
              </a:spcAft>
              <a:buSzPts val="2400"/>
              <a:buNone/>
              <a:defRPr sz="3200"/>
            </a:lvl6pPr>
            <a:lvl7pPr lvl="6" algn="l">
              <a:lnSpc>
                <a:spcPct val="100000"/>
              </a:lnSpc>
              <a:spcBef>
                <a:spcPts val="0"/>
              </a:spcBef>
              <a:spcAft>
                <a:spcPts val="0"/>
              </a:spcAft>
              <a:buSzPts val="2400"/>
              <a:buNone/>
              <a:defRPr sz="3200"/>
            </a:lvl7pPr>
            <a:lvl8pPr lvl="7" algn="l">
              <a:lnSpc>
                <a:spcPct val="100000"/>
              </a:lnSpc>
              <a:spcBef>
                <a:spcPts val="0"/>
              </a:spcBef>
              <a:spcAft>
                <a:spcPts val="0"/>
              </a:spcAft>
              <a:buSzPts val="2400"/>
              <a:buNone/>
              <a:defRPr sz="3200"/>
            </a:lvl8pPr>
            <a:lvl9pPr lvl="8" algn="l">
              <a:lnSpc>
                <a:spcPct val="100000"/>
              </a:lnSpc>
              <a:spcBef>
                <a:spcPts val="0"/>
              </a:spcBef>
              <a:spcAft>
                <a:spcPts val="0"/>
              </a:spcAft>
              <a:buSzPts val="2400"/>
              <a:buNone/>
              <a:defRPr sz="3200"/>
            </a:lvl9pPr>
          </a:lstStyle>
          <a:p>
            <a:endParaRPr/>
          </a:p>
        </p:txBody>
      </p:sp>
      <p:sp>
        <p:nvSpPr>
          <p:cNvPr id="32" name="Google Shape;32;p45"/>
          <p:cNvSpPr txBox="1">
            <a:spLocks noGrp="1"/>
          </p:cNvSpPr>
          <p:nvPr>
            <p:ph type="body" idx="1"/>
          </p:nvPr>
        </p:nvSpPr>
        <p:spPr>
          <a:xfrm>
            <a:off x="415600" y="1852800"/>
            <a:ext cx="3744000" cy="4239200"/>
          </a:xfrm>
          <a:prstGeom prst="rect">
            <a:avLst/>
          </a:prstGeom>
          <a:noFill/>
          <a:ln>
            <a:noFill/>
          </a:ln>
        </p:spPr>
        <p:txBody>
          <a:bodyPr spcFirstLastPara="1" wrap="square" lIns="91425" tIns="91425" rIns="91425" bIns="91425" anchor="t" anchorCtr="0">
            <a:noAutofit/>
          </a:bodyPr>
          <a:lstStyle>
            <a:lvl1pPr marL="609585" lvl="0" indent="-406390" algn="l">
              <a:lnSpc>
                <a:spcPct val="115000"/>
              </a:lnSpc>
              <a:spcBef>
                <a:spcPts val="0"/>
              </a:spcBef>
              <a:spcAft>
                <a:spcPts val="0"/>
              </a:spcAft>
              <a:buSzPts val="1200"/>
              <a:buChar char="●"/>
              <a:defRPr sz="1600"/>
            </a:lvl1pPr>
            <a:lvl2pPr marL="1219170" lvl="1" indent="-406390" algn="l">
              <a:lnSpc>
                <a:spcPct val="115000"/>
              </a:lnSpc>
              <a:spcBef>
                <a:spcPts val="2133"/>
              </a:spcBef>
              <a:spcAft>
                <a:spcPts val="0"/>
              </a:spcAft>
              <a:buSzPts val="1200"/>
              <a:buChar char="○"/>
              <a:defRPr sz="1600"/>
            </a:lvl2pPr>
            <a:lvl3pPr marL="1828754" lvl="2" indent="-406390" algn="l">
              <a:lnSpc>
                <a:spcPct val="115000"/>
              </a:lnSpc>
              <a:spcBef>
                <a:spcPts val="2133"/>
              </a:spcBef>
              <a:spcAft>
                <a:spcPts val="0"/>
              </a:spcAft>
              <a:buSzPts val="1200"/>
              <a:buChar char="■"/>
              <a:defRPr sz="1600"/>
            </a:lvl3pPr>
            <a:lvl4pPr marL="2438339" lvl="3" indent="-406390" algn="l">
              <a:lnSpc>
                <a:spcPct val="115000"/>
              </a:lnSpc>
              <a:spcBef>
                <a:spcPts val="2133"/>
              </a:spcBef>
              <a:spcAft>
                <a:spcPts val="0"/>
              </a:spcAft>
              <a:buSzPts val="1200"/>
              <a:buChar char="●"/>
              <a:defRPr sz="1600"/>
            </a:lvl4pPr>
            <a:lvl5pPr marL="3047924" lvl="4" indent="-406390" algn="l">
              <a:lnSpc>
                <a:spcPct val="115000"/>
              </a:lnSpc>
              <a:spcBef>
                <a:spcPts val="2133"/>
              </a:spcBef>
              <a:spcAft>
                <a:spcPts val="0"/>
              </a:spcAft>
              <a:buSzPts val="1200"/>
              <a:buChar char="○"/>
              <a:defRPr sz="1600"/>
            </a:lvl5pPr>
            <a:lvl6pPr marL="3657509" lvl="5" indent="-406390" algn="l">
              <a:lnSpc>
                <a:spcPct val="115000"/>
              </a:lnSpc>
              <a:spcBef>
                <a:spcPts val="2133"/>
              </a:spcBef>
              <a:spcAft>
                <a:spcPts val="0"/>
              </a:spcAft>
              <a:buSzPts val="1200"/>
              <a:buChar char="■"/>
              <a:defRPr sz="1600"/>
            </a:lvl6pPr>
            <a:lvl7pPr marL="4267093" lvl="6" indent="-406390" algn="l">
              <a:lnSpc>
                <a:spcPct val="115000"/>
              </a:lnSpc>
              <a:spcBef>
                <a:spcPts val="2133"/>
              </a:spcBef>
              <a:spcAft>
                <a:spcPts val="0"/>
              </a:spcAft>
              <a:buSzPts val="1200"/>
              <a:buChar char="●"/>
              <a:defRPr sz="1600"/>
            </a:lvl7pPr>
            <a:lvl8pPr marL="4876678" lvl="7" indent="-406390" algn="l">
              <a:lnSpc>
                <a:spcPct val="115000"/>
              </a:lnSpc>
              <a:spcBef>
                <a:spcPts val="2133"/>
              </a:spcBef>
              <a:spcAft>
                <a:spcPts val="0"/>
              </a:spcAft>
              <a:buSzPts val="1200"/>
              <a:buChar char="○"/>
              <a:defRPr sz="1600"/>
            </a:lvl8pPr>
            <a:lvl9pPr marL="5486263" lvl="8" indent="-406390" algn="l">
              <a:lnSpc>
                <a:spcPct val="115000"/>
              </a:lnSpc>
              <a:spcBef>
                <a:spcPts val="2133"/>
              </a:spcBef>
              <a:spcAft>
                <a:spcPts val="2133"/>
              </a:spcAft>
              <a:buSzPts val="1200"/>
              <a:buChar char="■"/>
              <a:defRPr sz="1600"/>
            </a:lvl9pPr>
          </a:lstStyle>
          <a:p>
            <a:endParaRPr/>
          </a:p>
        </p:txBody>
      </p:sp>
      <p:sp>
        <p:nvSpPr>
          <p:cNvPr id="33" name="Google Shape;33;p45"/>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s-AR" smtClean="0"/>
              <a:pPr/>
              <a:t>‹Nº›</a:t>
            </a:fld>
            <a:endParaRPr lang="es-AR"/>
          </a:p>
        </p:txBody>
      </p:sp>
    </p:spTree>
    <p:extLst>
      <p:ext uri="{BB962C8B-B14F-4D97-AF65-F5344CB8AC3E}">
        <p14:creationId xmlns:p14="http://schemas.microsoft.com/office/powerpoint/2010/main" val="397421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4"/>
        <p:cNvGrpSpPr/>
        <p:nvPr/>
      </p:nvGrpSpPr>
      <p:grpSpPr>
        <a:xfrm>
          <a:off x="0" y="0"/>
          <a:ext cx="0" cy="0"/>
          <a:chOff x="0" y="0"/>
          <a:chExt cx="0" cy="0"/>
        </a:xfrm>
      </p:grpSpPr>
      <p:sp>
        <p:nvSpPr>
          <p:cNvPr id="35" name="Google Shape;35;p46"/>
          <p:cNvSpPr txBox="1">
            <a:spLocks noGrp="1"/>
          </p:cNvSpPr>
          <p:nvPr>
            <p:ph type="title"/>
          </p:nvPr>
        </p:nvSpPr>
        <p:spPr>
          <a:xfrm>
            <a:off x="653667" y="600200"/>
            <a:ext cx="8490400" cy="5454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6400"/>
            </a:lvl1pPr>
            <a:lvl2pPr lvl="1" algn="l">
              <a:lnSpc>
                <a:spcPct val="100000"/>
              </a:lnSpc>
              <a:spcBef>
                <a:spcPts val="0"/>
              </a:spcBef>
              <a:spcAft>
                <a:spcPts val="0"/>
              </a:spcAft>
              <a:buSzPts val="4800"/>
              <a:buNone/>
              <a:defRPr sz="6400"/>
            </a:lvl2pPr>
            <a:lvl3pPr lvl="2" algn="l">
              <a:lnSpc>
                <a:spcPct val="100000"/>
              </a:lnSpc>
              <a:spcBef>
                <a:spcPts val="0"/>
              </a:spcBef>
              <a:spcAft>
                <a:spcPts val="0"/>
              </a:spcAft>
              <a:buSzPts val="4800"/>
              <a:buNone/>
              <a:defRPr sz="6400"/>
            </a:lvl3pPr>
            <a:lvl4pPr lvl="3" algn="l">
              <a:lnSpc>
                <a:spcPct val="100000"/>
              </a:lnSpc>
              <a:spcBef>
                <a:spcPts val="0"/>
              </a:spcBef>
              <a:spcAft>
                <a:spcPts val="0"/>
              </a:spcAft>
              <a:buSzPts val="4800"/>
              <a:buNone/>
              <a:defRPr sz="6400"/>
            </a:lvl4pPr>
            <a:lvl5pPr lvl="4" algn="l">
              <a:lnSpc>
                <a:spcPct val="100000"/>
              </a:lnSpc>
              <a:spcBef>
                <a:spcPts val="0"/>
              </a:spcBef>
              <a:spcAft>
                <a:spcPts val="0"/>
              </a:spcAft>
              <a:buSzPts val="4800"/>
              <a:buNone/>
              <a:defRPr sz="6400"/>
            </a:lvl5pPr>
            <a:lvl6pPr lvl="5" algn="l">
              <a:lnSpc>
                <a:spcPct val="100000"/>
              </a:lnSpc>
              <a:spcBef>
                <a:spcPts val="0"/>
              </a:spcBef>
              <a:spcAft>
                <a:spcPts val="0"/>
              </a:spcAft>
              <a:buSzPts val="4800"/>
              <a:buNone/>
              <a:defRPr sz="6400"/>
            </a:lvl6pPr>
            <a:lvl7pPr lvl="6" algn="l">
              <a:lnSpc>
                <a:spcPct val="100000"/>
              </a:lnSpc>
              <a:spcBef>
                <a:spcPts val="0"/>
              </a:spcBef>
              <a:spcAft>
                <a:spcPts val="0"/>
              </a:spcAft>
              <a:buSzPts val="4800"/>
              <a:buNone/>
              <a:defRPr sz="6400"/>
            </a:lvl7pPr>
            <a:lvl8pPr lvl="7" algn="l">
              <a:lnSpc>
                <a:spcPct val="100000"/>
              </a:lnSpc>
              <a:spcBef>
                <a:spcPts val="0"/>
              </a:spcBef>
              <a:spcAft>
                <a:spcPts val="0"/>
              </a:spcAft>
              <a:buSzPts val="4800"/>
              <a:buNone/>
              <a:defRPr sz="6400"/>
            </a:lvl8pPr>
            <a:lvl9pPr lvl="8" algn="l">
              <a:lnSpc>
                <a:spcPct val="100000"/>
              </a:lnSpc>
              <a:spcBef>
                <a:spcPts val="0"/>
              </a:spcBef>
              <a:spcAft>
                <a:spcPts val="0"/>
              </a:spcAft>
              <a:buSzPts val="4800"/>
              <a:buNone/>
              <a:defRPr sz="6400"/>
            </a:lvl9pPr>
          </a:lstStyle>
          <a:p>
            <a:endParaRPr/>
          </a:p>
        </p:txBody>
      </p:sp>
      <p:sp>
        <p:nvSpPr>
          <p:cNvPr id="36" name="Google Shape;36;p46"/>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s-AR" smtClean="0"/>
              <a:pPr/>
              <a:t>‹Nº›</a:t>
            </a:fld>
            <a:endParaRPr lang="es-AR"/>
          </a:p>
        </p:txBody>
      </p:sp>
    </p:spTree>
    <p:extLst>
      <p:ext uri="{BB962C8B-B14F-4D97-AF65-F5344CB8AC3E}">
        <p14:creationId xmlns:p14="http://schemas.microsoft.com/office/powerpoint/2010/main" val="10279077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7"/>
        <p:cNvGrpSpPr/>
        <p:nvPr/>
      </p:nvGrpSpPr>
      <p:grpSpPr>
        <a:xfrm>
          <a:off x="0" y="0"/>
          <a:ext cx="0" cy="0"/>
          <a:chOff x="0" y="0"/>
          <a:chExt cx="0" cy="0"/>
        </a:xfrm>
      </p:grpSpPr>
      <p:sp>
        <p:nvSpPr>
          <p:cNvPr id="38" name="Google Shape;38;p47"/>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39" name="Google Shape;39;p47"/>
          <p:cNvSpPr txBox="1">
            <a:spLocks noGrp="1"/>
          </p:cNvSpPr>
          <p:nvPr>
            <p:ph type="title"/>
          </p:nvPr>
        </p:nvSpPr>
        <p:spPr>
          <a:xfrm>
            <a:off x="354000" y="1644233"/>
            <a:ext cx="5393600" cy="19764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5600"/>
            </a:lvl1pPr>
            <a:lvl2pPr lvl="1" algn="ctr">
              <a:lnSpc>
                <a:spcPct val="100000"/>
              </a:lnSpc>
              <a:spcBef>
                <a:spcPts val="0"/>
              </a:spcBef>
              <a:spcAft>
                <a:spcPts val="0"/>
              </a:spcAft>
              <a:buSzPts val="4200"/>
              <a:buNone/>
              <a:defRPr sz="5600"/>
            </a:lvl2pPr>
            <a:lvl3pPr lvl="2" algn="ctr">
              <a:lnSpc>
                <a:spcPct val="100000"/>
              </a:lnSpc>
              <a:spcBef>
                <a:spcPts val="0"/>
              </a:spcBef>
              <a:spcAft>
                <a:spcPts val="0"/>
              </a:spcAft>
              <a:buSzPts val="4200"/>
              <a:buNone/>
              <a:defRPr sz="5600"/>
            </a:lvl3pPr>
            <a:lvl4pPr lvl="3" algn="ctr">
              <a:lnSpc>
                <a:spcPct val="100000"/>
              </a:lnSpc>
              <a:spcBef>
                <a:spcPts val="0"/>
              </a:spcBef>
              <a:spcAft>
                <a:spcPts val="0"/>
              </a:spcAft>
              <a:buSzPts val="4200"/>
              <a:buNone/>
              <a:defRPr sz="5600"/>
            </a:lvl4pPr>
            <a:lvl5pPr lvl="4" algn="ctr">
              <a:lnSpc>
                <a:spcPct val="100000"/>
              </a:lnSpc>
              <a:spcBef>
                <a:spcPts val="0"/>
              </a:spcBef>
              <a:spcAft>
                <a:spcPts val="0"/>
              </a:spcAft>
              <a:buSzPts val="4200"/>
              <a:buNone/>
              <a:defRPr sz="5600"/>
            </a:lvl5pPr>
            <a:lvl6pPr lvl="5" algn="ctr">
              <a:lnSpc>
                <a:spcPct val="100000"/>
              </a:lnSpc>
              <a:spcBef>
                <a:spcPts val="0"/>
              </a:spcBef>
              <a:spcAft>
                <a:spcPts val="0"/>
              </a:spcAft>
              <a:buSzPts val="4200"/>
              <a:buNone/>
              <a:defRPr sz="5600"/>
            </a:lvl6pPr>
            <a:lvl7pPr lvl="6" algn="ctr">
              <a:lnSpc>
                <a:spcPct val="100000"/>
              </a:lnSpc>
              <a:spcBef>
                <a:spcPts val="0"/>
              </a:spcBef>
              <a:spcAft>
                <a:spcPts val="0"/>
              </a:spcAft>
              <a:buSzPts val="4200"/>
              <a:buNone/>
              <a:defRPr sz="5600"/>
            </a:lvl7pPr>
            <a:lvl8pPr lvl="7" algn="ctr">
              <a:lnSpc>
                <a:spcPct val="100000"/>
              </a:lnSpc>
              <a:spcBef>
                <a:spcPts val="0"/>
              </a:spcBef>
              <a:spcAft>
                <a:spcPts val="0"/>
              </a:spcAft>
              <a:buSzPts val="4200"/>
              <a:buNone/>
              <a:defRPr sz="5600"/>
            </a:lvl8pPr>
            <a:lvl9pPr lvl="8" algn="ctr">
              <a:lnSpc>
                <a:spcPct val="100000"/>
              </a:lnSpc>
              <a:spcBef>
                <a:spcPts val="0"/>
              </a:spcBef>
              <a:spcAft>
                <a:spcPts val="0"/>
              </a:spcAft>
              <a:buSzPts val="4200"/>
              <a:buNone/>
              <a:defRPr sz="5600"/>
            </a:lvl9pPr>
          </a:lstStyle>
          <a:p>
            <a:endParaRPr/>
          </a:p>
        </p:txBody>
      </p:sp>
      <p:sp>
        <p:nvSpPr>
          <p:cNvPr id="40" name="Google Shape;40;p47"/>
          <p:cNvSpPr txBox="1">
            <a:spLocks noGrp="1"/>
          </p:cNvSpPr>
          <p:nvPr>
            <p:ph type="subTitle" idx="1"/>
          </p:nvPr>
        </p:nvSpPr>
        <p:spPr>
          <a:xfrm>
            <a:off x="354000" y="3737433"/>
            <a:ext cx="5393600" cy="1646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41" name="Google Shape;41;p47"/>
          <p:cNvSpPr txBox="1">
            <a:spLocks noGrp="1"/>
          </p:cNvSpPr>
          <p:nvPr>
            <p:ph type="body" idx="2"/>
          </p:nvPr>
        </p:nvSpPr>
        <p:spPr>
          <a:xfrm>
            <a:off x="6586000" y="965433"/>
            <a:ext cx="5116000" cy="4926800"/>
          </a:xfrm>
          <a:prstGeom prst="rect">
            <a:avLst/>
          </a:prstGeom>
          <a:noFill/>
          <a:ln>
            <a:noFill/>
          </a:ln>
        </p:spPr>
        <p:txBody>
          <a:bodyPr spcFirstLastPara="1" wrap="square" lIns="91425" tIns="91425" rIns="91425" bIns="91425" anchor="ctr" anchorCtr="0">
            <a:noAutofit/>
          </a:bodyPr>
          <a:lstStyle>
            <a:lvl1pPr marL="609585" lvl="0" indent="-457189" algn="l">
              <a:lnSpc>
                <a:spcPct val="115000"/>
              </a:lnSpc>
              <a:spcBef>
                <a:spcPts val="0"/>
              </a:spcBef>
              <a:spcAft>
                <a:spcPts val="0"/>
              </a:spcAft>
              <a:buSzPts val="1800"/>
              <a:buChar char="●"/>
              <a:defRPr/>
            </a:lvl1pPr>
            <a:lvl2pPr marL="1219170" lvl="1" indent="-423323" algn="l">
              <a:lnSpc>
                <a:spcPct val="115000"/>
              </a:lnSpc>
              <a:spcBef>
                <a:spcPts val="2133"/>
              </a:spcBef>
              <a:spcAft>
                <a:spcPts val="0"/>
              </a:spcAft>
              <a:buSzPts val="1400"/>
              <a:buChar char="○"/>
              <a:defRPr/>
            </a:lvl2pPr>
            <a:lvl3pPr marL="1828754" lvl="2" indent="-423323" algn="l">
              <a:lnSpc>
                <a:spcPct val="115000"/>
              </a:lnSpc>
              <a:spcBef>
                <a:spcPts val="2133"/>
              </a:spcBef>
              <a:spcAft>
                <a:spcPts val="0"/>
              </a:spcAft>
              <a:buSzPts val="1400"/>
              <a:buChar char="■"/>
              <a:defRPr/>
            </a:lvl3pPr>
            <a:lvl4pPr marL="2438339" lvl="3" indent="-423323" algn="l">
              <a:lnSpc>
                <a:spcPct val="115000"/>
              </a:lnSpc>
              <a:spcBef>
                <a:spcPts val="2133"/>
              </a:spcBef>
              <a:spcAft>
                <a:spcPts val="0"/>
              </a:spcAft>
              <a:buSzPts val="1400"/>
              <a:buChar char="●"/>
              <a:defRPr/>
            </a:lvl4pPr>
            <a:lvl5pPr marL="3047924" lvl="4" indent="-423323" algn="l">
              <a:lnSpc>
                <a:spcPct val="115000"/>
              </a:lnSpc>
              <a:spcBef>
                <a:spcPts val="2133"/>
              </a:spcBef>
              <a:spcAft>
                <a:spcPts val="0"/>
              </a:spcAft>
              <a:buSzPts val="1400"/>
              <a:buChar char="○"/>
              <a:defRPr/>
            </a:lvl5pPr>
            <a:lvl6pPr marL="3657509" lvl="5" indent="-423323" algn="l">
              <a:lnSpc>
                <a:spcPct val="115000"/>
              </a:lnSpc>
              <a:spcBef>
                <a:spcPts val="2133"/>
              </a:spcBef>
              <a:spcAft>
                <a:spcPts val="0"/>
              </a:spcAft>
              <a:buSzPts val="1400"/>
              <a:buChar char="■"/>
              <a:defRPr/>
            </a:lvl6pPr>
            <a:lvl7pPr marL="4267093" lvl="6" indent="-423323" algn="l">
              <a:lnSpc>
                <a:spcPct val="115000"/>
              </a:lnSpc>
              <a:spcBef>
                <a:spcPts val="2133"/>
              </a:spcBef>
              <a:spcAft>
                <a:spcPts val="0"/>
              </a:spcAft>
              <a:buSzPts val="1400"/>
              <a:buChar char="●"/>
              <a:defRPr/>
            </a:lvl7pPr>
            <a:lvl8pPr marL="4876678" lvl="7" indent="-423323" algn="l">
              <a:lnSpc>
                <a:spcPct val="115000"/>
              </a:lnSpc>
              <a:spcBef>
                <a:spcPts val="2133"/>
              </a:spcBef>
              <a:spcAft>
                <a:spcPts val="0"/>
              </a:spcAft>
              <a:buSzPts val="1400"/>
              <a:buChar char="○"/>
              <a:defRPr/>
            </a:lvl8pPr>
            <a:lvl9pPr marL="5486263" lvl="8" indent="-423323" algn="l">
              <a:lnSpc>
                <a:spcPct val="115000"/>
              </a:lnSpc>
              <a:spcBef>
                <a:spcPts val="2133"/>
              </a:spcBef>
              <a:spcAft>
                <a:spcPts val="2133"/>
              </a:spcAft>
              <a:buSzPts val="1400"/>
              <a:buChar char="■"/>
              <a:defRPr/>
            </a:lvl9pPr>
          </a:lstStyle>
          <a:p>
            <a:endParaRPr/>
          </a:p>
        </p:txBody>
      </p:sp>
      <p:sp>
        <p:nvSpPr>
          <p:cNvPr id="42" name="Google Shape;42;p47"/>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s-AR" smtClean="0"/>
              <a:pPr/>
              <a:t>‹Nº›</a:t>
            </a:fld>
            <a:endParaRPr lang="es-AR"/>
          </a:p>
        </p:txBody>
      </p:sp>
    </p:spTree>
    <p:extLst>
      <p:ext uri="{BB962C8B-B14F-4D97-AF65-F5344CB8AC3E}">
        <p14:creationId xmlns:p14="http://schemas.microsoft.com/office/powerpoint/2010/main" val="2193711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3"/>
        <p:cNvGrpSpPr/>
        <p:nvPr/>
      </p:nvGrpSpPr>
      <p:grpSpPr>
        <a:xfrm>
          <a:off x="0" y="0"/>
          <a:ext cx="0" cy="0"/>
          <a:chOff x="0" y="0"/>
          <a:chExt cx="0" cy="0"/>
        </a:xfrm>
      </p:grpSpPr>
      <p:sp>
        <p:nvSpPr>
          <p:cNvPr id="44" name="Google Shape;44;p48"/>
          <p:cNvSpPr txBox="1">
            <a:spLocks noGrp="1"/>
          </p:cNvSpPr>
          <p:nvPr>
            <p:ph type="body" idx="1"/>
          </p:nvPr>
        </p:nvSpPr>
        <p:spPr>
          <a:xfrm>
            <a:off x="415600" y="5640767"/>
            <a:ext cx="7998400" cy="806800"/>
          </a:xfrm>
          <a:prstGeom prst="rect">
            <a:avLst/>
          </a:prstGeom>
          <a:noFill/>
          <a:ln>
            <a:noFill/>
          </a:ln>
        </p:spPr>
        <p:txBody>
          <a:bodyPr spcFirstLastPara="1" wrap="square" lIns="91425" tIns="91425" rIns="91425" bIns="91425" anchor="ctr" anchorCtr="0">
            <a:noAutofit/>
          </a:bodyPr>
          <a:lstStyle>
            <a:lvl1pPr marL="609585" lvl="0" indent="-304792" algn="l">
              <a:lnSpc>
                <a:spcPct val="100000"/>
              </a:lnSpc>
              <a:spcBef>
                <a:spcPts val="0"/>
              </a:spcBef>
              <a:spcAft>
                <a:spcPts val="0"/>
              </a:spcAft>
              <a:buSzPts val="1800"/>
              <a:buNone/>
              <a:defRPr/>
            </a:lvl1pPr>
          </a:lstStyle>
          <a:p>
            <a:endParaRPr/>
          </a:p>
        </p:txBody>
      </p:sp>
      <p:sp>
        <p:nvSpPr>
          <p:cNvPr id="45" name="Google Shape;45;p48"/>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s-AR" smtClean="0"/>
              <a:pPr/>
              <a:t>‹Nº›</a:t>
            </a:fld>
            <a:endParaRPr lang="es-AR"/>
          </a:p>
        </p:txBody>
      </p:sp>
    </p:spTree>
    <p:extLst>
      <p:ext uri="{BB962C8B-B14F-4D97-AF65-F5344CB8AC3E}">
        <p14:creationId xmlns:p14="http://schemas.microsoft.com/office/powerpoint/2010/main" val="1193323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6"/>
        <p:cNvGrpSpPr/>
        <p:nvPr/>
      </p:nvGrpSpPr>
      <p:grpSpPr>
        <a:xfrm>
          <a:off x="0" y="0"/>
          <a:ext cx="0" cy="0"/>
          <a:chOff x="0" y="0"/>
          <a:chExt cx="0" cy="0"/>
        </a:xfrm>
      </p:grpSpPr>
      <p:sp>
        <p:nvSpPr>
          <p:cNvPr id="47" name="Google Shape;47;p49"/>
          <p:cNvSpPr txBox="1">
            <a:spLocks noGrp="1"/>
          </p:cNvSpPr>
          <p:nvPr>
            <p:ph type="title" hasCustomPrompt="1"/>
          </p:nvPr>
        </p:nvSpPr>
        <p:spPr>
          <a:xfrm>
            <a:off x="415600" y="1474833"/>
            <a:ext cx="11360800" cy="26180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6000"/>
            </a:lvl1pPr>
            <a:lvl2pPr lvl="1" algn="ctr">
              <a:lnSpc>
                <a:spcPct val="100000"/>
              </a:lnSpc>
              <a:spcBef>
                <a:spcPts val="0"/>
              </a:spcBef>
              <a:spcAft>
                <a:spcPts val="0"/>
              </a:spcAft>
              <a:buSzPts val="12000"/>
              <a:buNone/>
              <a:defRPr sz="16000"/>
            </a:lvl2pPr>
            <a:lvl3pPr lvl="2" algn="ctr">
              <a:lnSpc>
                <a:spcPct val="100000"/>
              </a:lnSpc>
              <a:spcBef>
                <a:spcPts val="0"/>
              </a:spcBef>
              <a:spcAft>
                <a:spcPts val="0"/>
              </a:spcAft>
              <a:buSzPts val="12000"/>
              <a:buNone/>
              <a:defRPr sz="16000"/>
            </a:lvl3pPr>
            <a:lvl4pPr lvl="3" algn="ctr">
              <a:lnSpc>
                <a:spcPct val="100000"/>
              </a:lnSpc>
              <a:spcBef>
                <a:spcPts val="0"/>
              </a:spcBef>
              <a:spcAft>
                <a:spcPts val="0"/>
              </a:spcAft>
              <a:buSzPts val="12000"/>
              <a:buNone/>
              <a:defRPr sz="16000"/>
            </a:lvl4pPr>
            <a:lvl5pPr lvl="4" algn="ctr">
              <a:lnSpc>
                <a:spcPct val="100000"/>
              </a:lnSpc>
              <a:spcBef>
                <a:spcPts val="0"/>
              </a:spcBef>
              <a:spcAft>
                <a:spcPts val="0"/>
              </a:spcAft>
              <a:buSzPts val="12000"/>
              <a:buNone/>
              <a:defRPr sz="16000"/>
            </a:lvl5pPr>
            <a:lvl6pPr lvl="5" algn="ctr">
              <a:lnSpc>
                <a:spcPct val="100000"/>
              </a:lnSpc>
              <a:spcBef>
                <a:spcPts val="0"/>
              </a:spcBef>
              <a:spcAft>
                <a:spcPts val="0"/>
              </a:spcAft>
              <a:buSzPts val="12000"/>
              <a:buNone/>
              <a:defRPr sz="16000"/>
            </a:lvl6pPr>
            <a:lvl7pPr lvl="6" algn="ctr">
              <a:lnSpc>
                <a:spcPct val="100000"/>
              </a:lnSpc>
              <a:spcBef>
                <a:spcPts val="0"/>
              </a:spcBef>
              <a:spcAft>
                <a:spcPts val="0"/>
              </a:spcAft>
              <a:buSzPts val="12000"/>
              <a:buNone/>
              <a:defRPr sz="16000"/>
            </a:lvl7pPr>
            <a:lvl8pPr lvl="7" algn="ctr">
              <a:lnSpc>
                <a:spcPct val="100000"/>
              </a:lnSpc>
              <a:spcBef>
                <a:spcPts val="0"/>
              </a:spcBef>
              <a:spcAft>
                <a:spcPts val="0"/>
              </a:spcAft>
              <a:buSzPts val="12000"/>
              <a:buNone/>
              <a:defRPr sz="16000"/>
            </a:lvl8pPr>
            <a:lvl9pPr lvl="8" algn="ctr">
              <a:lnSpc>
                <a:spcPct val="100000"/>
              </a:lnSpc>
              <a:spcBef>
                <a:spcPts val="0"/>
              </a:spcBef>
              <a:spcAft>
                <a:spcPts val="0"/>
              </a:spcAft>
              <a:buSzPts val="12000"/>
              <a:buNone/>
              <a:defRPr sz="16000"/>
            </a:lvl9pPr>
          </a:lstStyle>
          <a:p>
            <a:r>
              <a:t>xx%</a:t>
            </a:r>
          </a:p>
        </p:txBody>
      </p:sp>
      <p:sp>
        <p:nvSpPr>
          <p:cNvPr id="48" name="Google Shape;48;p49"/>
          <p:cNvSpPr txBox="1">
            <a:spLocks noGrp="1"/>
          </p:cNvSpPr>
          <p:nvPr>
            <p:ph type="body" idx="1"/>
          </p:nvPr>
        </p:nvSpPr>
        <p:spPr>
          <a:xfrm>
            <a:off x="415600" y="4202967"/>
            <a:ext cx="11360800" cy="1734400"/>
          </a:xfrm>
          <a:prstGeom prst="rect">
            <a:avLst/>
          </a:prstGeom>
          <a:noFill/>
          <a:ln>
            <a:noFill/>
          </a:ln>
        </p:spPr>
        <p:txBody>
          <a:bodyPr spcFirstLastPara="1" wrap="square" lIns="91425" tIns="91425" rIns="91425" bIns="91425" anchor="t" anchorCtr="0">
            <a:noAutofit/>
          </a:bodyPr>
          <a:lstStyle>
            <a:lvl1pPr marL="609585" lvl="0" indent="-457189" algn="ctr">
              <a:lnSpc>
                <a:spcPct val="115000"/>
              </a:lnSpc>
              <a:spcBef>
                <a:spcPts val="0"/>
              </a:spcBef>
              <a:spcAft>
                <a:spcPts val="0"/>
              </a:spcAft>
              <a:buSzPts val="1800"/>
              <a:buChar char="●"/>
              <a:defRPr/>
            </a:lvl1pPr>
            <a:lvl2pPr marL="1219170" lvl="1" indent="-423323" algn="ctr">
              <a:lnSpc>
                <a:spcPct val="115000"/>
              </a:lnSpc>
              <a:spcBef>
                <a:spcPts val="2133"/>
              </a:spcBef>
              <a:spcAft>
                <a:spcPts val="0"/>
              </a:spcAft>
              <a:buSzPts val="1400"/>
              <a:buChar char="○"/>
              <a:defRPr/>
            </a:lvl2pPr>
            <a:lvl3pPr marL="1828754" lvl="2" indent="-423323" algn="ctr">
              <a:lnSpc>
                <a:spcPct val="115000"/>
              </a:lnSpc>
              <a:spcBef>
                <a:spcPts val="2133"/>
              </a:spcBef>
              <a:spcAft>
                <a:spcPts val="0"/>
              </a:spcAft>
              <a:buSzPts val="1400"/>
              <a:buChar char="■"/>
              <a:defRPr/>
            </a:lvl3pPr>
            <a:lvl4pPr marL="2438339" lvl="3" indent="-423323" algn="ctr">
              <a:lnSpc>
                <a:spcPct val="115000"/>
              </a:lnSpc>
              <a:spcBef>
                <a:spcPts val="2133"/>
              </a:spcBef>
              <a:spcAft>
                <a:spcPts val="0"/>
              </a:spcAft>
              <a:buSzPts val="1400"/>
              <a:buChar char="●"/>
              <a:defRPr/>
            </a:lvl4pPr>
            <a:lvl5pPr marL="3047924" lvl="4" indent="-423323" algn="ctr">
              <a:lnSpc>
                <a:spcPct val="115000"/>
              </a:lnSpc>
              <a:spcBef>
                <a:spcPts val="2133"/>
              </a:spcBef>
              <a:spcAft>
                <a:spcPts val="0"/>
              </a:spcAft>
              <a:buSzPts val="1400"/>
              <a:buChar char="○"/>
              <a:defRPr/>
            </a:lvl5pPr>
            <a:lvl6pPr marL="3657509" lvl="5" indent="-423323" algn="ctr">
              <a:lnSpc>
                <a:spcPct val="115000"/>
              </a:lnSpc>
              <a:spcBef>
                <a:spcPts val="2133"/>
              </a:spcBef>
              <a:spcAft>
                <a:spcPts val="0"/>
              </a:spcAft>
              <a:buSzPts val="1400"/>
              <a:buChar char="■"/>
              <a:defRPr/>
            </a:lvl6pPr>
            <a:lvl7pPr marL="4267093" lvl="6" indent="-423323" algn="ctr">
              <a:lnSpc>
                <a:spcPct val="115000"/>
              </a:lnSpc>
              <a:spcBef>
                <a:spcPts val="2133"/>
              </a:spcBef>
              <a:spcAft>
                <a:spcPts val="0"/>
              </a:spcAft>
              <a:buSzPts val="1400"/>
              <a:buChar char="●"/>
              <a:defRPr/>
            </a:lvl7pPr>
            <a:lvl8pPr marL="4876678" lvl="7" indent="-423323" algn="ctr">
              <a:lnSpc>
                <a:spcPct val="115000"/>
              </a:lnSpc>
              <a:spcBef>
                <a:spcPts val="2133"/>
              </a:spcBef>
              <a:spcAft>
                <a:spcPts val="0"/>
              </a:spcAft>
              <a:buSzPts val="1400"/>
              <a:buChar char="○"/>
              <a:defRPr/>
            </a:lvl8pPr>
            <a:lvl9pPr marL="5486263" lvl="8" indent="-423323" algn="ctr">
              <a:lnSpc>
                <a:spcPct val="115000"/>
              </a:lnSpc>
              <a:spcBef>
                <a:spcPts val="2133"/>
              </a:spcBef>
              <a:spcAft>
                <a:spcPts val="2133"/>
              </a:spcAft>
              <a:buSzPts val="1400"/>
              <a:buChar char="■"/>
              <a:defRPr/>
            </a:lvl9pPr>
          </a:lstStyle>
          <a:p>
            <a:endParaRPr/>
          </a:p>
        </p:txBody>
      </p:sp>
      <p:sp>
        <p:nvSpPr>
          <p:cNvPr id="49" name="Google Shape;49;p49"/>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s-AR" smtClean="0"/>
              <a:pPr/>
              <a:t>‹Nº›</a:t>
            </a:fld>
            <a:endParaRPr lang="es-AR"/>
          </a:p>
        </p:txBody>
      </p:sp>
    </p:spTree>
    <p:extLst>
      <p:ext uri="{BB962C8B-B14F-4D97-AF65-F5344CB8AC3E}">
        <p14:creationId xmlns:p14="http://schemas.microsoft.com/office/powerpoint/2010/main" val="23555143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2"/>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32"/>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32"/>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s-AR" smtClean="0"/>
              <a:pPr/>
              <a:t>‹Nº›</a:t>
            </a:fld>
            <a:endParaRPr lang="es-AR"/>
          </a:p>
        </p:txBody>
      </p:sp>
    </p:spTree>
    <p:extLst>
      <p:ext uri="{BB962C8B-B14F-4D97-AF65-F5344CB8AC3E}">
        <p14:creationId xmlns:p14="http://schemas.microsoft.com/office/powerpoint/2010/main" val="413915634"/>
      </p:ext>
    </p:extLst>
  </p:cSld>
  <p:clrMap bg1="lt1" tx1="dk1" bg2="dk2" tx2="lt2" accent1="accent1" accent2="accent2" accent3="accent3" accent4="accent4" accent5="accent5" accent6="accent6" hlink="hlink" folHlink="folHlink"/>
  <p:sldLayoutIdLst>
    <p:sldLayoutId id="2147483662" r:id="rId1"/>
    <p:sldLayoutId id="2147483666" r:id="rId2"/>
    <p:sldLayoutId id="2147483667" r:id="rId3"/>
    <p:sldLayoutId id="2147483668" r:id="rId4"/>
    <p:sldLayoutId id="2147483669" r:id="rId5"/>
    <p:sldLayoutId id="2147483670" r:id="rId6"/>
    <p:sldLayoutId id="2147483671" r:id="rId7"/>
  </p:sldLayoutIdLst>
  <mc:AlternateContent xmlns:mc="http://schemas.openxmlformats.org/markup-compatibility/2006" xmlns:p14="http://schemas.microsoft.com/office/powerpoint/2010/main">
    <mc:Choice Requires="p14">
      <p:transition spd="slow" p14:dur="25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hyperlink" Target="https://www.arquitecturajava.com/spring-autowired-y-la-inyeccion-de-dependencias/"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hyperlink" Target="https://www.youtube.com/watch?v=uq4GjRF_860&amp;t=1104s" TargetMode="External"/><Relationship Id="rId5" Type="http://schemas.openxmlformats.org/officeDocument/2006/relationships/hyperlink" Target="https://www.youtube.com/watch?v=SyoEVbeEFEQ" TargetMode="External"/><Relationship Id="rId4" Type="http://schemas.openxmlformats.org/officeDocument/2006/relationships/hyperlink" Target="http://www.profesor-p.com/2018/08/28/ejemplo-aplicacion-mvc-con-spring-boot-usando-netbeans-9/" TargetMode="Externa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hyperlink" Target="https://www.arquitecturajava.com/spring-mvc-configurac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a:t>
            </a:r>
            <a:r>
              <a:rPr lang="es-ES" sz="4000" b="1" kern="0" dirty="0">
                <a:solidFill>
                  <a:srgbClr val="FDE23D"/>
                </a:solidFill>
                <a:latin typeface="Encode Sans"/>
                <a:sym typeface="Encode Sans"/>
              </a:rPr>
              <a:t>- </a:t>
            </a:r>
            <a:r>
              <a:rPr lang="es-ES" sz="4000" b="1" kern="0" dirty="0" smtClean="0">
                <a:solidFill>
                  <a:srgbClr val="FDE23D"/>
                </a:solidFill>
                <a:latin typeface="Encode Sans"/>
                <a:sym typeface="Encode Sans"/>
              </a:rPr>
              <a:t>Back </a:t>
            </a:r>
            <a:r>
              <a:rPr lang="es-ES" sz="4000" b="1" kern="0" dirty="0" err="1">
                <a:solidFill>
                  <a:srgbClr val="FDE23D"/>
                </a:solidFill>
                <a:latin typeface="Encode Sans"/>
                <a:sym typeface="Encode Sans"/>
              </a:rPr>
              <a:t>End</a:t>
            </a:r>
            <a:r>
              <a:rPr lang="es-ES" sz="4000" b="1" kern="0" dirty="0">
                <a:solidFill>
                  <a:srgbClr val="FDE23D"/>
                </a:solidFill>
                <a:latin typeface="Encode Sans"/>
                <a:sym typeface="Encode Sans"/>
              </a:rPr>
              <a:t> - 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8" name="Google Shape;124;p7">
            <a:extLst>
              <a:ext uri="{FF2B5EF4-FFF2-40B4-BE49-F238E27FC236}">
                <a16:creationId xmlns:a16="http://schemas.microsoft.com/office/drawing/2014/main" xmlns="" id="{42586C2D-89D1-4B8A-9675-E07D4898191B}"/>
              </a:ext>
            </a:extLst>
          </p:cNvPr>
          <p:cNvSpPr txBox="1"/>
          <p:nvPr/>
        </p:nvSpPr>
        <p:spPr>
          <a:xfrm>
            <a:off x="3192686" y="2022493"/>
            <a:ext cx="7653505" cy="4784329"/>
          </a:xfrm>
          <a:prstGeom prst="rect">
            <a:avLst/>
          </a:prstGeom>
          <a:noFill/>
          <a:ln>
            <a:noFill/>
          </a:ln>
        </p:spPr>
        <p:txBody>
          <a:bodyPr spcFirstLastPara="1" wrap="square" lIns="121900" tIns="121900" rIns="121900" bIns="121900" anchor="ctr" anchorCtr="0">
            <a:noAutofit/>
          </a:bodyPr>
          <a:lstStyle/>
          <a:p>
            <a:r>
              <a:rPr lang="es-MX" sz="2400" b="1" dirty="0" smtClean="0">
                <a:effectLst/>
                <a:latin typeface="Encode Sans" panose="020B0604020202020204"/>
                <a:ea typeface="Calibri" panose="020F0502020204030204" pitchFamily="34" charset="0"/>
              </a:rPr>
              <a:t>Tema</a:t>
            </a:r>
            <a:r>
              <a:rPr lang="es-MX" sz="2400" b="1" dirty="0">
                <a:effectLst/>
                <a:latin typeface="Encode Sans" panose="020B0604020202020204"/>
                <a:ea typeface="Calibri" panose="020F0502020204030204" pitchFamily="34" charset="0"/>
              </a:rPr>
              <a:t>: </a:t>
            </a:r>
            <a:r>
              <a:rPr lang="es-MX" sz="2400" b="1" dirty="0" smtClean="0">
                <a:effectLst/>
                <a:latin typeface="Encode Sans" panose="020B0604020202020204"/>
                <a:ea typeface="Calibri" panose="020F0502020204030204" pitchFamily="34" charset="0"/>
              </a:rPr>
              <a:t>Spring y </a:t>
            </a:r>
            <a:r>
              <a:rPr lang="es-MX" sz="2400" b="1" dirty="0" err="1" smtClean="0">
                <a:effectLst/>
                <a:latin typeface="Encode Sans" panose="020B0604020202020204"/>
                <a:ea typeface="Calibri" panose="020F0502020204030204" pitchFamily="34" charset="0"/>
              </a:rPr>
              <a:t>MySQL</a:t>
            </a:r>
            <a:endParaRPr lang="es-MX" sz="2400" b="1" dirty="0">
              <a:effectLst/>
              <a:latin typeface="Encode Sans" panose="020B0604020202020204"/>
              <a:ea typeface="Calibri" panose="020F0502020204030204" pitchFamily="34" charset="0"/>
            </a:endParaRPr>
          </a:p>
          <a:p>
            <a:endParaRPr lang="es-MX" sz="2400" b="1" u="sng" dirty="0">
              <a:latin typeface="Encode Sans" panose="020B0604020202020204"/>
              <a:ea typeface="Calibri" panose="020F0502020204030204" pitchFamily="34" charset="0"/>
            </a:endParaRPr>
          </a:p>
          <a:p>
            <a:pPr marL="285750" indent="-285750">
              <a:buFont typeface="Arial" panose="020B0604020202020204" pitchFamily="34" charset="0"/>
              <a:buChar char="•"/>
            </a:pPr>
            <a:r>
              <a:rPr lang="es-MX" dirty="0">
                <a:solidFill>
                  <a:srgbClr val="000000"/>
                </a:solidFill>
                <a:latin typeface="Calibri" panose="020F0502020204030204" pitchFamily="34" charset="0"/>
              </a:rPr>
              <a:t>¿</a:t>
            </a:r>
            <a:r>
              <a:rPr lang="es-MX" dirty="0" smtClean="0">
                <a:solidFill>
                  <a:srgbClr val="000000"/>
                </a:solidFill>
                <a:latin typeface="Calibri" panose="020F0502020204030204" pitchFamily="34" charset="0"/>
              </a:rPr>
              <a:t>Qué es Spring?</a:t>
            </a:r>
            <a:endParaRPr lang="es-MX" dirty="0">
              <a:solidFill>
                <a:srgbClr val="000000"/>
              </a:solidFill>
              <a:latin typeface="Calibri" panose="020F0502020204030204" pitchFamily="34" charset="0"/>
            </a:endParaRPr>
          </a:p>
          <a:p>
            <a:pPr marL="285750" indent="-285750">
              <a:buFont typeface="Arial" panose="020B0604020202020204" pitchFamily="34" charset="0"/>
              <a:buChar char="•"/>
            </a:pPr>
            <a:r>
              <a:rPr lang="es-MX" dirty="0">
                <a:solidFill>
                  <a:srgbClr val="000000"/>
                </a:solidFill>
                <a:latin typeface="Calibri" panose="020F0502020204030204" pitchFamily="34" charset="0"/>
              </a:rPr>
              <a:t>¿Cuales son las ventajas de Spring?</a:t>
            </a:r>
          </a:p>
          <a:p>
            <a:pPr marL="285750" indent="-285750">
              <a:buFont typeface="Arial" panose="020B0604020202020204" pitchFamily="34" charset="0"/>
              <a:buChar char="•"/>
            </a:pPr>
            <a:r>
              <a:rPr lang="es-MX" dirty="0" smtClean="0">
                <a:solidFill>
                  <a:srgbClr val="000000"/>
                </a:solidFill>
                <a:latin typeface="Calibri" panose="020F0502020204030204" pitchFamily="34" charset="0"/>
              </a:rPr>
              <a:t>Partes </a:t>
            </a:r>
            <a:r>
              <a:rPr lang="es-MX" dirty="0">
                <a:solidFill>
                  <a:srgbClr val="000000"/>
                </a:solidFill>
                <a:latin typeface="Calibri" panose="020F0502020204030204" pitchFamily="34" charset="0"/>
              </a:rPr>
              <a:t>Framework Spring</a:t>
            </a:r>
          </a:p>
          <a:p>
            <a:pPr marL="285750" indent="-285750">
              <a:buFont typeface="Arial" panose="020B0604020202020204" pitchFamily="34" charset="0"/>
              <a:buChar char="•"/>
            </a:pPr>
            <a:r>
              <a:rPr lang="es-MX" dirty="0">
                <a:solidFill>
                  <a:srgbClr val="000000"/>
                </a:solidFill>
                <a:latin typeface="Calibri" panose="020F0502020204030204" pitchFamily="34" charset="0"/>
              </a:rPr>
              <a:t>Instalación java para </a:t>
            </a:r>
            <a:r>
              <a:rPr lang="es-MX" dirty="0" err="1">
                <a:solidFill>
                  <a:srgbClr val="000000"/>
                </a:solidFill>
                <a:latin typeface="Calibri" panose="020F0502020204030204" pitchFamily="34" charset="0"/>
              </a:rPr>
              <a:t>VSCode</a:t>
            </a:r>
            <a:endParaRPr lang="es-MX" dirty="0">
              <a:solidFill>
                <a:srgbClr val="000000"/>
              </a:solidFill>
              <a:latin typeface="Calibri" panose="020F0502020204030204" pitchFamily="34" charset="0"/>
            </a:endParaRPr>
          </a:p>
          <a:p>
            <a:pPr marL="285750" indent="-285750">
              <a:buFont typeface="Arial" panose="020B0604020202020204" pitchFamily="34" charset="0"/>
              <a:buChar char="•"/>
            </a:pPr>
            <a:r>
              <a:rPr lang="es-MX" dirty="0">
                <a:solidFill>
                  <a:srgbClr val="000000"/>
                </a:solidFill>
                <a:latin typeface="Calibri" panose="020F0502020204030204" pitchFamily="34" charset="0"/>
              </a:rPr>
              <a:t>Verificar Versión de Java Instalado y desde </a:t>
            </a:r>
            <a:r>
              <a:rPr lang="es-MX" dirty="0" err="1">
                <a:solidFill>
                  <a:srgbClr val="000000"/>
                </a:solidFill>
                <a:latin typeface="Calibri" panose="020F0502020204030204" pitchFamily="34" charset="0"/>
              </a:rPr>
              <a:t>VSCode</a:t>
            </a:r>
            <a:endParaRPr lang="es-MX" dirty="0">
              <a:solidFill>
                <a:srgbClr val="000000"/>
              </a:solidFill>
              <a:latin typeface="Calibri" panose="020F0502020204030204" pitchFamily="34" charset="0"/>
            </a:endParaRPr>
          </a:p>
          <a:p>
            <a:pPr marL="285750" indent="-285750">
              <a:buFont typeface="Arial" panose="020B0604020202020204" pitchFamily="34" charset="0"/>
              <a:buChar char="•"/>
            </a:pPr>
            <a:r>
              <a:rPr lang="es-MX" dirty="0">
                <a:solidFill>
                  <a:srgbClr val="000000"/>
                </a:solidFill>
                <a:latin typeface="Calibri" panose="020F0502020204030204" pitchFamily="34" charset="0"/>
              </a:rPr>
              <a:t>Instalando Spring </a:t>
            </a:r>
            <a:r>
              <a:rPr lang="es-MX" dirty="0" err="1">
                <a:solidFill>
                  <a:srgbClr val="000000"/>
                </a:solidFill>
                <a:latin typeface="Calibri" panose="020F0502020204030204" pitchFamily="34" charset="0"/>
              </a:rPr>
              <a:t>Boot</a:t>
            </a:r>
            <a:r>
              <a:rPr lang="es-MX" dirty="0">
                <a:solidFill>
                  <a:srgbClr val="000000"/>
                </a:solidFill>
                <a:latin typeface="Calibri" panose="020F0502020204030204" pitchFamily="34" charset="0"/>
              </a:rPr>
              <a:t> en </a:t>
            </a:r>
            <a:r>
              <a:rPr lang="es-MX" dirty="0" err="1">
                <a:solidFill>
                  <a:srgbClr val="000000"/>
                </a:solidFill>
                <a:latin typeface="Calibri" panose="020F0502020204030204" pitchFamily="34" charset="0"/>
              </a:rPr>
              <a:t>VSCode</a:t>
            </a:r>
            <a:endParaRPr lang="es-MX" dirty="0">
              <a:solidFill>
                <a:srgbClr val="000000"/>
              </a:solidFill>
              <a:latin typeface="Calibri" panose="020F0502020204030204" pitchFamily="34" charset="0"/>
            </a:endParaRPr>
          </a:p>
          <a:p>
            <a:pPr marL="285750" indent="-285750">
              <a:buFont typeface="Arial" panose="020B0604020202020204" pitchFamily="34" charset="0"/>
              <a:buChar char="•"/>
            </a:pPr>
            <a:r>
              <a:rPr lang="es-MX" dirty="0">
                <a:solidFill>
                  <a:srgbClr val="000000"/>
                </a:solidFill>
                <a:latin typeface="Calibri" panose="020F0502020204030204" pitchFamily="34" charset="0"/>
              </a:rPr>
              <a:t>Ejemplo Spring </a:t>
            </a:r>
            <a:r>
              <a:rPr lang="es-MX" dirty="0" err="1">
                <a:solidFill>
                  <a:srgbClr val="000000"/>
                </a:solidFill>
                <a:latin typeface="Calibri" panose="020F0502020204030204" pitchFamily="34" charset="0"/>
              </a:rPr>
              <a:t>Boot</a:t>
            </a:r>
            <a:r>
              <a:rPr lang="es-MX" dirty="0">
                <a:solidFill>
                  <a:srgbClr val="000000"/>
                </a:solidFill>
                <a:latin typeface="Calibri" panose="020F0502020204030204" pitchFamily="34" charset="0"/>
              </a:rPr>
              <a:t> en </a:t>
            </a:r>
            <a:r>
              <a:rPr lang="es-MX" dirty="0" err="1">
                <a:solidFill>
                  <a:srgbClr val="000000"/>
                </a:solidFill>
                <a:latin typeface="Calibri" panose="020F0502020204030204" pitchFamily="34" charset="0"/>
              </a:rPr>
              <a:t>VSCode</a:t>
            </a:r>
            <a:endParaRPr lang="es-MX" dirty="0">
              <a:solidFill>
                <a:srgbClr val="000000"/>
              </a:solidFill>
              <a:latin typeface="Calibri" panose="020F0502020204030204" pitchFamily="34" charset="0"/>
            </a:endParaRPr>
          </a:p>
          <a:p>
            <a:pPr marL="285750" indent="-285750">
              <a:buFont typeface="Arial" panose="020B0604020202020204" pitchFamily="34" charset="0"/>
              <a:buChar char="•"/>
            </a:pPr>
            <a:r>
              <a:rPr lang="es-MX" dirty="0">
                <a:solidFill>
                  <a:srgbClr val="000000"/>
                </a:solidFill>
                <a:latin typeface="Calibri" panose="020F0502020204030204" pitchFamily="34" charset="0"/>
              </a:rPr>
              <a:t>Empaquetando archivos en un archivo JAR</a:t>
            </a:r>
          </a:p>
          <a:p>
            <a:pPr marL="285750" indent="-285750">
              <a:buFont typeface="Arial" panose="020B0604020202020204" pitchFamily="34" charset="0"/>
              <a:buChar char="•"/>
            </a:pPr>
            <a:r>
              <a:rPr lang="es-MX" dirty="0">
                <a:solidFill>
                  <a:srgbClr val="000000"/>
                </a:solidFill>
                <a:latin typeface="Calibri" panose="020F0502020204030204" pitchFamily="34" charset="0"/>
              </a:rPr>
              <a:t>Modificar </a:t>
            </a:r>
            <a:r>
              <a:rPr lang="es-MX" dirty="0" smtClean="0">
                <a:solidFill>
                  <a:srgbClr val="000000"/>
                </a:solidFill>
                <a:latin typeface="Calibri" panose="020F0502020204030204" pitchFamily="34" charset="0"/>
              </a:rPr>
              <a:t>Puerto</a:t>
            </a:r>
            <a:endParaRPr lang="es-MX" dirty="0">
              <a:solidFill>
                <a:srgbClr val="000000"/>
              </a:solidFill>
              <a:latin typeface="Calibri" panose="020F0502020204030204" pitchFamily="34" charset="0"/>
            </a:endParaRPr>
          </a:p>
        </p:txBody>
      </p:sp>
    </p:spTree>
    <p:extLst>
      <p:ext uri="{BB962C8B-B14F-4D97-AF65-F5344CB8AC3E}">
        <p14:creationId xmlns:p14="http://schemas.microsoft.com/office/powerpoint/2010/main" val="6374418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a:solidFill>
                  <a:srgbClr val="FDE23D"/>
                </a:solidFill>
                <a:latin typeface="Encode Sans"/>
                <a:sym typeface="Encode Sans"/>
              </a:rPr>
              <a:t>Módulo 8 - Back </a:t>
            </a:r>
            <a:r>
              <a:rPr lang="es-ES" sz="4000" b="1" kern="0" dirty="0" err="1">
                <a:solidFill>
                  <a:srgbClr val="FDE23D"/>
                </a:solidFill>
                <a:latin typeface="Encode Sans"/>
                <a:sym typeface="Encode Sans"/>
              </a:rPr>
              <a:t>End</a:t>
            </a:r>
            <a:r>
              <a:rPr lang="es-ES" sz="4000" b="1" kern="0" dirty="0">
                <a:solidFill>
                  <a:srgbClr val="FDE23D"/>
                </a:solidFill>
                <a:latin typeface="Encode Sans"/>
                <a:sym typeface="Encode Sans"/>
              </a:rPr>
              <a:t> - 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a16="http://schemas.microsoft.com/office/drawing/2014/main" xmlns="" id="{42586C2D-89D1-4B8A-9675-E07D4898191B}"/>
              </a:ext>
            </a:extLst>
          </p:cNvPr>
          <p:cNvSpPr txBox="1"/>
          <p:nvPr/>
        </p:nvSpPr>
        <p:spPr>
          <a:xfrm>
            <a:off x="1801504" y="2022493"/>
            <a:ext cx="9044687" cy="4784329"/>
          </a:xfrm>
          <a:prstGeom prst="rect">
            <a:avLst/>
          </a:prstGeom>
          <a:noFill/>
          <a:ln>
            <a:noFill/>
          </a:ln>
        </p:spPr>
        <p:txBody>
          <a:bodyPr spcFirstLastPara="1" wrap="square" lIns="121900" tIns="121900" rIns="121900" bIns="121900" anchor="ctr" anchorCtr="0">
            <a:noAutofit/>
          </a:bodyPr>
          <a:lstStyle/>
          <a:p>
            <a:r>
              <a:rPr lang="es-AR" sz="4000" b="1" dirty="0" smtClean="0">
                <a:solidFill>
                  <a:srgbClr val="0070C0"/>
                </a:solidFill>
                <a:latin typeface="Georgia"/>
                <a:ea typeface="Georgia"/>
                <a:cs typeface="Georgia"/>
                <a:sym typeface="Georgia"/>
              </a:rPr>
              <a:t>Spring </a:t>
            </a:r>
            <a:r>
              <a:rPr lang="es-AR" sz="4000" b="1" dirty="0" err="1" smtClean="0">
                <a:solidFill>
                  <a:srgbClr val="0070C0"/>
                </a:solidFill>
                <a:latin typeface="Georgia"/>
                <a:ea typeface="Georgia"/>
                <a:cs typeface="Georgia"/>
                <a:sym typeface="Georgia"/>
              </a:rPr>
              <a:t>Boot</a:t>
            </a:r>
            <a:r>
              <a:rPr lang="es-AR" sz="4000" b="1" dirty="0" smtClean="0">
                <a:solidFill>
                  <a:srgbClr val="0070C0"/>
                </a:solidFill>
                <a:latin typeface="Georgia"/>
                <a:ea typeface="Georgia"/>
                <a:cs typeface="Georgia"/>
                <a:sym typeface="Georgia"/>
              </a:rPr>
              <a:t> Java </a:t>
            </a:r>
          </a:p>
          <a:p>
            <a:r>
              <a:rPr lang="es-AR" sz="4000" b="1" dirty="0" smtClean="0">
                <a:solidFill>
                  <a:srgbClr val="0070C0"/>
                </a:solidFill>
                <a:latin typeface="Georgia"/>
                <a:ea typeface="Georgia"/>
                <a:cs typeface="Georgia"/>
                <a:sym typeface="Georgia"/>
              </a:rPr>
              <a:t>Instalar extensión para Java</a:t>
            </a:r>
            <a:endParaRPr lang="es-ES"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39524941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5"/>
            <a:ext cx="11131990" cy="1751525"/>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Instalar Extensión para Java en </a:t>
            </a:r>
            <a:r>
              <a:rPr lang="es-MX" sz="2400" b="1" dirty="0" err="1" smtClean="0">
                <a:latin typeface="Encode Sans" panose="020B0604020202020204"/>
                <a:ea typeface="Calibri" panose="020F0502020204030204" pitchFamily="34" charset="0"/>
              </a:rPr>
              <a:t>VSCode</a:t>
            </a:r>
            <a:endParaRPr lang="es-MX" sz="2400" b="1" dirty="0" smtClean="0">
              <a:effectLst/>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a:t>Buscaremos el siguiente complemento a instalar en la </a:t>
            </a:r>
          </a:p>
          <a:p>
            <a:r>
              <a:rPr lang="es-ES" dirty="0"/>
              <a:t>paleta «java </a:t>
            </a:r>
            <a:r>
              <a:rPr lang="es-ES" dirty="0" err="1" smtClean="0"/>
              <a:t>code</a:t>
            </a:r>
            <a:r>
              <a:rPr lang="es-ES" u="sng" dirty="0" smtClean="0"/>
              <a:t>»</a:t>
            </a:r>
            <a:r>
              <a:rPr lang="es-ES" dirty="0" smtClean="0"/>
              <a:t> </a:t>
            </a:r>
            <a:r>
              <a:rPr lang="es-ES" dirty="0"/>
              <a:t>y ubicaremos el complemento que </a:t>
            </a:r>
          </a:p>
          <a:p>
            <a:r>
              <a:rPr lang="es-ES" dirty="0"/>
              <a:t>dice </a:t>
            </a:r>
            <a:r>
              <a:rPr lang="es-ES" dirty="0" smtClean="0"/>
              <a:t>«</a:t>
            </a:r>
            <a:r>
              <a:rPr lang="es-ES" dirty="0"/>
              <a:t>java </a:t>
            </a:r>
            <a:r>
              <a:rPr lang="es-ES" dirty="0" err="1"/>
              <a:t>code</a:t>
            </a:r>
            <a:r>
              <a:rPr lang="es-ES" dirty="0"/>
              <a:t> </a:t>
            </a:r>
            <a:r>
              <a:rPr lang="es-ES" dirty="0" err="1"/>
              <a:t>generators</a:t>
            </a:r>
            <a:r>
              <a:rPr lang="es-ES" dirty="0" smtClean="0"/>
              <a:t>».</a:t>
            </a:r>
            <a:endParaRPr lang="es-ES" dirty="0"/>
          </a:p>
          <a:p>
            <a:endParaRPr lang="es-ES" dirty="0"/>
          </a:p>
          <a:p>
            <a:pPr marL="285750" indent="-285750">
              <a:buFont typeface="Arial" pitchFamily="34" charset="0"/>
              <a:buChar char="•"/>
            </a:pPr>
            <a:r>
              <a:rPr lang="es-ES" dirty="0"/>
              <a:t>Realizamos la instalación de dicho complemento.</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80192" y="2781836"/>
            <a:ext cx="4700510" cy="1410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22679" y="3998336"/>
            <a:ext cx="5915025" cy="235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7 Flecha izquierda"/>
          <p:cNvSpPr/>
          <p:nvPr/>
        </p:nvSpPr>
        <p:spPr>
          <a:xfrm rot="20276310">
            <a:off x="6711388" y="4380771"/>
            <a:ext cx="3816587" cy="37762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pic>
        <p:nvPicPr>
          <p:cNvPr id="1029"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9949" y="5174673"/>
            <a:ext cx="3997642" cy="1557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11 Flecha izquierda"/>
          <p:cNvSpPr/>
          <p:nvPr/>
        </p:nvSpPr>
        <p:spPr>
          <a:xfrm rot="20759099">
            <a:off x="3700071" y="5764622"/>
            <a:ext cx="2385712" cy="37762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11092439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a:solidFill>
                  <a:srgbClr val="FDE23D"/>
                </a:solidFill>
                <a:latin typeface="Encode Sans"/>
                <a:sym typeface="Encode Sans"/>
              </a:rPr>
              <a:t>Módulo 8 - Back </a:t>
            </a:r>
            <a:r>
              <a:rPr lang="es-ES" sz="4000" b="1" kern="0" dirty="0" err="1">
                <a:solidFill>
                  <a:srgbClr val="FDE23D"/>
                </a:solidFill>
                <a:latin typeface="Encode Sans"/>
                <a:sym typeface="Encode Sans"/>
              </a:rPr>
              <a:t>End</a:t>
            </a:r>
            <a:r>
              <a:rPr lang="es-ES" sz="4000" b="1" kern="0" dirty="0">
                <a:solidFill>
                  <a:srgbClr val="FDE23D"/>
                </a:solidFill>
                <a:latin typeface="Encode Sans"/>
                <a:sym typeface="Encode Sans"/>
              </a:rPr>
              <a:t> - 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a16="http://schemas.microsoft.com/office/drawing/2014/main" xmlns="" id="{42586C2D-89D1-4B8A-9675-E07D4898191B}"/>
              </a:ext>
            </a:extLst>
          </p:cNvPr>
          <p:cNvSpPr txBox="1"/>
          <p:nvPr/>
        </p:nvSpPr>
        <p:spPr>
          <a:xfrm>
            <a:off x="1801504" y="2022493"/>
            <a:ext cx="9044687" cy="4784329"/>
          </a:xfrm>
          <a:prstGeom prst="rect">
            <a:avLst/>
          </a:prstGeom>
          <a:noFill/>
          <a:ln>
            <a:noFill/>
          </a:ln>
        </p:spPr>
        <p:txBody>
          <a:bodyPr spcFirstLastPara="1" wrap="square" lIns="121900" tIns="121900" rIns="121900" bIns="121900" anchor="ctr" anchorCtr="0">
            <a:noAutofit/>
          </a:bodyPr>
          <a:lstStyle/>
          <a:p>
            <a:r>
              <a:rPr lang="es-AR" sz="4000" b="1" dirty="0" smtClean="0">
                <a:solidFill>
                  <a:srgbClr val="0070C0"/>
                </a:solidFill>
                <a:latin typeface="Georgia"/>
                <a:ea typeface="Georgia"/>
                <a:cs typeface="Georgia"/>
                <a:sym typeface="Georgia"/>
              </a:rPr>
              <a:t>Spring MVC</a:t>
            </a:r>
          </a:p>
          <a:p>
            <a:r>
              <a:rPr lang="es-AR" sz="4000" b="1" dirty="0" smtClean="0">
                <a:solidFill>
                  <a:srgbClr val="0070C0"/>
                </a:solidFill>
                <a:latin typeface="Georgia"/>
                <a:ea typeface="Georgia"/>
                <a:cs typeface="Georgia"/>
                <a:sym typeface="Georgia"/>
              </a:rPr>
              <a:t>Primera Parte</a:t>
            </a:r>
            <a:endParaRPr lang="es-ES"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28388570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4"/>
            <a:ext cx="11131990" cy="4684731"/>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MVC </a:t>
            </a:r>
            <a:r>
              <a:rPr lang="es-MX" sz="2400" b="1" dirty="0">
                <a:latin typeface="Encode Sans" panose="020B0604020202020204"/>
                <a:ea typeface="Calibri" panose="020F0502020204030204" pitchFamily="34" charset="0"/>
              </a:rPr>
              <a:t>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Spring </a:t>
            </a:r>
            <a:r>
              <a:rPr lang="es-ES" dirty="0"/>
              <a:t>MVC es quizás el </a:t>
            </a:r>
            <a:r>
              <a:rPr lang="es-ES" dirty="0" err="1"/>
              <a:t>framework</a:t>
            </a:r>
            <a:r>
              <a:rPr lang="es-ES" dirty="0"/>
              <a:t> Web más utilizado en el mundo Java y nos permite crear aplicaciones sobre modelo MVC que generen páginas HTML sencillas en las cuales nosotros podamos cargar los contenidos que necesitemos de forma sencilla pudiendo integrarse con otras tecnologías como </a:t>
            </a:r>
            <a:r>
              <a:rPr lang="es-ES" dirty="0" err="1"/>
              <a:t>jQuery</a:t>
            </a:r>
            <a:r>
              <a:rPr lang="es-ES" dirty="0"/>
              <a:t> , </a:t>
            </a:r>
            <a:r>
              <a:rPr lang="es-ES" dirty="0" err="1"/>
              <a:t>React</a:t>
            </a:r>
            <a:r>
              <a:rPr lang="es-ES" dirty="0"/>
              <a:t> o </a:t>
            </a:r>
            <a:r>
              <a:rPr lang="es-ES" dirty="0" err="1"/>
              <a:t>Vue</a:t>
            </a:r>
            <a:r>
              <a:rPr lang="es-ES" dirty="0"/>
              <a:t> a la hora de generar aplicaciones modernas y flexibles</a:t>
            </a:r>
            <a:r>
              <a:rPr lang="es-ES" dirty="0" smtClean="0"/>
              <a:t>.</a:t>
            </a:r>
            <a:endParaRPr lang="es-ES" dirty="0"/>
          </a:p>
          <a:p>
            <a:pPr marL="285750" indent="-285750">
              <a:buFont typeface="Arial" pitchFamily="34" charset="0"/>
              <a:buChar char="•"/>
            </a:pPr>
            <a:endParaRPr lang="es-ES" dirty="0" smtClean="0"/>
          </a:p>
          <a:p>
            <a:pPr marL="285750" indent="-285750">
              <a:buFont typeface="Arial" pitchFamily="34" charset="0"/>
              <a:buChar char="•"/>
            </a:pPr>
            <a:r>
              <a:rPr lang="es-ES" dirty="0"/>
              <a:t>Al tratarse de un </a:t>
            </a:r>
            <a:r>
              <a:rPr lang="es-ES" dirty="0" err="1"/>
              <a:t>framework</a:t>
            </a:r>
            <a:r>
              <a:rPr lang="es-ES" dirty="0"/>
              <a:t> MVC trabaja sobre todo con el concepto de Controlador Frontal  (</a:t>
            </a:r>
            <a:r>
              <a:rPr lang="es-ES" dirty="0" err="1"/>
              <a:t>FrontController</a:t>
            </a:r>
            <a:r>
              <a:rPr lang="es-ES" dirty="0"/>
              <a:t>) que es el encargado de soportar todas las peticiones Web y redirigirlas a los componentes que sean necesarios . </a:t>
            </a:r>
            <a:endParaRPr lang="es-ES" dirty="0" smtClean="0"/>
          </a:p>
          <a:p>
            <a:pPr marL="285750" indent="-285750">
              <a:buFont typeface="Arial" pitchFamily="34" charset="0"/>
              <a:buChar char="•"/>
            </a:pPr>
            <a:endParaRPr lang="es-ES" dirty="0"/>
          </a:p>
          <a:p>
            <a:pPr marL="285750" indent="-285750">
              <a:buFont typeface="Arial" pitchFamily="34" charset="0"/>
              <a:buChar char="•"/>
            </a:pPr>
            <a:r>
              <a:rPr lang="es-ES" dirty="0" smtClean="0"/>
              <a:t>En </a:t>
            </a:r>
            <a:r>
              <a:rPr lang="es-ES" dirty="0"/>
              <a:t>este caso el controlador de Spring se denomina </a:t>
            </a:r>
            <a:r>
              <a:rPr lang="es-ES" dirty="0" err="1"/>
              <a:t>ServletDispatcher</a:t>
            </a:r>
            <a:r>
              <a:rPr lang="es-ES" dirty="0"/>
              <a:t> y viene configurado por defecto por Spring </a:t>
            </a:r>
            <a:r>
              <a:rPr lang="es-ES" dirty="0" err="1"/>
              <a:t>Boot</a:t>
            </a:r>
            <a:r>
              <a:rPr lang="es-ES" dirty="0" smtClean="0"/>
              <a:t>.</a:t>
            </a:r>
          </a:p>
          <a:p>
            <a:pPr marL="285750" indent="-285750">
              <a:buFont typeface="Arial" pitchFamily="34" charset="0"/>
              <a:buChar char="•"/>
            </a:pPr>
            <a:endParaRPr lang="es-ES" dirty="0"/>
          </a:p>
          <a:p>
            <a:pPr marL="285750" indent="-285750">
              <a:buFont typeface="Arial" pitchFamily="34" charset="0"/>
              <a:buChar char="•"/>
            </a:pPr>
            <a:r>
              <a:rPr lang="es-ES" dirty="0" smtClean="0"/>
              <a:t>En la siguiente imagen podremos </a:t>
            </a:r>
            <a:r>
              <a:rPr lang="es-ES" dirty="0"/>
              <a:t>ver </a:t>
            </a:r>
            <a:r>
              <a:rPr lang="es-ES" dirty="0" smtClean="0"/>
              <a:t>que existe </a:t>
            </a:r>
            <a:r>
              <a:rPr lang="es-ES" dirty="0"/>
              <a:t>un único </a:t>
            </a:r>
            <a:r>
              <a:rPr lang="es-ES" dirty="0" err="1"/>
              <a:t>Servlet</a:t>
            </a:r>
            <a:r>
              <a:rPr lang="es-ES" dirty="0"/>
              <a:t> que recibe todas las peticiones (GET,POST </a:t>
            </a:r>
            <a:r>
              <a:rPr lang="es-ES" dirty="0" err="1"/>
              <a:t>etc</a:t>
            </a:r>
            <a:r>
              <a:rPr lang="es-ES" dirty="0"/>
              <a:t>) y según la información que recibe delega en el </a:t>
            </a:r>
            <a:r>
              <a:rPr lang="es-ES" dirty="0" smtClean="0"/>
              <a:t>método </a:t>
            </a:r>
            <a:r>
              <a:rPr lang="es-ES" dirty="0"/>
              <a:t>adecuado de cada uno de los controladores. </a:t>
            </a:r>
            <a:endParaRPr lang="es-ES" dirty="0" smtClean="0"/>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2339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5"/>
            <a:ext cx="11131990" cy="896502"/>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MVC </a:t>
            </a:r>
            <a:r>
              <a:rPr lang="es-MX" sz="2400" b="1" dirty="0">
                <a:latin typeface="Encode Sans" panose="020B0604020202020204"/>
                <a:ea typeface="Calibri" panose="020F0502020204030204" pitchFamily="34" charset="0"/>
              </a:rPr>
              <a:t>en Spring </a:t>
            </a:r>
            <a:endParaRPr lang="es-MX" sz="2400" b="1" dirty="0" smtClean="0">
              <a:latin typeface="Encode Sans" panose="020B0604020202020204"/>
              <a:ea typeface="Calibri" panose="020F0502020204030204" pitchFamily="34" charset="0"/>
            </a:endParaRPr>
          </a:p>
          <a:p>
            <a:r>
              <a:rPr lang="es-MX" sz="2400" b="1" dirty="0" err="1" smtClean="0">
                <a:latin typeface="Encode Sans" panose="020B0604020202020204"/>
                <a:ea typeface="Calibri" panose="020F0502020204030204" pitchFamily="34" charset="0"/>
              </a:rPr>
              <a:t>Boot</a:t>
            </a:r>
            <a:r>
              <a:rPr lang="es-MX" sz="2400" b="1" dirty="0" smtClean="0">
                <a:latin typeface="Encode Sans" panose="020B0604020202020204"/>
                <a:ea typeface="Calibri" panose="020F0502020204030204" pitchFamily="34" charset="0"/>
              </a:rPr>
              <a:t> </a:t>
            </a:r>
            <a:r>
              <a:rPr lang="es-MX" sz="2400" b="1" dirty="0">
                <a:latin typeface="Encode Sans" panose="020B0604020202020204"/>
                <a:ea typeface="Calibri" panose="020F0502020204030204" pitchFamily="34" charset="0"/>
              </a:rPr>
              <a:t>con </a:t>
            </a:r>
            <a:r>
              <a:rPr lang="es-MX" sz="2400" b="1" dirty="0" err="1" smtClean="0">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28860" y="1906073"/>
            <a:ext cx="6181725" cy="486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896590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a:solidFill>
                  <a:srgbClr val="FDE23D"/>
                </a:solidFill>
                <a:latin typeface="Encode Sans"/>
                <a:sym typeface="Encode Sans"/>
              </a:rPr>
              <a:t>Módulo 8 - Back </a:t>
            </a:r>
            <a:r>
              <a:rPr lang="es-ES" sz="4000" b="1" kern="0" dirty="0" err="1">
                <a:solidFill>
                  <a:srgbClr val="FDE23D"/>
                </a:solidFill>
                <a:latin typeface="Encode Sans"/>
                <a:sym typeface="Encode Sans"/>
              </a:rPr>
              <a:t>End</a:t>
            </a:r>
            <a:r>
              <a:rPr lang="es-ES" sz="4000" b="1" kern="0" dirty="0">
                <a:solidFill>
                  <a:srgbClr val="FDE23D"/>
                </a:solidFill>
                <a:latin typeface="Encode Sans"/>
                <a:sym typeface="Encode Sans"/>
              </a:rPr>
              <a:t> - 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a16="http://schemas.microsoft.com/office/drawing/2014/main" xmlns="" id="{42586C2D-89D1-4B8A-9675-E07D4898191B}"/>
              </a:ext>
            </a:extLst>
          </p:cNvPr>
          <p:cNvSpPr txBox="1"/>
          <p:nvPr/>
        </p:nvSpPr>
        <p:spPr>
          <a:xfrm>
            <a:off x="1801504" y="2022493"/>
            <a:ext cx="9044687" cy="4784329"/>
          </a:xfrm>
          <a:prstGeom prst="rect">
            <a:avLst/>
          </a:prstGeom>
          <a:noFill/>
          <a:ln>
            <a:noFill/>
          </a:ln>
        </p:spPr>
        <p:txBody>
          <a:bodyPr spcFirstLastPara="1" wrap="square" lIns="121900" tIns="121900" rIns="121900" bIns="121900" anchor="ctr" anchorCtr="0">
            <a:noAutofit/>
          </a:bodyPr>
          <a:lstStyle/>
          <a:p>
            <a:r>
              <a:rPr lang="es-AR" sz="4000" b="1" dirty="0" smtClean="0">
                <a:solidFill>
                  <a:srgbClr val="0070C0"/>
                </a:solidFill>
                <a:latin typeface="Georgia"/>
                <a:ea typeface="Georgia"/>
                <a:cs typeface="Georgia"/>
                <a:sym typeface="Georgia"/>
              </a:rPr>
              <a:t>Spring MVC</a:t>
            </a:r>
          </a:p>
          <a:p>
            <a:r>
              <a:rPr lang="es-AR" sz="4000" b="1" dirty="0" smtClean="0">
                <a:solidFill>
                  <a:srgbClr val="0070C0"/>
                </a:solidFill>
                <a:latin typeface="Georgia"/>
                <a:ea typeface="Georgia"/>
                <a:cs typeface="Georgia"/>
                <a:sym typeface="Georgia"/>
              </a:rPr>
              <a:t>Segunda Parte</a:t>
            </a:r>
            <a:endParaRPr lang="es-ES"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75411186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5"/>
            <a:ext cx="11131990" cy="1751525"/>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a:t>
            </a:r>
            <a:r>
              <a:rPr lang="es-MX" sz="2400" b="1" dirty="0" smtClean="0">
                <a:latin typeface="Encode Sans" panose="020B0604020202020204"/>
                <a:ea typeface="Calibri" panose="020F0502020204030204" pitchFamily="34" charset="0"/>
              </a:rPr>
              <a:t>MVC </a:t>
            </a:r>
            <a:r>
              <a:rPr lang="es-MX" sz="2400" b="1" dirty="0">
                <a:latin typeface="Encode Sans" panose="020B0604020202020204"/>
                <a:ea typeface="Calibri" panose="020F0502020204030204" pitchFamily="34" charset="0"/>
              </a:rPr>
              <a:t>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Abrimos la paleta de comandos con </a:t>
            </a:r>
            <a:r>
              <a:rPr lang="es-ES" dirty="0" err="1" smtClean="0"/>
              <a:t>ctrl+shift+p</a:t>
            </a:r>
            <a:r>
              <a:rPr lang="es-ES" dirty="0" smtClean="0"/>
              <a:t>.</a:t>
            </a:r>
          </a:p>
          <a:p>
            <a:pPr marL="285750" indent="-285750">
              <a:buFont typeface="Arial" pitchFamily="34" charset="0"/>
              <a:buChar char="•"/>
            </a:pPr>
            <a:endParaRPr lang="es-ES" dirty="0"/>
          </a:p>
          <a:p>
            <a:pPr marL="285750" indent="-285750">
              <a:buFont typeface="Arial" pitchFamily="34" charset="0"/>
              <a:buChar char="•"/>
            </a:pPr>
            <a:r>
              <a:rPr lang="es-ES" dirty="0" smtClean="0"/>
              <a:t>Indicamos el siguiente comando dentro de dicha paleta.</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4889" y="3764476"/>
            <a:ext cx="9717132" cy="21019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45593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5"/>
            <a:ext cx="11131990" cy="1751525"/>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Debemos de especificar la versión de nuestro Sprint </a:t>
            </a:r>
            <a:r>
              <a:rPr lang="es-ES" dirty="0" err="1" smtClean="0"/>
              <a:t>Boot</a:t>
            </a:r>
            <a:r>
              <a:rPr lang="es-ES" dirty="0" smtClean="0"/>
              <a:t>.</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4843" y="3538846"/>
            <a:ext cx="6972927" cy="3017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327477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5"/>
            <a:ext cx="11131990" cy="1751525"/>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Debemos de especificar el lenguaje de programación a utilizar en nuestro proyecto, en nuestro caso será Java.</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712" y="3747655"/>
            <a:ext cx="8582759" cy="2071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931815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6"/>
            <a:ext cx="11131990" cy="141901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Debemos de especificar el nombre de nuestra dirección o dominio web para nuestro proyecto.</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1404" y="3325092"/>
            <a:ext cx="8095037" cy="16117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92013" y="4932047"/>
            <a:ext cx="6059509" cy="1570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Flecha derecha"/>
          <p:cNvSpPr/>
          <p:nvPr/>
        </p:nvSpPr>
        <p:spPr>
          <a:xfrm rot="1735653">
            <a:off x="2410691" y="4846174"/>
            <a:ext cx="2042556" cy="5106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566213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6"/>
            <a:ext cx="11131990" cy="1205259"/>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Especificamos el correspondiente nombre de nuestro proyecto.</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3724" y="3111335"/>
            <a:ext cx="5981107" cy="1401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63948" y="4805939"/>
            <a:ext cx="5767557" cy="1607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Flecha derecha"/>
          <p:cNvSpPr/>
          <p:nvPr/>
        </p:nvSpPr>
        <p:spPr>
          <a:xfrm rot="1405322">
            <a:off x="1640660" y="4465067"/>
            <a:ext cx="3296767" cy="5106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6185252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6"/>
            <a:ext cx="11131990" cy="146651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Especificamos el paquete que se utilizara para el tipo de aplicación a realizar, en nuestro caso la aplicación es web por ende se debería e elegir «</a:t>
            </a:r>
            <a:r>
              <a:rPr lang="es-ES" dirty="0" err="1" smtClean="0"/>
              <a:t>War</a:t>
            </a:r>
            <a:r>
              <a:rPr lang="es-ES" dirty="0" smtClean="0"/>
              <a:t>» pero también e la puede realizar de tipo «</a:t>
            </a:r>
            <a:r>
              <a:rPr lang="es-ES" dirty="0" err="1" smtClean="0"/>
              <a:t>Jar</a:t>
            </a:r>
            <a:r>
              <a:rPr lang="es-ES" dirty="0" smtClean="0"/>
              <a:t>» que será la que nosotros elegiremos.</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2053" y="3533595"/>
            <a:ext cx="6286500" cy="154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05726" y="4809506"/>
            <a:ext cx="7374844" cy="1810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Flecha derecha"/>
          <p:cNvSpPr/>
          <p:nvPr/>
        </p:nvSpPr>
        <p:spPr>
          <a:xfrm rot="1405322">
            <a:off x="1522330" y="4944413"/>
            <a:ext cx="3296767" cy="38688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0981199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6"/>
            <a:ext cx="11131990" cy="1205259"/>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Especificamos la versión del Java instalado en nuestro caso será la versión 11.</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1048" y="3105645"/>
            <a:ext cx="4943475" cy="156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93042" y="4417373"/>
            <a:ext cx="6539884" cy="2066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Flecha derecha"/>
          <p:cNvSpPr/>
          <p:nvPr/>
        </p:nvSpPr>
        <p:spPr>
          <a:xfrm rot="1405322">
            <a:off x="1577496" y="4697674"/>
            <a:ext cx="4165631" cy="4112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4749378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7"/>
            <a:ext cx="11131990" cy="144276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Según la intención de nuestra aplicación en esta parte se agregaran los distintos tipos de dependencias que necesitaremos en nuestro proyecto.</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4148" y="3491347"/>
            <a:ext cx="10034603" cy="30117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469720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7"/>
            <a:ext cx="11131990" cy="360620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a:t>En este caso agregaremos las </a:t>
            </a:r>
            <a:r>
              <a:rPr lang="es-ES" dirty="0" smtClean="0"/>
              <a:t>dependencias:</a:t>
            </a:r>
          </a:p>
          <a:p>
            <a:pPr marL="285750" indent="-285750">
              <a:buFont typeface="Arial" pitchFamily="34" charset="0"/>
              <a:buChar char="•"/>
            </a:pPr>
            <a:endParaRPr lang="es-ES" dirty="0" smtClean="0"/>
          </a:p>
          <a:p>
            <a:pPr marL="285750" indent="-285750">
              <a:buFont typeface="Arial" pitchFamily="34" charset="0"/>
              <a:buChar char="•"/>
            </a:pPr>
            <a:r>
              <a:rPr lang="es-AR" b="1" dirty="0" smtClean="0"/>
              <a:t>Spring Web</a:t>
            </a:r>
            <a:r>
              <a:rPr lang="es-ES" dirty="0" smtClean="0"/>
              <a:t>…, para poder generar aplicaciones de tipo web.</a:t>
            </a:r>
          </a:p>
          <a:p>
            <a:endParaRPr lang="es-ES" dirty="0"/>
          </a:p>
          <a:p>
            <a:pPr marL="285750" indent="-285750">
              <a:buFont typeface="Arial" pitchFamily="34" charset="0"/>
              <a:buChar char="•"/>
            </a:pPr>
            <a:r>
              <a:rPr lang="es-AR" b="1" dirty="0" err="1" smtClean="0"/>
              <a:t>Thymeleaf</a:t>
            </a:r>
            <a:r>
              <a:rPr lang="es-AR" b="1" dirty="0" smtClean="0"/>
              <a:t>…, </a:t>
            </a:r>
            <a:r>
              <a:rPr lang="es-AR" dirty="0"/>
              <a:t>es una evolución de nuestro </a:t>
            </a:r>
            <a:endParaRPr lang="es-AR" dirty="0" smtClean="0"/>
          </a:p>
          <a:p>
            <a:r>
              <a:rPr lang="es-AR" dirty="0" smtClean="0"/>
              <a:t>Lenguaje </a:t>
            </a:r>
            <a:r>
              <a:rPr lang="es-AR" b="1" dirty="0" smtClean="0"/>
              <a:t>JSP </a:t>
            </a:r>
            <a:r>
              <a:rPr lang="es-AR" b="1" dirty="0"/>
              <a:t>Java</a:t>
            </a:r>
            <a:r>
              <a:rPr lang="es-ES" dirty="0"/>
              <a:t> con diferentes mejoras y </a:t>
            </a:r>
            <a:endParaRPr lang="es-ES" dirty="0" smtClean="0"/>
          </a:p>
          <a:p>
            <a:r>
              <a:rPr lang="es-ES" dirty="0" smtClean="0"/>
              <a:t>que </a:t>
            </a:r>
            <a:r>
              <a:rPr lang="es-ES" dirty="0"/>
              <a:t>se integra </a:t>
            </a:r>
            <a:r>
              <a:rPr lang="es-ES" dirty="0" smtClean="0"/>
              <a:t>perfectamente </a:t>
            </a:r>
            <a:r>
              <a:rPr lang="es-ES" dirty="0"/>
              <a:t>con Spring. </a:t>
            </a:r>
            <a:endParaRPr lang="es-ES" dirty="0" smtClean="0"/>
          </a:p>
          <a:p>
            <a:endParaRPr lang="es-ES" dirty="0"/>
          </a:p>
          <a:p>
            <a:pPr marL="285750" lvl="1" indent="-285750">
              <a:buFont typeface="Arial" pitchFamily="34" charset="0"/>
              <a:buChar char="•"/>
            </a:pPr>
            <a:r>
              <a:rPr lang="es-AR" b="1" dirty="0"/>
              <a:t>Spring </a:t>
            </a:r>
            <a:r>
              <a:rPr lang="es-AR" b="1" dirty="0" err="1"/>
              <a:t>Boot</a:t>
            </a:r>
            <a:r>
              <a:rPr lang="es-AR" b="1" dirty="0"/>
              <a:t> </a:t>
            </a:r>
            <a:r>
              <a:rPr lang="es-AR" b="1" dirty="0" err="1" smtClean="0"/>
              <a:t>DevTools</a:t>
            </a:r>
            <a:endParaRPr lang="es-ES" dirty="0"/>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6512" y="3827934"/>
            <a:ext cx="6625149" cy="2727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390239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7"/>
            <a:ext cx="11131990" cy="1407139"/>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Finalizado el proceso de generación procedemos a abrir el mismo presionando el botón de Abrir, ubicado en el margen inferior derecha de nuestro </a:t>
            </a:r>
            <a:r>
              <a:rPr lang="es-ES" dirty="0" err="1" smtClean="0"/>
              <a:t>VSCode</a:t>
            </a:r>
            <a:r>
              <a:rPr lang="es-ES" dirty="0" smtClean="0"/>
              <a:t>.</a:t>
            </a:r>
          </a:p>
          <a:p>
            <a:endParaRPr lang="es-ES" dirty="0"/>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501" y="3308137"/>
            <a:ext cx="5509162" cy="2736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Flecha derecha"/>
          <p:cNvSpPr/>
          <p:nvPr/>
        </p:nvSpPr>
        <p:spPr>
          <a:xfrm rot="1547129">
            <a:off x="2306464" y="4409511"/>
            <a:ext cx="3087584" cy="4248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pic>
        <p:nvPicPr>
          <p:cNvPr id="409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16444" y="2895735"/>
            <a:ext cx="3667496" cy="38639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8 Flecha derecha"/>
          <p:cNvSpPr/>
          <p:nvPr/>
        </p:nvSpPr>
        <p:spPr>
          <a:xfrm rot="20636814">
            <a:off x="5943634" y="4929903"/>
            <a:ext cx="2706833" cy="4248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4316060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777169"/>
            <a:ext cx="11475522" cy="2862322"/>
          </a:xfrm>
          <a:prstGeom prst="rect">
            <a:avLst/>
          </a:prstGeom>
        </p:spPr>
        <p:txBody>
          <a:bodyPr wrap="square">
            <a:spAutoFit/>
          </a:bodyPr>
          <a:lstStyle/>
          <a:p>
            <a:pPr marL="285750" indent="-285750">
              <a:buFont typeface="Arial" pitchFamily="34" charset="0"/>
              <a:buChar char="•"/>
            </a:pPr>
            <a:r>
              <a:rPr lang="es-ES" dirty="0" smtClean="0"/>
              <a:t>Procedemos a crear un archivo index.html dentro de nuestro directorio </a:t>
            </a:r>
            <a:r>
              <a:rPr lang="es-ES" dirty="0" err="1" smtClean="0"/>
              <a:t>static</a:t>
            </a:r>
            <a:r>
              <a:rPr lang="es-ES" dirty="0" smtClean="0"/>
              <a:t> que se encuentra dentro de </a:t>
            </a:r>
            <a:r>
              <a:rPr lang="es-ES" dirty="0" err="1" smtClean="0"/>
              <a:t>src</a:t>
            </a:r>
            <a:r>
              <a:rPr lang="es-ES" dirty="0" smtClean="0"/>
              <a:t>-&gt;</a:t>
            </a:r>
            <a:r>
              <a:rPr lang="es-ES" dirty="0" err="1" smtClean="0"/>
              <a:t>main</a:t>
            </a:r>
            <a:r>
              <a:rPr lang="es-ES" dirty="0" smtClean="0"/>
              <a:t>.</a:t>
            </a:r>
          </a:p>
          <a:p>
            <a:pPr marL="285750" indent="-285750">
              <a:buFont typeface="Arial" pitchFamily="34" charset="0"/>
              <a:buChar char="•"/>
            </a:pPr>
            <a:endParaRPr lang="es-ES" dirty="0"/>
          </a:p>
          <a:p>
            <a:pPr marL="285750" indent="-285750">
              <a:buFont typeface="Arial" pitchFamily="34" charset="0"/>
              <a:buChar char="•"/>
            </a:pPr>
            <a:r>
              <a:rPr lang="es-ES" dirty="0" smtClean="0"/>
              <a:t>Dentro de nuestro archivo index.html </a:t>
            </a:r>
          </a:p>
          <a:p>
            <a:r>
              <a:rPr lang="es-ES" dirty="0" smtClean="0"/>
              <a:t>redactaremos el siguiente código.</a:t>
            </a:r>
          </a:p>
          <a:p>
            <a:endParaRPr lang="es-ES" dirty="0"/>
          </a:p>
          <a:p>
            <a:pPr marL="285750" indent="-285750">
              <a:buFont typeface="Arial" pitchFamily="34" charset="0"/>
              <a:buChar char="•"/>
            </a:pPr>
            <a:r>
              <a:rPr lang="es-ES" dirty="0" smtClean="0"/>
              <a:t>Agregamos un código </a:t>
            </a:r>
            <a:r>
              <a:rPr lang="es-ES" dirty="0" err="1" smtClean="0"/>
              <a:t>html</a:t>
            </a:r>
            <a:r>
              <a:rPr lang="es-ES" dirty="0" smtClean="0"/>
              <a:t> dentro de</a:t>
            </a:r>
          </a:p>
          <a:p>
            <a:r>
              <a:rPr lang="es-ES" dirty="0" smtClean="0"/>
              <a:t>nuestro </a:t>
            </a:r>
            <a:r>
              <a:rPr lang="es-ES" dirty="0" err="1" smtClean="0"/>
              <a:t>index.tml</a:t>
            </a:r>
            <a:r>
              <a:rPr lang="es-ES" dirty="0" smtClean="0"/>
              <a:t> y lo hacemos </a:t>
            </a:r>
          </a:p>
          <a:p>
            <a:r>
              <a:rPr lang="es-ES" dirty="0" smtClean="0"/>
              <a:t>presionando </a:t>
            </a:r>
            <a:r>
              <a:rPr lang="es-ES" dirty="0" err="1" smtClean="0"/>
              <a:t>ctrl</a:t>
            </a:r>
            <a:r>
              <a:rPr lang="es-ES" dirty="0" smtClean="0"/>
              <a:t> + barra espacio y del</a:t>
            </a:r>
          </a:p>
          <a:p>
            <a:r>
              <a:rPr lang="es-ES" dirty="0"/>
              <a:t>m</a:t>
            </a:r>
            <a:r>
              <a:rPr lang="es-ES" dirty="0" smtClean="0"/>
              <a:t>enú seleccionaremos </a:t>
            </a:r>
            <a:r>
              <a:rPr lang="es-ES" dirty="0" err="1" smtClean="0"/>
              <a:t>html</a:t>
            </a:r>
            <a:endParaRPr lang="es-ES" dirty="0" smtClean="0"/>
          </a:p>
        </p:txBody>
      </p:sp>
      <p:pic>
        <p:nvPicPr>
          <p:cNvPr id="2150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55467" y="3264476"/>
            <a:ext cx="2655021" cy="3338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3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79216" y="3264476"/>
            <a:ext cx="5501410" cy="26738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10 Flecha derecha"/>
          <p:cNvSpPr/>
          <p:nvPr/>
        </p:nvSpPr>
        <p:spPr>
          <a:xfrm rot="20171498">
            <a:off x="6316366" y="4983167"/>
            <a:ext cx="3104565" cy="3430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5940704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777169"/>
            <a:ext cx="11475522" cy="1200329"/>
          </a:xfrm>
          <a:prstGeom prst="rect">
            <a:avLst/>
          </a:prstGeom>
        </p:spPr>
        <p:txBody>
          <a:bodyPr wrap="square">
            <a:spAutoFit/>
          </a:bodyPr>
          <a:lstStyle/>
          <a:p>
            <a:pPr marL="285750" indent="-285750">
              <a:buFont typeface="Arial" pitchFamily="34" charset="0"/>
              <a:buChar char="•"/>
            </a:pPr>
            <a:r>
              <a:rPr lang="es-ES" dirty="0" smtClean="0"/>
              <a:t>Agregamos a nuestro index.html un encabezado h1 con un mensaje de bienvenida.</a:t>
            </a:r>
          </a:p>
          <a:p>
            <a:pPr marL="285750" indent="-285750">
              <a:buFont typeface="Arial" pitchFamily="34" charset="0"/>
              <a:buChar char="•"/>
            </a:pPr>
            <a:endParaRPr lang="es-ES" dirty="0" smtClean="0"/>
          </a:p>
          <a:p>
            <a:pPr marL="285750" indent="-285750">
              <a:buFont typeface="Arial" pitchFamily="34" charset="0"/>
              <a:buChar char="•"/>
            </a:pPr>
            <a:r>
              <a:rPr lang="es-ES" dirty="0" smtClean="0"/>
              <a:t>Guardamos el cambio y volvemos a poner en funcionamiento nuestro servidor, logrando así cambiar nuestro mensaje de error por el mensaje que se encuentra dentro de nuestro archivo </a:t>
            </a:r>
            <a:r>
              <a:rPr lang="es-ES" dirty="0" err="1" smtClean="0"/>
              <a:t>index.tml</a:t>
            </a:r>
            <a:r>
              <a:rPr lang="es-ES" dirty="0" smtClean="0"/>
              <a:t>.</a:t>
            </a:r>
          </a:p>
        </p:txBody>
      </p:sp>
      <p:pic>
        <p:nvPicPr>
          <p:cNvPr id="1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4176" y="4212520"/>
            <a:ext cx="4942665" cy="18438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10 Flecha derecha"/>
          <p:cNvSpPr/>
          <p:nvPr/>
        </p:nvSpPr>
        <p:spPr>
          <a:xfrm rot="588393">
            <a:off x="3971231" y="5703167"/>
            <a:ext cx="1697817" cy="3430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25898" y="4382464"/>
            <a:ext cx="5234915" cy="2357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087870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777169"/>
            <a:ext cx="11475522" cy="3970318"/>
          </a:xfrm>
          <a:prstGeom prst="rect">
            <a:avLst/>
          </a:prstGeom>
        </p:spPr>
        <p:txBody>
          <a:bodyPr wrap="square">
            <a:spAutoFit/>
          </a:bodyPr>
          <a:lstStyle/>
          <a:p>
            <a:pPr marL="285750" indent="-285750">
              <a:buFont typeface="Arial" pitchFamily="34" charset="0"/>
              <a:buChar char="•"/>
            </a:pPr>
            <a:r>
              <a:rPr lang="es-ES" dirty="0" smtClean="0"/>
              <a:t>Código index.html</a:t>
            </a:r>
          </a:p>
          <a:p>
            <a:endParaRPr lang="es-ES" dirty="0"/>
          </a:p>
          <a:p>
            <a:r>
              <a:rPr lang="es-AR" dirty="0"/>
              <a:t>&lt;!DOCTYPE </a:t>
            </a:r>
            <a:r>
              <a:rPr lang="es-AR" dirty="0" err="1"/>
              <a:t>html</a:t>
            </a:r>
            <a:r>
              <a:rPr lang="es-AR" dirty="0"/>
              <a:t>&gt;</a:t>
            </a:r>
          </a:p>
          <a:p>
            <a:r>
              <a:rPr lang="es-AR" dirty="0"/>
              <a:t>&lt;</a:t>
            </a:r>
            <a:r>
              <a:rPr lang="es-AR" dirty="0" err="1"/>
              <a:t>html</a:t>
            </a:r>
            <a:r>
              <a:rPr lang="es-AR" dirty="0" smtClean="0"/>
              <a:t>&gt;&lt;</a:t>
            </a:r>
            <a:r>
              <a:rPr lang="es-AR" dirty="0"/>
              <a:t>head&gt;</a:t>
            </a:r>
          </a:p>
          <a:p>
            <a:r>
              <a:rPr lang="es-AR" dirty="0"/>
              <a:t>    &lt;meta </a:t>
            </a:r>
            <a:r>
              <a:rPr lang="es-AR" dirty="0" err="1"/>
              <a:t>charset</a:t>
            </a:r>
            <a:r>
              <a:rPr lang="es-AR" dirty="0"/>
              <a:t>='utf-8'&gt;</a:t>
            </a:r>
          </a:p>
          <a:p>
            <a:r>
              <a:rPr lang="es-AR" dirty="0"/>
              <a:t>    &lt;meta http-</a:t>
            </a:r>
            <a:r>
              <a:rPr lang="es-AR" dirty="0" err="1"/>
              <a:t>equiv</a:t>
            </a:r>
            <a:r>
              <a:rPr lang="es-AR" dirty="0"/>
              <a:t>='X-UA-Compatible' </a:t>
            </a:r>
            <a:r>
              <a:rPr lang="es-AR" dirty="0" err="1"/>
              <a:t>content</a:t>
            </a:r>
            <a:r>
              <a:rPr lang="es-AR" dirty="0"/>
              <a:t>='IE=</a:t>
            </a:r>
            <a:r>
              <a:rPr lang="es-AR" dirty="0" err="1"/>
              <a:t>edge</a:t>
            </a:r>
            <a:r>
              <a:rPr lang="es-AR" dirty="0"/>
              <a:t>'&gt;</a:t>
            </a:r>
          </a:p>
          <a:p>
            <a:r>
              <a:rPr lang="es-AR" dirty="0"/>
              <a:t>    &lt;</a:t>
            </a:r>
            <a:r>
              <a:rPr lang="es-AR" dirty="0" err="1" smtClean="0"/>
              <a:t>title</a:t>
            </a:r>
            <a:r>
              <a:rPr lang="es-AR" dirty="0" smtClean="0"/>
              <a:t>&gt;MVC </a:t>
            </a:r>
            <a:r>
              <a:rPr lang="es-AR" dirty="0" err="1" smtClean="0"/>
              <a:t>SpringBoot</a:t>
            </a:r>
            <a:r>
              <a:rPr lang="es-AR" dirty="0" smtClean="0"/>
              <a:t>&lt;/</a:t>
            </a:r>
            <a:r>
              <a:rPr lang="es-AR" dirty="0" err="1"/>
              <a:t>title</a:t>
            </a:r>
            <a:r>
              <a:rPr lang="es-AR" dirty="0"/>
              <a:t>&gt;</a:t>
            </a:r>
          </a:p>
          <a:p>
            <a:r>
              <a:rPr lang="es-AR" dirty="0"/>
              <a:t>    &lt;meta </a:t>
            </a:r>
            <a:r>
              <a:rPr lang="es-AR" dirty="0" err="1"/>
              <a:t>name</a:t>
            </a:r>
            <a:r>
              <a:rPr lang="es-AR" dirty="0"/>
              <a:t>='</a:t>
            </a:r>
            <a:r>
              <a:rPr lang="es-AR" dirty="0" err="1"/>
              <a:t>viewport</a:t>
            </a:r>
            <a:r>
              <a:rPr lang="es-AR" dirty="0"/>
              <a:t>' </a:t>
            </a:r>
            <a:r>
              <a:rPr lang="es-AR" dirty="0" err="1"/>
              <a:t>content</a:t>
            </a:r>
            <a:r>
              <a:rPr lang="es-AR" dirty="0"/>
              <a:t>='</a:t>
            </a:r>
            <a:r>
              <a:rPr lang="es-AR" dirty="0" err="1"/>
              <a:t>width</a:t>
            </a:r>
            <a:r>
              <a:rPr lang="es-AR" dirty="0"/>
              <a:t>=</a:t>
            </a:r>
            <a:r>
              <a:rPr lang="es-AR" dirty="0" err="1"/>
              <a:t>device-width</a:t>
            </a:r>
            <a:r>
              <a:rPr lang="es-AR" dirty="0"/>
              <a:t>, </a:t>
            </a:r>
            <a:r>
              <a:rPr lang="es-AR" dirty="0" err="1"/>
              <a:t>initial-scale</a:t>
            </a:r>
            <a:r>
              <a:rPr lang="es-AR" dirty="0"/>
              <a:t>=1'&gt;</a:t>
            </a:r>
          </a:p>
          <a:p>
            <a:r>
              <a:rPr lang="es-AR" dirty="0"/>
              <a:t>    &lt;link </a:t>
            </a:r>
            <a:r>
              <a:rPr lang="es-AR" dirty="0" err="1"/>
              <a:t>rel</a:t>
            </a:r>
            <a:r>
              <a:rPr lang="es-AR" dirty="0"/>
              <a:t>='</a:t>
            </a:r>
            <a:r>
              <a:rPr lang="es-AR" dirty="0" err="1"/>
              <a:t>stylesheet</a:t>
            </a:r>
            <a:r>
              <a:rPr lang="es-AR" dirty="0"/>
              <a:t>' </a:t>
            </a:r>
            <a:r>
              <a:rPr lang="es-AR" dirty="0" err="1"/>
              <a:t>type</a:t>
            </a:r>
            <a:r>
              <a:rPr lang="es-AR" dirty="0"/>
              <a:t>='</a:t>
            </a:r>
            <a:r>
              <a:rPr lang="es-AR" dirty="0" err="1"/>
              <a:t>text</a:t>
            </a:r>
            <a:r>
              <a:rPr lang="es-AR" dirty="0"/>
              <a:t>/</a:t>
            </a:r>
            <a:r>
              <a:rPr lang="es-AR" dirty="0" err="1"/>
              <a:t>css</a:t>
            </a:r>
            <a:r>
              <a:rPr lang="es-AR" dirty="0"/>
              <a:t>' media='</a:t>
            </a:r>
            <a:r>
              <a:rPr lang="es-AR" dirty="0" err="1"/>
              <a:t>screen</a:t>
            </a:r>
            <a:r>
              <a:rPr lang="es-AR" dirty="0"/>
              <a:t>' </a:t>
            </a:r>
            <a:r>
              <a:rPr lang="es-AR" dirty="0" err="1"/>
              <a:t>href</a:t>
            </a:r>
            <a:r>
              <a:rPr lang="es-AR" dirty="0"/>
              <a:t>='main.css'&gt;</a:t>
            </a:r>
          </a:p>
          <a:p>
            <a:r>
              <a:rPr lang="es-AR" dirty="0"/>
              <a:t>    &lt;script </a:t>
            </a:r>
            <a:r>
              <a:rPr lang="es-AR" dirty="0" err="1"/>
              <a:t>src</a:t>
            </a:r>
            <a:r>
              <a:rPr lang="es-AR" dirty="0"/>
              <a:t>='main.js'&gt;&lt;/script&gt;</a:t>
            </a:r>
          </a:p>
          <a:p>
            <a:r>
              <a:rPr lang="es-AR" dirty="0"/>
              <a:t>&lt;/head&gt;</a:t>
            </a:r>
          </a:p>
          <a:p>
            <a:r>
              <a:rPr lang="es-AR" dirty="0"/>
              <a:t>&lt;</a:t>
            </a:r>
            <a:r>
              <a:rPr lang="es-AR" dirty="0" err="1"/>
              <a:t>body</a:t>
            </a:r>
            <a:r>
              <a:rPr lang="es-AR" dirty="0"/>
              <a:t>&gt;</a:t>
            </a:r>
          </a:p>
          <a:p>
            <a:r>
              <a:rPr lang="es-AR" dirty="0"/>
              <a:t>    </a:t>
            </a:r>
            <a:r>
              <a:rPr lang="es-AR" dirty="0" smtClean="0"/>
              <a:t>&lt;h1&gt;&lt;MVC </a:t>
            </a:r>
            <a:r>
              <a:rPr lang="es-AR" dirty="0"/>
              <a:t>con </a:t>
            </a:r>
            <a:r>
              <a:rPr lang="es-AR" dirty="0" err="1" smtClean="0"/>
              <a:t>SpringBoot</a:t>
            </a:r>
            <a:r>
              <a:rPr lang="es-AR" dirty="0" smtClean="0"/>
              <a:t>&lt;/</a:t>
            </a:r>
            <a:r>
              <a:rPr lang="es-AR" dirty="0"/>
              <a:t>h1&gt;</a:t>
            </a:r>
          </a:p>
          <a:p>
            <a:r>
              <a:rPr lang="es-AR" dirty="0"/>
              <a:t>&lt;/</a:t>
            </a:r>
            <a:r>
              <a:rPr lang="es-AR" dirty="0" err="1"/>
              <a:t>body</a:t>
            </a:r>
            <a:r>
              <a:rPr lang="es-AR" dirty="0" smtClean="0"/>
              <a:t>&gt;&lt;/</a:t>
            </a:r>
            <a:r>
              <a:rPr lang="es-AR" dirty="0" err="1"/>
              <a:t>html</a:t>
            </a:r>
            <a:r>
              <a:rPr lang="es-AR" dirty="0" smtClean="0"/>
              <a:t>&gt;</a:t>
            </a:r>
            <a:endParaRPr lang="es-AR" dirty="0"/>
          </a:p>
        </p:txBody>
      </p:sp>
    </p:spTree>
    <p:extLst>
      <p:ext uri="{BB962C8B-B14F-4D97-AF65-F5344CB8AC3E}">
        <p14:creationId xmlns:p14="http://schemas.microsoft.com/office/powerpoint/2010/main" val="11636456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a:solidFill>
                  <a:srgbClr val="FDE23D"/>
                </a:solidFill>
                <a:latin typeface="Encode Sans"/>
                <a:sym typeface="Encode Sans"/>
              </a:rPr>
              <a:t>Módulo 8 - Back </a:t>
            </a:r>
            <a:r>
              <a:rPr lang="es-ES" sz="4000" b="1" kern="0" dirty="0" err="1">
                <a:solidFill>
                  <a:srgbClr val="FDE23D"/>
                </a:solidFill>
                <a:latin typeface="Encode Sans"/>
                <a:sym typeface="Encode Sans"/>
              </a:rPr>
              <a:t>End</a:t>
            </a:r>
            <a:r>
              <a:rPr lang="es-ES" sz="4000" b="1" kern="0" dirty="0">
                <a:solidFill>
                  <a:srgbClr val="FDE23D"/>
                </a:solidFill>
                <a:latin typeface="Encode Sans"/>
                <a:sym typeface="Encode Sans"/>
              </a:rPr>
              <a:t> - 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a16="http://schemas.microsoft.com/office/drawing/2014/main" xmlns="" id="{42586C2D-89D1-4B8A-9675-E07D4898191B}"/>
              </a:ext>
            </a:extLst>
          </p:cNvPr>
          <p:cNvSpPr txBox="1"/>
          <p:nvPr/>
        </p:nvSpPr>
        <p:spPr>
          <a:xfrm>
            <a:off x="1801504" y="2022493"/>
            <a:ext cx="9044687" cy="4784329"/>
          </a:xfrm>
          <a:prstGeom prst="rect">
            <a:avLst/>
          </a:prstGeom>
          <a:noFill/>
          <a:ln>
            <a:noFill/>
          </a:ln>
        </p:spPr>
        <p:txBody>
          <a:bodyPr spcFirstLastPara="1" wrap="square" lIns="121900" tIns="121900" rIns="121900" bIns="121900" anchor="ctr" anchorCtr="0">
            <a:noAutofit/>
          </a:bodyPr>
          <a:lstStyle/>
          <a:p>
            <a:r>
              <a:rPr lang="es-AR" sz="4000" b="1" dirty="0">
                <a:solidFill>
                  <a:srgbClr val="0070C0"/>
                </a:solidFill>
                <a:latin typeface="Georgia"/>
                <a:ea typeface="Georgia"/>
                <a:cs typeface="Georgia"/>
                <a:sym typeface="Georgia"/>
              </a:rPr>
              <a:t>Spring MVC</a:t>
            </a:r>
          </a:p>
          <a:p>
            <a:r>
              <a:rPr lang="es-AR" sz="4000" b="1" dirty="0" smtClean="0">
                <a:solidFill>
                  <a:srgbClr val="0070C0"/>
                </a:solidFill>
                <a:latin typeface="Georgia"/>
                <a:ea typeface="Georgia"/>
                <a:cs typeface="Georgia"/>
                <a:sym typeface="Georgia"/>
              </a:rPr>
              <a:t>Tercera Parte</a:t>
            </a:r>
            <a:endParaRPr lang="es-ES"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240134372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777169"/>
            <a:ext cx="11475522" cy="1200329"/>
          </a:xfrm>
          <a:prstGeom prst="rect">
            <a:avLst/>
          </a:prstGeom>
        </p:spPr>
        <p:txBody>
          <a:bodyPr wrap="square">
            <a:spAutoFit/>
          </a:bodyPr>
          <a:lstStyle/>
          <a:p>
            <a:pPr marL="285750" indent="-285750">
              <a:buFont typeface="Arial" pitchFamily="34" charset="0"/>
              <a:buChar char="•"/>
            </a:pPr>
            <a:r>
              <a:rPr lang="es-ES" dirty="0" smtClean="0"/>
              <a:t>A continuación generamos una clase que se utilizara como nuestro objeto de modelado o negocio a la que llamaremos Persona.java.</a:t>
            </a:r>
          </a:p>
          <a:p>
            <a:pPr marL="285750" indent="-285750">
              <a:buFont typeface="Arial" pitchFamily="34" charset="0"/>
              <a:buChar char="•"/>
            </a:pPr>
            <a:endParaRPr lang="es-ES" dirty="0"/>
          </a:p>
          <a:p>
            <a:pPr marL="285750" indent="-285750">
              <a:buFont typeface="Arial" pitchFamily="34" charset="0"/>
              <a:buChar char="•"/>
            </a:pPr>
            <a:r>
              <a:rPr lang="es-ES" dirty="0" smtClean="0"/>
              <a:t>La misma se la creara dentro de un paquete o contenedor llamado </a:t>
            </a:r>
            <a:r>
              <a:rPr lang="es-ES" dirty="0" err="1" smtClean="0"/>
              <a:t>model</a:t>
            </a:r>
            <a:r>
              <a:rPr lang="es-ES" dirty="0" smtClean="0"/>
              <a:t>.</a:t>
            </a:r>
          </a:p>
        </p:txBody>
      </p:sp>
      <p:pic>
        <p:nvPicPr>
          <p:cNvPr id="205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8102" y="4086906"/>
            <a:ext cx="4348983" cy="2662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914268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777169"/>
            <a:ext cx="11475522" cy="3970318"/>
          </a:xfrm>
          <a:prstGeom prst="rect">
            <a:avLst/>
          </a:prstGeom>
        </p:spPr>
        <p:txBody>
          <a:bodyPr wrap="square">
            <a:spAutoFit/>
          </a:bodyPr>
          <a:lstStyle/>
          <a:p>
            <a:pPr marL="285750" indent="-285750">
              <a:buFont typeface="Arial" pitchFamily="34" charset="0"/>
              <a:buChar char="•"/>
            </a:pPr>
            <a:r>
              <a:rPr lang="es-ES" dirty="0" smtClean="0"/>
              <a:t>La definición de la clase persona es la siguiente:</a:t>
            </a:r>
          </a:p>
          <a:p>
            <a:pPr marL="285750" indent="-285750">
              <a:buFont typeface="Arial" pitchFamily="34" charset="0"/>
              <a:buChar char="•"/>
            </a:pPr>
            <a:endParaRPr lang="es-ES" dirty="0" smtClean="0"/>
          </a:p>
          <a:p>
            <a:r>
              <a:rPr lang="es-AR" dirty="0" err="1"/>
              <a:t>public</a:t>
            </a:r>
            <a:r>
              <a:rPr lang="es-AR" dirty="0"/>
              <a:t> </a:t>
            </a:r>
            <a:r>
              <a:rPr lang="es-AR" dirty="0" err="1"/>
              <a:t>class</a:t>
            </a:r>
            <a:r>
              <a:rPr lang="es-AR" dirty="0"/>
              <a:t> </a:t>
            </a:r>
            <a:r>
              <a:rPr lang="es-AR" dirty="0" smtClean="0"/>
              <a:t>Persona </a:t>
            </a:r>
            <a:r>
              <a:rPr lang="es-AR" dirty="0"/>
              <a:t>{</a:t>
            </a:r>
          </a:p>
          <a:p>
            <a:r>
              <a:rPr lang="es-AR" dirty="0"/>
              <a:t>   </a:t>
            </a:r>
            <a:r>
              <a:rPr lang="es-AR" dirty="0" smtClean="0"/>
              <a:t> </a:t>
            </a:r>
            <a:r>
              <a:rPr lang="es-AR" dirty="0" err="1"/>
              <a:t>private</a:t>
            </a:r>
            <a:r>
              <a:rPr lang="es-AR" dirty="0"/>
              <a:t> </a:t>
            </a:r>
            <a:r>
              <a:rPr lang="es-AR" dirty="0" err="1"/>
              <a:t>String</a:t>
            </a:r>
            <a:r>
              <a:rPr lang="es-AR" dirty="0"/>
              <a:t> nombre;</a:t>
            </a:r>
          </a:p>
          <a:p>
            <a:r>
              <a:rPr lang="es-AR" dirty="0"/>
              <a:t>    </a:t>
            </a:r>
            <a:r>
              <a:rPr lang="es-AR" dirty="0" err="1"/>
              <a:t>private</a:t>
            </a:r>
            <a:r>
              <a:rPr lang="es-AR" dirty="0"/>
              <a:t> </a:t>
            </a:r>
            <a:r>
              <a:rPr lang="es-AR" dirty="0" err="1"/>
              <a:t>String</a:t>
            </a:r>
            <a:r>
              <a:rPr lang="es-AR" dirty="0"/>
              <a:t> apellido;</a:t>
            </a:r>
          </a:p>
          <a:p>
            <a:r>
              <a:rPr lang="es-AR" dirty="0"/>
              <a:t>   </a:t>
            </a:r>
            <a:r>
              <a:rPr lang="es-AR" dirty="0" smtClean="0"/>
              <a:t> </a:t>
            </a:r>
            <a:r>
              <a:rPr lang="es-AR" dirty="0" err="1"/>
              <a:t>private</a:t>
            </a:r>
            <a:r>
              <a:rPr lang="es-AR" dirty="0"/>
              <a:t> </a:t>
            </a:r>
            <a:r>
              <a:rPr lang="es-AR" dirty="0" err="1"/>
              <a:t>int</a:t>
            </a:r>
            <a:r>
              <a:rPr lang="es-AR" dirty="0"/>
              <a:t> edad;</a:t>
            </a:r>
          </a:p>
          <a:p>
            <a:r>
              <a:rPr lang="es-AR" dirty="0"/>
              <a:t/>
            </a:r>
            <a:br>
              <a:rPr lang="es-AR" dirty="0"/>
            </a:br>
            <a:r>
              <a:rPr lang="es-AR" dirty="0"/>
              <a:t>    </a:t>
            </a:r>
            <a:r>
              <a:rPr lang="es-AR" dirty="0" err="1"/>
              <a:t>public</a:t>
            </a:r>
            <a:r>
              <a:rPr lang="es-AR" dirty="0"/>
              <a:t> </a:t>
            </a:r>
            <a:r>
              <a:rPr lang="es-AR" dirty="0" err="1"/>
              <a:t>String</a:t>
            </a:r>
            <a:r>
              <a:rPr lang="es-AR" dirty="0"/>
              <a:t> </a:t>
            </a:r>
            <a:r>
              <a:rPr lang="es-AR" dirty="0" err="1"/>
              <a:t>getApellido</a:t>
            </a:r>
            <a:r>
              <a:rPr lang="es-AR" dirty="0"/>
              <a:t>() {</a:t>
            </a:r>
          </a:p>
          <a:p>
            <a:r>
              <a:rPr lang="es-AR" dirty="0"/>
              <a:t>        </a:t>
            </a:r>
            <a:r>
              <a:rPr lang="es-AR" dirty="0" err="1"/>
              <a:t>return</a:t>
            </a:r>
            <a:r>
              <a:rPr lang="es-AR" dirty="0"/>
              <a:t> </a:t>
            </a:r>
            <a:r>
              <a:rPr lang="es-AR" dirty="0" err="1"/>
              <a:t>this.apellido</a:t>
            </a:r>
            <a:r>
              <a:rPr lang="es-AR" dirty="0"/>
              <a:t>;</a:t>
            </a:r>
          </a:p>
          <a:p>
            <a:r>
              <a:rPr lang="es-AR" dirty="0"/>
              <a:t>    }</a:t>
            </a:r>
          </a:p>
          <a:p>
            <a:r>
              <a:rPr lang="es-AR" dirty="0"/>
              <a:t/>
            </a:r>
            <a:br>
              <a:rPr lang="es-AR" dirty="0"/>
            </a:br>
            <a:r>
              <a:rPr lang="es-AR" dirty="0"/>
              <a:t>    </a:t>
            </a:r>
            <a:r>
              <a:rPr lang="es-AR" dirty="0" err="1"/>
              <a:t>public</a:t>
            </a:r>
            <a:r>
              <a:rPr lang="es-AR" dirty="0"/>
              <a:t> </a:t>
            </a:r>
            <a:r>
              <a:rPr lang="es-AR" dirty="0" err="1"/>
              <a:t>void</a:t>
            </a:r>
            <a:r>
              <a:rPr lang="es-AR" dirty="0"/>
              <a:t> </a:t>
            </a:r>
            <a:r>
              <a:rPr lang="es-AR" dirty="0" err="1"/>
              <a:t>setApellido</a:t>
            </a:r>
            <a:r>
              <a:rPr lang="es-AR" dirty="0"/>
              <a:t>(</a:t>
            </a:r>
            <a:r>
              <a:rPr lang="es-AR" dirty="0" err="1"/>
              <a:t>String</a:t>
            </a:r>
            <a:r>
              <a:rPr lang="es-AR" dirty="0"/>
              <a:t> apellido) {</a:t>
            </a:r>
          </a:p>
          <a:p>
            <a:r>
              <a:rPr lang="es-AR" dirty="0"/>
              <a:t>        </a:t>
            </a:r>
            <a:r>
              <a:rPr lang="es-AR" dirty="0" err="1"/>
              <a:t>this.apellido</a:t>
            </a:r>
            <a:r>
              <a:rPr lang="es-AR" dirty="0"/>
              <a:t> = apellido;</a:t>
            </a:r>
          </a:p>
          <a:p>
            <a:r>
              <a:rPr lang="es-AR" dirty="0"/>
              <a:t>    </a:t>
            </a:r>
            <a:r>
              <a:rPr lang="es-AR" dirty="0" smtClean="0"/>
              <a:t>}</a:t>
            </a:r>
            <a:endParaRPr lang="es-AR" dirty="0"/>
          </a:p>
        </p:txBody>
      </p:sp>
    </p:spTree>
    <p:extLst>
      <p:ext uri="{BB962C8B-B14F-4D97-AF65-F5344CB8AC3E}">
        <p14:creationId xmlns:p14="http://schemas.microsoft.com/office/powerpoint/2010/main" val="10557146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4247317"/>
          </a:xfrm>
          <a:prstGeom prst="rect">
            <a:avLst/>
          </a:prstGeom>
        </p:spPr>
        <p:txBody>
          <a:bodyPr wrap="square">
            <a:spAutoFit/>
          </a:bodyPr>
          <a:lstStyle/>
          <a:p>
            <a:r>
              <a:rPr lang="es-AR" dirty="0" err="1"/>
              <a:t>public</a:t>
            </a:r>
            <a:r>
              <a:rPr lang="es-AR" dirty="0"/>
              <a:t> </a:t>
            </a:r>
            <a:r>
              <a:rPr lang="es-AR" dirty="0" err="1"/>
              <a:t>String</a:t>
            </a:r>
            <a:r>
              <a:rPr lang="es-AR" dirty="0"/>
              <a:t> </a:t>
            </a:r>
            <a:r>
              <a:rPr lang="es-AR" dirty="0" err="1"/>
              <a:t>getNombre</a:t>
            </a:r>
            <a:r>
              <a:rPr lang="es-AR" dirty="0"/>
              <a:t>() {</a:t>
            </a:r>
          </a:p>
          <a:p>
            <a:r>
              <a:rPr lang="es-AR" dirty="0"/>
              <a:t>        </a:t>
            </a:r>
            <a:r>
              <a:rPr lang="es-AR" dirty="0" err="1"/>
              <a:t>return</a:t>
            </a:r>
            <a:r>
              <a:rPr lang="es-AR" dirty="0"/>
              <a:t> </a:t>
            </a:r>
            <a:r>
              <a:rPr lang="es-AR" dirty="0" err="1"/>
              <a:t>this.nombre</a:t>
            </a:r>
            <a:r>
              <a:rPr lang="es-AR" dirty="0"/>
              <a:t>;</a:t>
            </a:r>
          </a:p>
          <a:p>
            <a:r>
              <a:rPr lang="es-AR" dirty="0"/>
              <a:t>    }</a:t>
            </a:r>
          </a:p>
          <a:p>
            <a:r>
              <a:rPr lang="es-AR" dirty="0"/>
              <a:t/>
            </a:r>
            <a:br>
              <a:rPr lang="es-AR" dirty="0"/>
            </a:br>
            <a:r>
              <a:rPr lang="es-AR" dirty="0"/>
              <a:t>    </a:t>
            </a:r>
            <a:r>
              <a:rPr lang="es-AR" dirty="0" err="1"/>
              <a:t>public</a:t>
            </a:r>
            <a:r>
              <a:rPr lang="es-AR" dirty="0"/>
              <a:t> </a:t>
            </a:r>
            <a:r>
              <a:rPr lang="es-AR" dirty="0" err="1"/>
              <a:t>void</a:t>
            </a:r>
            <a:r>
              <a:rPr lang="es-AR" dirty="0"/>
              <a:t> </a:t>
            </a:r>
            <a:r>
              <a:rPr lang="es-AR" dirty="0" err="1"/>
              <a:t>setNombre</a:t>
            </a:r>
            <a:r>
              <a:rPr lang="es-AR" dirty="0"/>
              <a:t>(</a:t>
            </a:r>
            <a:r>
              <a:rPr lang="es-AR" dirty="0" err="1"/>
              <a:t>String</a:t>
            </a:r>
            <a:r>
              <a:rPr lang="es-AR" dirty="0"/>
              <a:t> nombre) {</a:t>
            </a:r>
          </a:p>
          <a:p>
            <a:r>
              <a:rPr lang="es-AR" dirty="0"/>
              <a:t>        </a:t>
            </a:r>
            <a:r>
              <a:rPr lang="es-AR" dirty="0" err="1"/>
              <a:t>this.nombre</a:t>
            </a:r>
            <a:r>
              <a:rPr lang="es-AR" dirty="0"/>
              <a:t> = nombre;</a:t>
            </a:r>
          </a:p>
          <a:p>
            <a:r>
              <a:rPr lang="es-AR" dirty="0"/>
              <a:t>    }</a:t>
            </a:r>
          </a:p>
          <a:p>
            <a:r>
              <a:rPr lang="es-AR" dirty="0"/>
              <a:t/>
            </a:r>
            <a:br>
              <a:rPr lang="es-AR" dirty="0"/>
            </a:br>
            <a:r>
              <a:rPr lang="es-AR" dirty="0"/>
              <a:t>    </a:t>
            </a:r>
            <a:r>
              <a:rPr lang="es-AR" dirty="0" err="1"/>
              <a:t>public</a:t>
            </a:r>
            <a:r>
              <a:rPr lang="es-AR" dirty="0"/>
              <a:t> </a:t>
            </a:r>
            <a:r>
              <a:rPr lang="es-AR" dirty="0" err="1"/>
              <a:t>int</a:t>
            </a:r>
            <a:r>
              <a:rPr lang="es-AR" dirty="0"/>
              <a:t> </a:t>
            </a:r>
            <a:r>
              <a:rPr lang="es-AR" dirty="0" err="1"/>
              <a:t>getEdad</a:t>
            </a:r>
            <a:r>
              <a:rPr lang="es-AR" dirty="0"/>
              <a:t>() {</a:t>
            </a:r>
          </a:p>
          <a:p>
            <a:r>
              <a:rPr lang="es-AR" dirty="0"/>
              <a:t>        </a:t>
            </a:r>
            <a:r>
              <a:rPr lang="es-AR" dirty="0" err="1"/>
              <a:t>return</a:t>
            </a:r>
            <a:r>
              <a:rPr lang="es-AR" dirty="0"/>
              <a:t> </a:t>
            </a:r>
            <a:r>
              <a:rPr lang="es-AR" dirty="0" err="1"/>
              <a:t>this.edad</a:t>
            </a:r>
            <a:r>
              <a:rPr lang="es-AR" dirty="0"/>
              <a:t>;</a:t>
            </a:r>
          </a:p>
          <a:p>
            <a:r>
              <a:rPr lang="es-AR" dirty="0"/>
              <a:t>    }</a:t>
            </a:r>
          </a:p>
          <a:p>
            <a:r>
              <a:rPr lang="es-AR" dirty="0"/>
              <a:t/>
            </a:r>
            <a:br>
              <a:rPr lang="es-AR" dirty="0"/>
            </a:br>
            <a:r>
              <a:rPr lang="es-AR" dirty="0"/>
              <a:t>    </a:t>
            </a:r>
            <a:r>
              <a:rPr lang="es-AR" dirty="0" err="1"/>
              <a:t>public</a:t>
            </a:r>
            <a:r>
              <a:rPr lang="es-AR" dirty="0"/>
              <a:t> </a:t>
            </a:r>
            <a:r>
              <a:rPr lang="es-AR" dirty="0" err="1"/>
              <a:t>void</a:t>
            </a:r>
            <a:r>
              <a:rPr lang="es-AR" dirty="0"/>
              <a:t> </a:t>
            </a:r>
            <a:r>
              <a:rPr lang="es-AR" dirty="0" err="1"/>
              <a:t>setEdad</a:t>
            </a:r>
            <a:r>
              <a:rPr lang="es-AR" dirty="0"/>
              <a:t>(</a:t>
            </a:r>
            <a:r>
              <a:rPr lang="es-AR" dirty="0" err="1"/>
              <a:t>int</a:t>
            </a:r>
            <a:r>
              <a:rPr lang="es-AR" dirty="0"/>
              <a:t> edad) {</a:t>
            </a:r>
          </a:p>
          <a:p>
            <a:r>
              <a:rPr lang="es-AR" dirty="0"/>
              <a:t>        </a:t>
            </a:r>
            <a:r>
              <a:rPr lang="es-AR" dirty="0" err="1"/>
              <a:t>this.edad</a:t>
            </a:r>
            <a:r>
              <a:rPr lang="es-AR" dirty="0"/>
              <a:t> = edad;</a:t>
            </a:r>
          </a:p>
          <a:p>
            <a:r>
              <a:rPr lang="es-AR" dirty="0"/>
              <a:t>    </a:t>
            </a:r>
            <a:r>
              <a:rPr lang="es-AR" dirty="0" smtClean="0"/>
              <a:t>}</a:t>
            </a:r>
            <a:endParaRPr lang="es-AR" dirty="0"/>
          </a:p>
        </p:txBody>
      </p:sp>
    </p:spTree>
    <p:extLst>
      <p:ext uri="{BB962C8B-B14F-4D97-AF65-F5344CB8AC3E}">
        <p14:creationId xmlns:p14="http://schemas.microsoft.com/office/powerpoint/2010/main" val="1474402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1754326"/>
          </a:xfrm>
          <a:prstGeom prst="rect">
            <a:avLst/>
          </a:prstGeom>
        </p:spPr>
        <p:txBody>
          <a:bodyPr wrap="square">
            <a:spAutoFit/>
          </a:bodyPr>
          <a:lstStyle/>
          <a:p>
            <a:r>
              <a:rPr lang="es-AR" dirty="0"/>
              <a:t> </a:t>
            </a:r>
            <a:r>
              <a:rPr lang="es-AR" dirty="0" err="1"/>
              <a:t>public</a:t>
            </a:r>
            <a:r>
              <a:rPr lang="es-AR" dirty="0"/>
              <a:t> </a:t>
            </a:r>
            <a:r>
              <a:rPr lang="es-AR" dirty="0" smtClean="0"/>
              <a:t>Persona(</a:t>
            </a:r>
            <a:r>
              <a:rPr lang="es-AR" dirty="0" err="1" smtClean="0"/>
              <a:t>String</a:t>
            </a:r>
            <a:r>
              <a:rPr lang="es-AR" dirty="0" smtClean="0"/>
              <a:t> </a:t>
            </a:r>
            <a:r>
              <a:rPr lang="es-AR" dirty="0"/>
              <a:t>apellido, </a:t>
            </a:r>
            <a:r>
              <a:rPr lang="es-AR" dirty="0" err="1"/>
              <a:t>String</a:t>
            </a:r>
            <a:r>
              <a:rPr lang="es-AR" dirty="0"/>
              <a:t> nombre, </a:t>
            </a:r>
            <a:r>
              <a:rPr lang="es-AR" dirty="0" err="1"/>
              <a:t>int</a:t>
            </a:r>
            <a:r>
              <a:rPr lang="es-AR" dirty="0"/>
              <a:t> edad) {</a:t>
            </a:r>
          </a:p>
          <a:p>
            <a:r>
              <a:rPr lang="es-AR" dirty="0"/>
              <a:t>        </a:t>
            </a:r>
            <a:r>
              <a:rPr lang="es-AR" dirty="0" err="1"/>
              <a:t>this.apellido</a:t>
            </a:r>
            <a:r>
              <a:rPr lang="es-AR" dirty="0"/>
              <a:t> = apellido;</a:t>
            </a:r>
          </a:p>
          <a:p>
            <a:r>
              <a:rPr lang="es-AR" dirty="0"/>
              <a:t>        </a:t>
            </a:r>
            <a:r>
              <a:rPr lang="es-AR" dirty="0" err="1"/>
              <a:t>this.nombre</a:t>
            </a:r>
            <a:r>
              <a:rPr lang="es-AR" dirty="0"/>
              <a:t> = nombre;</a:t>
            </a:r>
          </a:p>
          <a:p>
            <a:r>
              <a:rPr lang="es-AR" dirty="0"/>
              <a:t>        </a:t>
            </a:r>
            <a:r>
              <a:rPr lang="es-AR" dirty="0" err="1"/>
              <a:t>this.edad</a:t>
            </a:r>
            <a:r>
              <a:rPr lang="es-AR" dirty="0"/>
              <a:t> = edad;</a:t>
            </a:r>
          </a:p>
          <a:p>
            <a:r>
              <a:rPr lang="es-AR" dirty="0"/>
              <a:t>    }</a:t>
            </a:r>
          </a:p>
          <a:p>
            <a:r>
              <a:rPr lang="es-AR" dirty="0"/>
              <a:t>}</a:t>
            </a:r>
          </a:p>
        </p:txBody>
      </p:sp>
    </p:spTree>
    <p:extLst>
      <p:ext uri="{BB962C8B-B14F-4D97-AF65-F5344CB8AC3E}">
        <p14:creationId xmlns:p14="http://schemas.microsoft.com/office/powerpoint/2010/main" val="36355410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1200329"/>
          </a:xfrm>
          <a:prstGeom prst="rect">
            <a:avLst/>
          </a:prstGeom>
        </p:spPr>
        <p:txBody>
          <a:bodyPr wrap="square">
            <a:spAutoFit/>
          </a:bodyPr>
          <a:lstStyle/>
          <a:p>
            <a:pPr marL="285750" indent="-285750">
              <a:buFont typeface="Arial" pitchFamily="34" charset="0"/>
              <a:buChar char="•"/>
            </a:pPr>
            <a:r>
              <a:rPr lang="es-ES" dirty="0" smtClean="0"/>
              <a:t>A continuación generamos el </a:t>
            </a:r>
            <a:r>
              <a:rPr lang="es-ES" dirty="0"/>
              <a:t>controlador que se encargará de mostrarnos un listado de Personas en </a:t>
            </a:r>
            <a:r>
              <a:rPr lang="es-ES" dirty="0" smtClean="0"/>
              <a:t>una página </a:t>
            </a:r>
            <a:r>
              <a:rPr lang="es-ES" dirty="0" err="1"/>
              <a:t>html</a:t>
            </a:r>
            <a:r>
              <a:rPr lang="es-ES" dirty="0"/>
              <a:t> diseñada con el motor de plantillas de </a:t>
            </a:r>
            <a:r>
              <a:rPr lang="es-ES" dirty="0" err="1"/>
              <a:t>thymeleaf</a:t>
            </a:r>
            <a:r>
              <a:rPr lang="es-ES" dirty="0" smtClean="0"/>
              <a:t>.</a:t>
            </a:r>
          </a:p>
          <a:p>
            <a:pPr marL="285750" indent="-285750">
              <a:buFont typeface="Arial" pitchFamily="34" charset="0"/>
              <a:buChar char="•"/>
            </a:pPr>
            <a:endParaRPr lang="es-ES" dirty="0"/>
          </a:p>
          <a:p>
            <a:pPr marL="285750" indent="-285750">
              <a:buFont typeface="Arial" pitchFamily="34" charset="0"/>
              <a:buChar char="•"/>
            </a:pPr>
            <a:r>
              <a:rPr lang="es-ES" dirty="0" smtClean="0"/>
              <a:t>Generamos una carpeta llamada </a:t>
            </a:r>
            <a:r>
              <a:rPr lang="es-ES" dirty="0" err="1" smtClean="0"/>
              <a:t>controller</a:t>
            </a:r>
            <a:r>
              <a:rPr lang="es-ES" dirty="0" smtClean="0"/>
              <a:t> y dentro de esta generamos una clase </a:t>
            </a:r>
            <a:r>
              <a:rPr lang="es-AR" dirty="0" smtClean="0"/>
              <a:t>PersonaController.java</a:t>
            </a:r>
            <a:endParaRPr lang="es-AR" dirty="0"/>
          </a:p>
        </p:txBody>
      </p:sp>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98355" y="3918176"/>
            <a:ext cx="4515609" cy="27480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893666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3139321"/>
          </a:xfrm>
          <a:prstGeom prst="rect">
            <a:avLst/>
          </a:prstGeom>
        </p:spPr>
        <p:txBody>
          <a:bodyPr wrap="square">
            <a:spAutoFit/>
          </a:bodyPr>
          <a:lstStyle/>
          <a:p>
            <a:pPr marL="285750" indent="-285750">
              <a:buFont typeface="Arial" pitchFamily="34" charset="0"/>
              <a:buChar char="•"/>
            </a:pPr>
            <a:r>
              <a:rPr lang="es-ES" dirty="0" smtClean="0"/>
              <a:t>Dentro de la misma tendremos las siguientes definiciones del controlador</a:t>
            </a:r>
          </a:p>
          <a:p>
            <a:pPr marL="285750" indent="-285750">
              <a:buFont typeface="Arial" pitchFamily="34" charset="0"/>
              <a:buChar char="•"/>
            </a:pPr>
            <a:endParaRPr lang="es-ES" dirty="0"/>
          </a:p>
          <a:p>
            <a:r>
              <a:rPr lang="es-AR" dirty="0" err="1"/>
              <a:t>package</a:t>
            </a:r>
            <a:r>
              <a:rPr lang="es-AR" dirty="0"/>
              <a:t> </a:t>
            </a:r>
            <a:r>
              <a:rPr lang="es-AR" dirty="0" err="1"/>
              <a:t>com.mvc.ejemplo.mvcejemplo.controller</a:t>
            </a:r>
            <a:r>
              <a:rPr lang="es-AR" dirty="0"/>
              <a:t>;</a:t>
            </a:r>
          </a:p>
          <a:p>
            <a:r>
              <a:rPr lang="es-AR" dirty="0"/>
              <a:t/>
            </a:r>
            <a:br>
              <a:rPr lang="es-AR" dirty="0"/>
            </a:br>
            <a:r>
              <a:rPr lang="es-AR" dirty="0" err="1"/>
              <a:t>import</a:t>
            </a:r>
            <a:r>
              <a:rPr lang="es-AR" dirty="0"/>
              <a:t> </a:t>
            </a:r>
            <a:r>
              <a:rPr lang="es-AR" dirty="0" err="1"/>
              <a:t>java.util.Arrays</a:t>
            </a:r>
            <a:r>
              <a:rPr lang="es-AR" dirty="0"/>
              <a:t>;</a:t>
            </a:r>
          </a:p>
          <a:p>
            <a:r>
              <a:rPr lang="es-AR" dirty="0" err="1"/>
              <a:t>import</a:t>
            </a:r>
            <a:r>
              <a:rPr lang="es-AR" dirty="0"/>
              <a:t> </a:t>
            </a:r>
            <a:r>
              <a:rPr lang="es-AR" dirty="0" err="1"/>
              <a:t>java.util.List</a:t>
            </a:r>
            <a:r>
              <a:rPr lang="es-AR" dirty="0"/>
              <a:t>;</a:t>
            </a:r>
          </a:p>
          <a:p>
            <a:r>
              <a:rPr lang="es-AR" dirty="0"/>
              <a:t/>
            </a:r>
            <a:br>
              <a:rPr lang="es-AR" dirty="0"/>
            </a:br>
            <a:r>
              <a:rPr lang="es-AR" dirty="0" err="1"/>
              <a:t>import</a:t>
            </a:r>
            <a:r>
              <a:rPr lang="es-AR" dirty="0"/>
              <a:t> </a:t>
            </a:r>
            <a:r>
              <a:rPr lang="es-AR" dirty="0" err="1"/>
              <a:t>com.mvc.ejemplo.mvcejemplo.model.Personas</a:t>
            </a:r>
            <a:r>
              <a:rPr lang="es-AR" dirty="0"/>
              <a:t>;</a:t>
            </a:r>
          </a:p>
          <a:p>
            <a:r>
              <a:rPr lang="es-AR" dirty="0"/>
              <a:t/>
            </a:r>
            <a:br>
              <a:rPr lang="es-AR" dirty="0"/>
            </a:br>
            <a:r>
              <a:rPr lang="es-AR" dirty="0" err="1"/>
              <a:t>import</a:t>
            </a:r>
            <a:r>
              <a:rPr lang="es-AR" dirty="0"/>
              <a:t> </a:t>
            </a:r>
            <a:r>
              <a:rPr lang="es-AR" dirty="0" err="1"/>
              <a:t>org.springframework.stereotype.Controller</a:t>
            </a:r>
            <a:r>
              <a:rPr lang="es-AR" dirty="0"/>
              <a:t>;</a:t>
            </a:r>
          </a:p>
          <a:p>
            <a:r>
              <a:rPr lang="es-AR" dirty="0" err="1"/>
              <a:t>import</a:t>
            </a:r>
            <a:r>
              <a:rPr lang="es-AR" dirty="0"/>
              <a:t> </a:t>
            </a:r>
            <a:r>
              <a:rPr lang="es-AR" dirty="0" err="1"/>
              <a:t>org.springframework.ui.Model</a:t>
            </a:r>
            <a:r>
              <a:rPr lang="es-AR" dirty="0" smtClean="0"/>
              <a:t>;</a:t>
            </a:r>
            <a:endParaRPr lang="es-AR" dirty="0"/>
          </a:p>
        </p:txBody>
      </p:sp>
    </p:spTree>
    <p:extLst>
      <p:ext uri="{BB962C8B-B14F-4D97-AF65-F5344CB8AC3E}">
        <p14:creationId xmlns:p14="http://schemas.microsoft.com/office/powerpoint/2010/main" val="30199794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4247317"/>
          </a:xfrm>
          <a:prstGeom prst="rect">
            <a:avLst/>
          </a:prstGeom>
        </p:spPr>
        <p:txBody>
          <a:bodyPr wrap="square">
            <a:spAutoFit/>
          </a:bodyPr>
          <a:lstStyle/>
          <a:p>
            <a:r>
              <a:rPr lang="es-AR" dirty="0" smtClean="0"/>
              <a:t>@</a:t>
            </a:r>
            <a:r>
              <a:rPr lang="es-AR" dirty="0" err="1"/>
              <a:t>Controller</a:t>
            </a:r>
            <a:endParaRPr lang="es-AR" dirty="0"/>
          </a:p>
          <a:p>
            <a:r>
              <a:rPr lang="es-AR" dirty="0" err="1"/>
              <a:t>public</a:t>
            </a:r>
            <a:r>
              <a:rPr lang="es-AR" dirty="0"/>
              <a:t> </a:t>
            </a:r>
            <a:r>
              <a:rPr lang="es-AR" dirty="0" err="1"/>
              <a:t>class</a:t>
            </a:r>
            <a:r>
              <a:rPr lang="es-AR" dirty="0"/>
              <a:t> </a:t>
            </a:r>
            <a:r>
              <a:rPr lang="es-AR" dirty="0" err="1"/>
              <a:t>PersonaController</a:t>
            </a:r>
            <a:r>
              <a:rPr lang="es-AR" dirty="0"/>
              <a:t> {</a:t>
            </a:r>
          </a:p>
          <a:p>
            <a:r>
              <a:rPr lang="es-AR" dirty="0"/>
              <a:t>    </a:t>
            </a:r>
          </a:p>
          <a:p>
            <a:r>
              <a:rPr lang="es-AR" dirty="0"/>
              <a:t>    </a:t>
            </a:r>
            <a:r>
              <a:rPr lang="es-AR" dirty="0" err="1"/>
              <a:t>public</a:t>
            </a:r>
            <a:r>
              <a:rPr lang="es-AR" dirty="0"/>
              <a:t> </a:t>
            </a:r>
            <a:r>
              <a:rPr lang="es-AR" dirty="0" err="1"/>
              <a:t>String</a:t>
            </a:r>
            <a:r>
              <a:rPr lang="es-AR" dirty="0"/>
              <a:t> listar(</a:t>
            </a:r>
            <a:r>
              <a:rPr lang="es-AR" dirty="0" err="1"/>
              <a:t>Model</a:t>
            </a:r>
            <a:r>
              <a:rPr lang="es-AR" dirty="0"/>
              <a:t> modelo){</a:t>
            </a:r>
          </a:p>
          <a:p>
            <a:r>
              <a:rPr lang="es-AR" dirty="0"/>
              <a:t>        Personas p1=new Personas("pedro", "</a:t>
            </a:r>
            <a:r>
              <a:rPr lang="es-AR" dirty="0" err="1"/>
              <a:t>perez</a:t>
            </a:r>
            <a:r>
              <a:rPr lang="es-AR" dirty="0"/>
              <a:t>", 20);</a:t>
            </a:r>
          </a:p>
          <a:p>
            <a:r>
              <a:rPr lang="es-AR" dirty="0"/>
              <a:t>        Personas p2=new Personas("juan", "flores", 30);</a:t>
            </a:r>
          </a:p>
          <a:p>
            <a:r>
              <a:rPr lang="es-AR" dirty="0"/>
              <a:t>        Personas p3=new Personas("lucia", "</a:t>
            </a:r>
            <a:r>
              <a:rPr lang="es-AR" dirty="0" err="1"/>
              <a:t>rearte</a:t>
            </a:r>
            <a:r>
              <a:rPr lang="es-AR" dirty="0"/>
              <a:t>", 20);</a:t>
            </a:r>
          </a:p>
          <a:p>
            <a:r>
              <a:rPr lang="es-AR" dirty="0"/>
              <a:t>        Personas p4=new Personas("tina", "</a:t>
            </a:r>
            <a:r>
              <a:rPr lang="es-AR" dirty="0" err="1"/>
              <a:t>lopez</a:t>
            </a:r>
            <a:r>
              <a:rPr lang="es-AR" dirty="0"/>
              <a:t>", 24);</a:t>
            </a:r>
          </a:p>
          <a:p>
            <a:r>
              <a:rPr lang="es-AR" dirty="0"/>
              <a:t/>
            </a:r>
            <a:br>
              <a:rPr lang="es-AR" dirty="0"/>
            </a:br>
            <a:r>
              <a:rPr lang="es-AR" dirty="0"/>
              <a:t>        </a:t>
            </a:r>
            <a:r>
              <a:rPr lang="es-AR" dirty="0" err="1"/>
              <a:t>List</a:t>
            </a:r>
            <a:r>
              <a:rPr lang="es-AR" dirty="0"/>
              <a:t>&lt;Personas&gt; personas=</a:t>
            </a:r>
            <a:r>
              <a:rPr lang="es-AR" dirty="0" err="1"/>
              <a:t>Arrays.asList</a:t>
            </a:r>
            <a:r>
              <a:rPr lang="es-AR" dirty="0"/>
              <a:t>(p1,p2,p3,p4);</a:t>
            </a:r>
          </a:p>
          <a:p>
            <a:r>
              <a:rPr lang="es-AR" dirty="0"/>
              <a:t>        </a:t>
            </a:r>
          </a:p>
          <a:p>
            <a:r>
              <a:rPr lang="es-AR" dirty="0"/>
              <a:t>        </a:t>
            </a:r>
            <a:r>
              <a:rPr lang="es-AR" dirty="0" err="1"/>
              <a:t>modelo.addAttribute</a:t>
            </a:r>
            <a:r>
              <a:rPr lang="es-AR" dirty="0"/>
              <a:t>("</a:t>
            </a:r>
            <a:r>
              <a:rPr lang="es-AR" dirty="0" err="1"/>
              <a:t>personas",personas</a:t>
            </a:r>
            <a:r>
              <a:rPr lang="es-AR" dirty="0"/>
              <a:t>);</a:t>
            </a:r>
          </a:p>
          <a:p>
            <a:r>
              <a:rPr lang="es-AR" dirty="0"/>
              <a:t/>
            </a:r>
            <a:br>
              <a:rPr lang="es-AR" dirty="0"/>
            </a:br>
            <a:r>
              <a:rPr lang="es-AR" dirty="0"/>
              <a:t>        </a:t>
            </a:r>
            <a:r>
              <a:rPr lang="es-AR" dirty="0" err="1"/>
              <a:t>return</a:t>
            </a:r>
            <a:r>
              <a:rPr lang="es-AR" dirty="0"/>
              <a:t> "lista";</a:t>
            </a:r>
          </a:p>
          <a:p>
            <a:r>
              <a:rPr lang="es-AR" dirty="0"/>
              <a:t>    </a:t>
            </a:r>
            <a:r>
              <a:rPr lang="es-AR" dirty="0" smtClean="0"/>
              <a:t>}}</a:t>
            </a:r>
            <a:endParaRPr lang="es-AR" dirty="0"/>
          </a:p>
        </p:txBody>
      </p:sp>
    </p:spTree>
    <p:extLst>
      <p:ext uri="{BB962C8B-B14F-4D97-AF65-F5344CB8AC3E}">
        <p14:creationId xmlns:p14="http://schemas.microsoft.com/office/powerpoint/2010/main" val="3974336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1754326"/>
          </a:xfrm>
          <a:prstGeom prst="rect">
            <a:avLst/>
          </a:prstGeom>
        </p:spPr>
        <p:txBody>
          <a:bodyPr wrap="square">
            <a:spAutoFit/>
          </a:bodyPr>
          <a:lstStyle/>
          <a:p>
            <a:pPr marL="285750" indent="-285750">
              <a:buFont typeface="Arial" pitchFamily="34" charset="0"/>
              <a:buChar char="•"/>
            </a:pPr>
            <a:r>
              <a:rPr lang="es-ES" dirty="0"/>
              <a:t>En este caso el </a:t>
            </a:r>
            <a:r>
              <a:rPr lang="es-ES" dirty="0" smtClean="0"/>
              <a:t>controlador </a:t>
            </a:r>
            <a:r>
              <a:rPr lang="es-AR" dirty="0" smtClean="0"/>
              <a:t>PersonaController.java</a:t>
            </a:r>
            <a:r>
              <a:rPr lang="es-ES" dirty="0" smtClean="0"/>
              <a:t> </a:t>
            </a:r>
            <a:r>
              <a:rPr lang="es-ES" dirty="0"/>
              <a:t>que </a:t>
            </a:r>
            <a:r>
              <a:rPr lang="es-ES" dirty="0" smtClean="0"/>
              <a:t>acabamos de crear lo utilizamos para poder mapear </a:t>
            </a:r>
            <a:r>
              <a:rPr lang="es-ES" dirty="0"/>
              <a:t>una URL de respuesta con la anotación @</a:t>
            </a:r>
            <a:r>
              <a:rPr lang="es-ES" dirty="0" err="1"/>
              <a:t>RequestMapping</a:t>
            </a:r>
            <a:r>
              <a:rPr lang="es-ES" dirty="0"/>
              <a:t> esta anotación liga un método de un controlador de Spring con una URL que un cliente </a:t>
            </a:r>
            <a:r>
              <a:rPr lang="es-ES" dirty="0" smtClean="0"/>
              <a:t>quiera utilizar. </a:t>
            </a:r>
          </a:p>
          <a:p>
            <a:pPr marL="285750" indent="-285750">
              <a:buFont typeface="Arial" pitchFamily="34" charset="0"/>
              <a:buChar char="•"/>
            </a:pPr>
            <a:endParaRPr lang="es-ES" dirty="0"/>
          </a:p>
          <a:p>
            <a:pPr marL="285750" indent="-285750">
              <a:buFont typeface="Arial" pitchFamily="34" charset="0"/>
              <a:buChar char="•"/>
            </a:pPr>
            <a:r>
              <a:rPr lang="es-ES" dirty="0" smtClean="0"/>
              <a:t>En </a:t>
            </a:r>
            <a:r>
              <a:rPr lang="es-ES" dirty="0"/>
              <a:t>este caso la </a:t>
            </a:r>
            <a:r>
              <a:rPr lang="es-ES" dirty="0" err="1"/>
              <a:t>url</a:t>
            </a:r>
            <a:r>
              <a:rPr lang="es-ES" dirty="0"/>
              <a:t> de /lista queda mapeada a la </a:t>
            </a:r>
            <a:endParaRPr lang="es-ES" dirty="0" smtClean="0"/>
          </a:p>
          <a:p>
            <a:r>
              <a:rPr lang="es-ES" dirty="0" smtClean="0"/>
              <a:t>ejecución </a:t>
            </a:r>
            <a:r>
              <a:rPr lang="es-ES" dirty="0"/>
              <a:t>del método lista del Controlador Persona.</a:t>
            </a:r>
            <a:endParaRPr lang="es-AR" dirty="0"/>
          </a:p>
        </p:txBody>
      </p:sp>
      <p:pic>
        <p:nvPicPr>
          <p:cNvPr id="6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70525" y="3266454"/>
            <a:ext cx="5106035" cy="3474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244116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3693319"/>
          </a:xfrm>
          <a:prstGeom prst="rect">
            <a:avLst/>
          </a:prstGeom>
        </p:spPr>
        <p:txBody>
          <a:bodyPr wrap="square">
            <a:spAutoFit/>
          </a:bodyPr>
          <a:lstStyle/>
          <a:p>
            <a:pPr marL="285750" indent="-285750">
              <a:buFont typeface="Arial" pitchFamily="34" charset="0"/>
              <a:buChar char="•"/>
            </a:pPr>
            <a:r>
              <a:rPr lang="es-ES" dirty="0"/>
              <a:t>Una vez tenemos claro cómo funcionan los controladores que </a:t>
            </a:r>
            <a:endParaRPr lang="es-ES" dirty="0" smtClean="0"/>
          </a:p>
          <a:p>
            <a:r>
              <a:rPr lang="es-ES" dirty="0" smtClean="0"/>
              <a:t>hemos </a:t>
            </a:r>
            <a:r>
              <a:rPr lang="es-ES" dirty="0"/>
              <a:t>definido es momento de ver el contenido de los ficheros </a:t>
            </a:r>
            <a:endParaRPr lang="es-ES" dirty="0" smtClean="0"/>
          </a:p>
          <a:p>
            <a:r>
              <a:rPr lang="es-ES" dirty="0" err="1" smtClean="0"/>
              <a:t>html</a:t>
            </a:r>
            <a:r>
              <a:rPr lang="es-ES" dirty="0" smtClean="0"/>
              <a:t> </a:t>
            </a:r>
            <a:r>
              <a:rPr lang="es-ES" dirty="0"/>
              <a:t>que se van a encontrar en la carpeta de </a:t>
            </a:r>
            <a:r>
              <a:rPr lang="es-ES" dirty="0" err="1"/>
              <a:t>templates</a:t>
            </a:r>
            <a:r>
              <a:rPr lang="es-ES" dirty="0"/>
              <a:t> del </a:t>
            </a:r>
            <a:endParaRPr lang="es-ES" dirty="0" smtClean="0"/>
          </a:p>
          <a:p>
            <a:r>
              <a:rPr lang="es-ES" dirty="0" smtClean="0"/>
              <a:t>proyecto </a:t>
            </a:r>
            <a:r>
              <a:rPr lang="es-ES" dirty="0"/>
              <a:t>de Spring </a:t>
            </a:r>
            <a:r>
              <a:rPr lang="es-ES" dirty="0" err="1" smtClean="0"/>
              <a:t>Boot</a:t>
            </a:r>
            <a:r>
              <a:rPr lang="es-ES" dirty="0" smtClean="0"/>
              <a:t> archivo al que llamaremos </a:t>
            </a:r>
            <a:r>
              <a:rPr lang="es-ES" b="1" dirty="0" smtClean="0"/>
              <a:t>lista.html</a:t>
            </a:r>
            <a:r>
              <a:rPr lang="es-ES" dirty="0" smtClean="0"/>
              <a:t>.</a:t>
            </a:r>
            <a:endParaRPr lang="es-ES" dirty="0"/>
          </a:p>
          <a:p>
            <a:pPr marL="285750" indent="-285750">
              <a:buFont typeface="Arial" pitchFamily="34" charset="0"/>
              <a:buChar char="•"/>
            </a:pPr>
            <a:endParaRPr lang="es-ES" dirty="0" smtClean="0"/>
          </a:p>
          <a:p>
            <a:pPr marL="285750" indent="-285750">
              <a:buFont typeface="Arial" pitchFamily="34" charset="0"/>
              <a:buChar char="•"/>
            </a:pPr>
            <a:endParaRPr lang="es-ES" dirty="0" smtClean="0"/>
          </a:p>
          <a:p>
            <a:pPr marL="285750" indent="-285750">
              <a:buFont typeface="Arial" pitchFamily="34" charset="0"/>
              <a:buChar char="•"/>
            </a:pPr>
            <a:endParaRPr lang="es-ES" dirty="0"/>
          </a:p>
          <a:p>
            <a:pPr marL="285750" indent="-285750">
              <a:buFont typeface="Arial" pitchFamily="34" charset="0"/>
              <a:buChar char="•"/>
            </a:pPr>
            <a:endParaRPr lang="es-ES" dirty="0" smtClean="0"/>
          </a:p>
          <a:p>
            <a:pPr marL="285750" indent="-285750">
              <a:buFont typeface="Arial" pitchFamily="34" charset="0"/>
              <a:buChar char="•"/>
            </a:pPr>
            <a:endParaRPr lang="es-ES" dirty="0"/>
          </a:p>
          <a:p>
            <a:pPr marL="285750" indent="-285750">
              <a:buFont typeface="Arial" pitchFamily="34" charset="0"/>
              <a:buChar char="•"/>
            </a:pPr>
            <a:endParaRPr lang="es-ES" dirty="0" smtClean="0"/>
          </a:p>
          <a:p>
            <a:pPr marL="285750" indent="-285750">
              <a:buFont typeface="Arial" pitchFamily="34" charset="0"/>
              <a:buChar char="•"/>
            </a:pPr>
            <a:endParaRPr lang="es-ES" dirty="0"/>
          </a:p>
          <a:p>
            <a:pPr marL="285750" indent="-285750">
              <a:buFont typeface="Arial" pitchFamily="34" charset="0"/>
              <a:buChar char="•"/>
            </a:pPr>
            <a:endParaRPr lang="es-ES" dirty="0"/>
          </a:p>
          <a:p>
            <a:endParaRPr lang="es-ES" dirty="0" smtClean="0"/>
          </a:p>
        </p:txBody>
      </p:sp>
      <p:pic>
        <p:nvPicPr>
          <p:cNvPr id="1032"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4020" y="1609230"/>
            <a:ext cx="4529997" cy="5043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2 Flecha derecha"/>
          <p:cNvSpPr/>
          <p:nvPr/>
        </p:nvSpPr>
        <p:spPr>
          <a:xfrm rot="1814041">
            <a:off x="3603499" y="4638215"/>
            <a:ext cx="4142744" cy="61751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3007991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3970318"/>
          </a:xfrm>
          <a:prstGeom prst="rect">
            <a:avLst/>
          </a:prstGeom>
        </p:spPr>
        <p:txBody>
          <a:bodyPr wrap="square">
            <a:spAutoFit/>
          </a:bodyPr>
          <a:lstStyle/>
          <a:p>
            <a:pPr marL="285750" indent="-285750">
              <a:buFont typeface="Arial" pitchFamily="34" charset="0"/>
              <a:buChar char="•"/>
            </a:pPr>
            <a:r>
              <a:rPr lang="es-ES" dirty="0"/>
              <a:t>El código fuente de la plantilla que genera la lista es el siguiente:</a:t>
            </a:r>
            <a:endParaRPr lang="es-AR" dirty="0"/>
          </a:p>
          <a:p>
            <a:endParaRPr lang="es-AR" dirty="0" smtClean="0"/>
          </a:p>
          <a:p>
            <a:r>
              <a:rPr lang="es-AR" dirty="0" smtClean="0"/>
              <a:t>&lt;!</a:t>
            </a:r>
            <a:r>
              <a:rPr lang="es-AR" dirty="0"/>
              <a:t>DOCTYPE </a:t>
            </a:r>
            <a:r>
              <a:rPr lang="es-AR" dirty="0" err="1"/>
              <a:t>html</a:t>
            </a:r>
            <a:r>
              <a:rPr lang="es-AR" dirty="0"/>
              <a:t>&gt;</a:t>
            </a:r>
          </a:p>
          <a:p>
            <a:r>
              <a:rPr lang="es-AR" dirty="0"/>
              <a:t>&lt;</a:t>
            </a:r>
            <a:r>
              <a:rPr lang="es-AR" dirty="0" err="1"/>
              <a:t>html</a:t>
            </a:r>
            <a:r>
              <a:rPr lang="es-AR" dirty="0"/>
              <a:t> </a:t>
            </a:r>
            <a:r>
              <a:rPr lang="es-AR" dirty="0" err="1"/>
              <a:t>xmlns:th</a:t>
            </a:r>
            <a:r>
              <a:rPr lang="es-AR" dirty="0"/>
              <a:t>="http://www.thymeleaf.org"&gt;</a:t>
            </a:r>
          </a:p>
          <a:p>
            <a:r>
              <a:rPr lang="es-AR" dirty="0"/>
              <a:t>&lt;</a:t>
            </a:r>
            <a:r>
              <a:rPr lang="es-AR" dirty="0" err="1"/>
              <a:t>body</a:t>
            </a:r>
            <a:r>
              <a:rPr lang="es-AR" dirty="0"/>
              <a:t>&gt;</a:t>
            </a:r>
          </a:p>
          <a:p>
            <a:r>
              <a:rPr lang="es-AR" dirty="0"/>
              <a:t>    &lt;</a:t>
            </a:r>
            <a:r>
              <a:rPr lang="es-AR" dirty="0" err="1"/>
              <a:t>table</a:t>
            </a:r>
            <a:r>
              <a:rPr lang="es-AR" dirty="0"/>
              <a:t>&gt;</a:t>
            </a:r>
          </a:p>
          <a:p>
            <a:r>
              <a:rPr lang="es-AR" dirty="0"/>
              <a:t>        &lt;</a:t>
            </a:r>
            <a:r>
              <a:rPr lang="es-AR" dirty="0" err="1"/>
              <a:t>tr</a:t>
            </a:r>
            <a:r>
              <a:rPr lang="es-AR" dirty="0"/>
              <a:t> </a:t>
            </a:r>
            <a:r>
              <a:rPr lang="es-AR" dirty="0" err="1"/>
              <a:t>th:each</a:t>
            </a:r>
            <a:r>
              <a:rPr lang="es-AR" dirty="0"/>
              <a:t>="persona: ${personas}"&gt;</a:t>
            </a:r>
          </a:p>
          <a:p>
            <a:r>
              <a:rPr lang="es-AR" dirty="0"/>
              <a:t>            &lt;</a:t>
            </a:r>
            <a:r>
              <a:rPr lang="es-AR" dirty="0" err="1"/>
              <a:t>td</a:t>
            </a:r>
            <a:r>
              <a:rPr lang="es-AR" dirty="0"/>
              <a:t> </a:t>
            </a:r>
            <a:r>
              <a:rPr lang="es-AR" dirty="0" err="1"/>
              <a:t>th:text</a:t>
            </a:r>
            <a:r>
              <a:rPr lang="es-AR" dirty="0"/>
              <a:t>="${</a:t>
            </a:r>
            <a:r>
              <a:rPr lang="es-AR" dirty="0" err="1"/>
              <a:t>persona.nombre</a:t>
            </a:r>
            <a:r>
              <a:rPr lang="es-AR" dirty="0"/>
              <a:t>}" /&gt;</a:t>
            </a:r>
          </a:p>
          <a:p>
            <a:r>
              <a:rPr lang="es-AR" dirty="0"/>
              <a:t>            &lt;</a:t>
            </a:r>
            <a:r>
              <a:rPr lang="es-AR" dirty="0" err="1"/>
              <a:t>td</a:t>
            </a:r>
            <a:r>
              <a:rPr lang="es-AR" dirty="0"/>
              <a:t> </a:t>
            </a:r>
            <a:r>
              <a:rPr lang="es-AR" dirty="0" err="1"/>
              <a:t>th:text</a:t>
            </a:r>
            <a:r>
              <a:rPr lang="es-AR" dirty="0"/>
              <a:t>="${</a:t>
            </a:r>
            <a:r>
              <a:rPr lang="es-AR" dirty="0" err="1"/>
              <a:t>persona.apellido</a:t>
            </a:r>
            <a:r>
              <a:rPr lang="es-AR" dirty="0"/>
              <a:t>}" /&gt;</a:t>
            </a:r>
          </a:p>
          <a:p>
            <a:r>
              <a:rPr lang="es-AR" dirty="0"/>
              <a:t>            &lt;</a:t>
            </a:r>
            <a:r>
              <a:rPr lang="es-AR" dirty="0" err="1"/>
              <a:t>td</a:t>
            </a:r>
            <a:r>
              <a:rPr lang="es-AR" dirty="0"/>
              <a:t> </a:t>
            </a:r>
            <a:r>
              <a:rPr lang="es-AR" dirty="0" err="1"/>
              <a:t>th:text</a:t>
            </a:r>
            <a:r>
              <a:rPr lang="es-AR" dirty="0"/>
              <a:t>="${</a:t>
            </a:r>
            <a:r>
              <a:rPr lang="es-AR" dirty="0" err="1"/>
              <a:t>persona.edad</a:t>
            </a:r>
            <a:r>
              <a:rPr lang="es-AR" dirty="0"/>
              <a:t>}" /&gt;</a:t>
            </a:r>
          </a:p>
          <a:p>
            <a:r>
              <a:rPr lang="es-AR" dirty="0"/>
              <a:t>        &lt;/</a:t>
            </a:r>
            <a:r>
              <a:rPr lang="es-AR" dirty="0" err="1"/>
              <a:t>tr</a:t>
            </a:r>
            <a:r>
              <a:rPr lang="es-AR" dirty="0"/>
              <a:t>&gt;</a:t>
            </a:r>
          </a:p>
          <a:p>
            <a:r>
              <a:rPr lang="es-AR" dirty="0"/>
              <a:t>    &lt;/</a:t>
            </a:r>
            <a:r>
              <a:rPr lang="es-AR" dirty="0" err="1"/>
              <a:t>table</a:t>
            </a:r>
            <a:r>
              <a:rPr lang="es-AR" dirty="0"/>
              <a:t>&gt;</a:t>
            </a:r>
          </a:p>
          <a:p>
            <a:r>
              <a:rPr lang="es-AR" dirty="0"/>
              <a:t>&lt;/</a:t>
            </a:r>
            <a:r>
              <a:rPr lang="es-AR" dirty="0" err="1"/>
              <a:t>body</a:t>
            </a:r>
            <a:r>
              <a:rPr lang="es-AR" dirty="0"/>
              <a:t>&gt;</a:t>
            </a:r>
          </a:p>
          <a:p>
            <a:r>
              <a:rPr lang="es-AR" dirty="0"/>
              <a:t>&lt;/</a:t>
            </a:r>
            <a:r>
              <a:rPr lang="es-AR" dirty="0" err="1"/>
              <a:t>html</a:t>
            </a:r>
            <a:r>
              <a:rPr lang="es-AR" dirty="0"/>
              <a:t>&gt;</a:t>
            </a:r>
          </a:p>
        </p:txBody>
      </p:sp>
    </p:spTree>
    <p:extLst>
      <p:ext uri="{BB962C8B-B14F-4D97-AF65-F5344CB8AC3E}">
        <p14:creationId xmlns:p14="http://schemas.microsoft.com/office/powerpoint/2010/main" val="34842669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a16="http://schemas.microsoft.com/office/drawing/2014/main" xmlns="" id="{42586C2D-89D1-4B8A-9675-E07D4898191B}"/>
              </a:ext>
            </a:extLst>
          </p:cNvPr>
          <p:cNvSpPr txBox="1"/>
          <p:nvPr/>
        </p:nvSpPr>
        <p:spPr>
          <a:xfrm>
            <a:off x="1801504" y="2022493"/>
            <a:ext cx="9044687" cy="4784329"/>
          </a:xfrm>
          <a:prstGeom prst="rect">
            <a:avLst/>
          </a:prstGeom>
          <a:noFill/>
          <a:ln>
            <a:noFill/>
          </a:ln>
        </p:spPr>
        <p:txBody>
          <a:bodyPr spcFirstLastPara="1" wrap="square" lIns="121900" tIns="121900" rIns="121900" bIns="121900" anchor="ctr" anchorCtr="0">
            <a:noAutofit/>
          </a:bodyPr>
          <a:lstStyle/>
          <a:p>
            <a:r>
              <a:rPr lang="es-AR" sz="4000" b="1" dirty="0">
                <a:solidFill>
                  <a:srgbClr val="0070C0"/>
                </a:solidFill>
                <a:latin typeface="Georgia"/>
                <a:ea typeface="Georgia"/>
                <a:cs typeface="Georgia"/>
                <a:sym typeface="Georgia"/>
              </a:rPr>
              <a:t>Spring </a:t>
            </a:r>
            <a:r>
              <a:rPr lang="es-ES" sz="4000" b="1" dirty="0">
                <a:solidFill>
                  <a:srgbClr val="0070C0"/>
                </a:solidFill>
                <a:latin typeface="Georgia"/>
                <a:ea typeface="Georgia"/>
                <a:cs typeface="Georgia"/>
              </a:rPr>
              <a:t>@</a:t>
            </a:r>
            <a:r>
              <a:rPr lang="es-ES" sz="4000" b="1" dirty="0" err="1">
                <a:solidFill>
                  <a:srgbClr val="0070C0"/>
                </a:solidFill>
                <a:latin typeface="Georgia"/>
                <a:ea typeface="Georgia"/>
                <a:cs typeface="Georgia"/>
              </a:rPr>
              <a:t>Component</a:t>
            </a:r>
            <a:r>
              <a:rPr lang="es-ES" sz="4000" b="1" dirty="0">
                <a:solidFill>
                  <a:srgbClr val="0070C0"/>
                </a:solidFill>
                <a:latin typeface="Georgia"/>
                <a:ea typeface="Georgia"/>
                <a:cs typeface="Georgia"/>
              </a:rPr>
              <a:t> , anotaciones y jerarquía</a:t>
            </a:r>
          </a:p>
          <a:p>
            <a:endParaRPr lang="es-AR" sz="4000" b="1" dirty="0">
              <a:solidFill>
                <a:srgbClr val="0070C0"/>
              </a:solidFill>
              <a:latin typeface="Georgia"/>
              <a:ea typeface="Georgia"/>
              <a:cs typeface="Georgia"/>
              <a:sym typeface="Georgia"/>
            </a:endParaRPr>
          </a:p>
          <a:p>
            <a:r>
              <a:rPr lang="es-AR" sz="4000" b="1" dirty="0" smtClean="0">
                <a:solidFill>
                  <a:srgbClr val="0070C0"/>
                </a:solidFill>
                <a:latin typeface="Georgia"/>
                <a:ea typeface="Georgia"/>
                <a:cs typeface="Georgia"/>
                <a:sym typeface="Georgia"/>
              </a:rPr>
              <a:t>Cuarta </a:t>
            </a:r>
            <a:r>
              <a:rPr lang="es-AR" sz="4000" b="1" dirty="0">
                <a:solidFill>
                  <a:srgbClr val="0070C0"/>
                </a:solidFill>
                <a:latin typeface="Georgia"/>
                <a:ea typeface="Georgia"/>
                <a:cs typeface="Georgia"/>
                <a:sym typeface="Georgia"/>
              </a:rPr>
              <a:t>Parte</a:t>
            </a:r>
            <a:endParaRPr lang="es-ES" sz="4000"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312534399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AR" sz="2400" b="1" dirty="0" smtClean="0">
                <a:latin typeface="Encode Sans" panose="020B0604020202020204"/>
                <a:ea typeface="Calibri" panose="020F0502020204030204" pitchFamily="34" charset="0"/>
                <a:sym typeface="Georgia"/>
              </a:rPr>
              <a:t>Spring </a:t>
            </a:r>
            <a:r>
              <a:rPr lang="es-ES" sz="2400" b="1" dirty="0">
                <a:latin typeface="Encode Sans" panose="020B0604020202020204"/>
                <a:ea typeface="Calibri" panose="020F0502020204030204" pitchFamily="34" charset="0"/>
              </a:rPr>
              <a:t>@</a:t>
            </a:r>
            <a:r>
              <a:rPr lang="es-ES" sz="2400" b="1" dirty="0" err="1">
                <a:latin typeface="Encode Sans" panose="020B0604020202020204"/>
                <a:ea typeface="Calibri" panose="020F0502020204030204" pitchFamily="34" charset="0"/>
              </a:rPr>
              <a:t>Component</a:t>
            </a:r>
            <a:r>
              <a:rPr lang="es-ES" sz="2400" b="1" dirty="0">
                <a:latin typeface="Encode Sans" panose="020B0604020202020204"/>
                <a:ea typeface="Calibri" panose="020F0502020204030204" pitchFamily="34" charset="0"/>
              </a:rPr>
              <a:t> , anotaciones y jerarquía</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1200329"/>
          </a:xfrm>
          <a:prstGeom prst="rect">
            <a:avLst/>
          </a:prstGeom>
        </p:spPr>
        <p:txBody>
          <a:bodyPr wrap="square">
            <a:spAutoFit/>
          </a:bodyPr>
          <a:lstStyle/>
          <a:p>
            <a:pPr marL="285750" indent="-285750">
              <a:buFont typeface="Arial" pitchFamily="34" charset="0"/>
              <a:buChar char="•"/>
            </a:pPr>
            <a:r>
              <a:rPr lang="es-ES" dirty="0"/>
              <a:t>Spring @</a:t>
            </a:r>
            <a:r>
              <a:rPr lang="es-ES" dirty="0" err="1"/>
              <a:t>Component</a:t>
            </a:r>
            <a:r>
              <a:rPr lang="es-ES" dirty="0"/>
              <a:t> es una de las anotaciones fundamentales de Spring Framework a la hora de dar de alta los distintos </a:t>
            </a:r>
            <a:r>
              <a:rPr lang="es-ES" dirty="0" err="1"/>
              <a:t>beans</a:t>
            </a:r>
            <a:r>
              <a:rPr lang="es-ES" dirty="0"/>
              <a:t> con su motor de inyección de dependencia. </a:t>
            </a:r>
            <a:endParaRPr lang="es-ES" dirty="0" smtClean="0"/>
          </a:p>
          <a:p>
            <a:pPr marL="285750" indent="-285750">
              <a:buFont typeface="Arial" pitchFamily="34" charset="0"/>
              <a:buChar char="•"/>
            </a:pPr>
            <a:endParaRPr lang="es-ES" dirty="0"/>
          </a:p>
          <a:p>
            <a:pPr marL="285750" indent="-285750">
              <a:buFont typeface="Arial" pitchFamily="34" charset="0"/>
              <a:buChar char="•"/>
            </a:pPr>
            <a:r>
              <a:rPr lang="es-ES" dirty="0" smtClean="0"/>
              <a:t>¿</a:t>
            </a:r>
            <a:r>
              <a:rPr lang="es-ES" dirty="0"/>
              <a:t>Para que sirve la anotación de @</a:t>
            </a:r>
            <a:r>
              <a:rPr lang="es-ES" dirty="0" err="1"/>
              <a:t>Component</a:t>
            </a:r>
            <a:r>
              <a:rPr lang="es-ES" dirty="0"/>
              <a:t>?.</a:t>
            </a:r>
            <a:endParaRPr lang="es-AR" dirty="0"/>
          </a:p>
        </p:txBody>
      </p:sp>
    </p:spTree>
    <p:extLst>
      <p:ext uri="{BB962C8B-B14F-4D97-AF65-F5344CB8AC3E}">
        <p14:creationId xmlns:p14="http://schemas.microsoft.com/office/powerpoint/2010/main" val="34878594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AR" sz="2400" b="1" dirty="0" smtClean="0">
                <a:latin typeface="Encode Sans" panose="020B0604020202020204"/>
                <a:ea typeface="Calibri" panose="020F0502020204030204" pitchFamily="34" charset="0"/>
                <a:sym typeface="Georgia"/>
              </a:rPr>
              <a:t>Spring </a:t>
            </a:r>
            <a:r>
              <a:rPr lang="es-ES" sz="2400" b="1" dirty="0">
                <a:latin typeface="Encode Sans" panose="020B0604020202020204"/>
                <a:ea typeface="Calibri" panose="020F0502020204030204" pitchFamily="34" charset="0"/>
              </a:rPr>
              <a:t>@</a:t>
            </a:r>
            <a:r>
              <a:rPr lang="es-ES" sz="2400" b="1" dirty="0" err="1" smtClean="0">
                <a:latin typeface="Encode Sans" panose="020B0604020202020204"/>
                <a:ea typeface="Calibri" panose="020F0502020204030204" pitchFamily="34" charset="0"/>
              </a:rPr>
              <a:t>Component</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2031325"/>
          </a:xfrm>
          <a:prstGeom prst="rect">
            <a:avLst/>
          </a:prstGeom>
        </p:spPr>
        <p:txBody>
          <a:bodyPr wrap="square">
            <a:spAutoFit/>
          </a:bodyPr>
          <a:lstStyle/>
          <a:p>
            <a:pPr marL="285750" indent="-285750">
              <a:buFont typeface="Arial" pitchFamily="34" charset="0"/>
              <a:buChar char="•"/>
            </a:pPr>
            <a:r>
              <a:rPr lang="es-ES" dirty="0"/>
              <a:t>A nivel de Spring Framework esta anotación simplemente registra un </a:t>
            </a:r>
            <a:r>
              <a:rPr lang="es-ES" dirty="0" err="1"/>
              <a:t>bean</a:t>
            </a:r>
            <a:r>
              <a:rPr lang="es-ES" dirty="0"/>
              <a:t> dentro del </a:t>
            </a:r>
            <a:r>
              <a:rPr lang="es-ES" dirty="0" err="1"/>
              <a:t>framework</a:t>
            </a:r>
            <a:r>
              <a:rPr lang="es-ES" dirty="0"/>
              <a:t> sin mayor efecto . </a:t>
            </a:r>
            <a:endParaRPr lang="es-ES" dirty="0" smtClean="0"/>
          </a:p>
          <a:p>
            <a:pPr marL="285750" indent="-285750">
              <a:buFont typeface="Arial" pitchFamily="34" charset="0"/>
              <a:buChar char="•"/>
            </a:pPr>
            <a:endParaRPr lang="es-ES" dirty="0"/>
          </a:p>
          <a:p>
            <a:pPr marL="285750" indent="-285750">
              <a:buFont typeface="Arial" pitchFamily="34" charset="0"/>
              <a:buChar char="•"/>
            </a:pPr>
            <a:r>
              <a:rPr lang="es-ES" dirty="0" smtClean="0"/>
              <a:t>Es </a:t>
            </a:r>
            <a:r>
              <a:rPr lang="es-ES" dirty="0"/>
              <a:t>decir si disponemos de una clase como la siguiente</a:t>
            </a:r>
            <a:r>
              <a:rPr lang="es-ES" dirty="0" smtClean="0"/>
              <a:t>:</a:t>
            </a:r>
          </a:p>
          <a:p>
            <a:pPr marL="285750" indent="-285750">
              <a:buFont typeface="Arial" pitchFamily="34" charset="0"/>
              <a:buChar char="•"/>
            </a:pPr>
            <a:endParaRPr lang="es-ES" dirty="0"/>
          </a:p>
          <a:p>
            <a:pPr marL="285750" indent="-285750">
              <a:buFont typeface="Arial" pitchFamily="34" charset="0"/>
              <a:buChar char="•"/>
            </a:pPr>
            <a:r>
              <a:rPr lang="es-ES" dirty="0"/>
              <a:t>Spring la registrará dentro del </a:t>
            </a:r>
            <a:r>
              <a:rPr lang="es-ES" dirty="0" err="1"/>
              <a:t>framework</a:t>
            </a:r>
            <a:r>
              <a:rPr lang="es-ES" dirty="0"/>
              <a:t> </a:t>
            </a:r>
            <a:r>
              <a:rPr lang="es-ES" dirty="0" smtClean="0"/>
              <a:t>y</a:t>
            </a:r>
          </a:p>
          <a:p>
            <a:r>
              <a:rPr lang="es-ES" dirty="0" smtClean="0"/>
              <a:t>podremos </a:t>
            </a:r>
            <a:r>
              <a:rPr lang="es-ES" dirty="0"/>
              <a:t>hacer uso de ella sin problema.</a:t>
            </a:r>
            <a:endParaRPr lang="es-ES" dirty="0" smtClean="0"/>
          </a:p>
        </p:txBody>
      </p:sp>
      <p:pic>
        <p:nvPicPr>
          <p:cNvPr id="819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62230" y="3010708"/>
            <a:ext cx="3334740" cy="964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79726" y="3974970"/>
            <a:ext cx="6304214" cy="2617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266619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AR" sz="2400" b="1" dirty="0" smtClean="0">
                <a:latin typeface="Encode Sans" panose="020B0604020202020204"/>
                <a:ea typeface="Calibri" panose="020F0502020204030204" pitchFamily="34" charset="0"/>
              </a:rPr>
              <a:t>Spring </a:t>
            </a:r>
            <a:r>
              <a:rPr lang="es-AR" sz="2400" b="1" dirty="0">
                <a:latin typeface="Encode Sans" panose="020B0604020202020204"/>
                <a:ea typeface="Calibri" panose="020F0502020204030204" pitchFamily="34" charset="0"/>
              </a:rPr>
              <a:t>y Jerarquías</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646331"/>
          </a:xfrm>
          <a:prstGeom prst="rect">
            <a:avLst/>
          </a:prstGeom>
        </p:spPr>
        <p:txBody>
          <a:bodyPr wrap="square">
            <a:spAutoFit/>
          </a:bodyPr>
          <a:lstStyle/>
          <a:p>
            <a:pPr marL="285750" indent="-285750">
              <a:buFont typeface="Arial" pitchFamily="34" charset="0"/>
              <a:buChar char="•"/>
            </a:pPr>
            <a:r>
              <a:rPr lang="es-ES" dirty="0"/>
              <a:t>Ahora bien esta anotación es la anotación padre de todas las anotaciones especificas que el </a:t>
            </a:r>
            <a:r>
              <a:rPr lang="es-ES" dirty="0" err="1"/>
              <a:t>framework</a:t>
            </a:r>
            <a:r>
              <a:rPr lang="es-ES" dirty="0"/>
              <a:t> soporta a nivel de inyección de dependencia como son @</a:t>
            </a:r>
            <a:r>
              <a:rPr lang="es-ES" dirty="0" err="1"/>
              <a:t>Service</a:t>
            </a:r>
            <a:r>
              <a:rPr lang="es-ES" dirty="0"/>
              <a:t> @</a:t>
            </a:r>
            <a:r>
              <a:rPr lang="es-ES" dirty="0" err="1"/>
              <a:t>Repository</a:t>
            </a:r>
            <a:r>
              <a:rPr lang="es-ES" dirty="0"/>
              <a:t> y @</a:t>
            </a:r>
            <a:r>
              <a:rPr lang="es-ES" dirty="0" err="1" smtClean="0"/>
              <a:t>Controller</a:t>
            </a:r>
            <a:endParaRPr lang="es-ES" dirty="0"/>
          </a:p>
        </p:txBody>
      </p:sp>
      <p:pic>
        <p:nvPicPr>
          <p:cNvPr id="92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81253" y="3352253"/>
            <a:ext cx="5693538" cy="33667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91997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AR" sz="2400" b="1" dirty="0" smtClean="0">
                <a:latin typeface="Encode Sans" panose="020B0604020202020204"/>
                <a:ea typeface="Calibri" panose="020F0502020204030204" pitchFamily="34" charset="0"/>
              </a:rPr>
              <a:t>Spring </a:t>
            </a:r>
            <a:r>
              <a:rPr lang="es-AR" sz="2400" b="1" dirty="0">
                <a:latin typeface="Encode Sans" panose="020B0604020202020204"/>
                <a:ea typeface="Calibri" panose="020F0502020204030204" pitchFamily="34" charset="0"/>
              </a:rPr>
              <a:t>y Jerarquías</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923330"/>
          </a:xfrm>
          <a:prstGeom prst="rect">
            <a:avLst/>
          </a:prstGeom>
        </p:spPr>
        <p:txBody>
          <a:bodyPr wrap="square">
            <a:spAutoFit/>
          </a:bodyPr>
          <a:lstStyle/>
          <a:p>
            <a:pPr marL="285750" indent="-285750">
              <a:buFont typeface="Arial" pitchFamily="34" charset="0"/>
              <a:buChar char="•"/>
            </a:pPr>
            <a:r>
              <a:rPr lang="es-ES" b="1" dirty="0"/>
              <a:t>@</a:t>
            </a:r>
            <a:r>
              <a:rPr lang="es-ES" b="1" dirty="0" err="1"/>
              <a:t>Repository</a:t>
            </a:r>
            <a:r>
              <a:rPr lang="es-ES" b="1" dirty="0"/>
              <a:t> : </a:t>
            </a:r>
            <a:r>
              <a:rPr lang="es-ES" dirty="0"/>
              <a:t>Esta anotación registra un componente a nivel del motor de inyección de dependencia y realiza la traducción automática de las excepciones que se produzcan de acceso a datos a la hora de que la clase acceda a cualquier repositorio de información:</a:t>
            </a:r>
          </a:p>
        </p:txBody>
      </p:sp>
      <p:pic>
        <p:nvPicPr>
          <p:cNvPr id="1024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2027" y="3593627"/>
            <a:ext cx="5380531" cy="1631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411" y="4572742"/>
            <a:ext cx="5010150" cy="17568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483967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AR" sz="2400" b="1" dirty="0" smtClean="0">
                <a:latin typeface="Encode Sans" panose="020B0604020202020204"/>
                <a:ea typeface="Calibri" panose="020F0502020204030204" pitchFamily="34" charset="0"/>
              </a:rPr>
              <a:t>Spring </a:t>
            </a:r>
            <a:r>
              <a:rPr lang="es-AR" sz="2400" b="1" dirty="0">
                <a:latin typeface="Encode Sans" panose="020B0604020202020204"/>
                <a:ea typeface="Calibri" panose="020F0502020204030204" pitchFamily="34" charset="0"/>
              </a:rPr>
              <a:t>y Jerarquías</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1477328"/>
          </a:xfrm>
          <a:prstGeom prst="rect">
            <a:avLst/>
          </a:prstGeom>
        </p:spPr>
        <p:txBody>
          <a:bodyPr wrap="square">
            <a:spAutoFit/>
          </a:bodyPr>
          <a:lstStyle/>
          <a:p>
            <a:pPr marL="285750" indent="-285750">
              <a:buFont typeface="Arial" pitchFamily="34" charset="0"/>
              <a:buChar char="•"/>
            </a:pPr>
            <a:r>
              <a:rPr lang="es-ES" b="1" dirty="0"/>
              <a:t>@</a:t>
            </a:r>
            <a:r>
              <a:rPr lang="es-ES" b="1" dirty="0" err="1"/>
              <a:t>Service</a:t>
            </a:r>
            <a:r>
              <a:rPr lang="es-ES" b="1" dirty="0"/>
              <a:t> : </a:t>
            </a:r>
            <a:r>
              <a:rPr lang="es-ES" dirty="0"/>
              <a:t>Es la anotación que más se parece a @</a:t>
            </a:r>
            <a:r>
              <a:rPr lang="es-ES" dirty="0" err="1"/>
              <a:t>Component</a:t>
            </a:r>
            <a:r>
              <a:rPr lang="es-ES" dirty="0"/>
              <a:t> ya que se encarga de registrar el Componente y permitir que se inyecten otras clases a él . Habitualmente un Servicio se relaciona con varios repositorios por composición</a:t>
            </a:r>
            <a:r>
              <a:rPr lang="es-ES" dirty="0" smtClean="0"/>
              <a:t>:</a:t>
            </a:r>
          </a:p>
          <a:p>
            <a:pPr marL="285750" indent="-285750">
              <a:buFont typeface="Arial" pitchFamily="34" charset="0"/>
              <a:buChar char="•"/>
            </a:pPr>
            <a:endParaRPr lang="es-ES" dirty="0"/>
          </a:p>
          <a:p>
            <a:pPr marL="285750" indent="-285750">
              <a:buFont typeface="Arial" pitchFamily="34" charset="0"/>
              <a:buChar char="•"/>
            </a:pPr>
            <a:r>
              <a:rPr lang="es-ES" dirty="0"/>
              <a:t>Recordemos que la anotación </a:t>
            </a:r>
            <a:r>
              <a:rPr lang="es-ES" dirty="0">
                <a:hlinkClick r:id="rId4"/>
              </a:rPr>
              <a:t>@</a:t>
            </a:r>
            <a:r>
              <a:rPr lang="es-ES" dirty="0" err="1">
                <a:hlinkClick r:id="rId4"/>
              </a:rPr>
              <a:t>Autowired</a:t>
            </a:r>
            <a:r>
              <a:rPr lang="es-ES" dirty="0"/>
              <a:t> sirve para ligar los diferentes componentes entre ellos</a:t>
            </a:r>
          </a:p>
        </p:txBody>
      </p:sp>
      <p:pic>
        <p:nvPicPr>
          <p:cNvPr id="1126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4177" y="4348099"/>
            <a:ext cx="5328135" cy="2067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48240" y="4129997"/>
            <a:ext cx="5545777" cy="261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696865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AR" sz="2400" b="1" dirty="0" smtClean="0">
                <a:latin typeface="Encode Sans" panose="020B0604020202020204"/>
                <a:ea typeface="Calibri" panose="020F0502020204030204" pitchFamily="34" charset="0"/>
              </a:rPr>
              <a:t>Spring </a:t>
            </a:r>
            <a:r>
              <a:rPr lang="es-AR" sz="2400" b="1" dirty="0">
                <a:latin typeface="Encode Sans" panose="020B0604020202020204"/>
                <a:ea typeface="Calibri" panose="020F0502020204030204" pitchFamily="34" charset="0"/>
              </a:rPr>
              <a:t>y Jerarquías</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3970318"/>
          </a:xfrm>
          <a:prstGeom prst="rect">
            <a:avLst/>
          </a:prstGeom>
        </p:spPr>
        <p:txBody>
          <a:bodyPr wrap="square">
            <a:spAutoFit/>
          </a:bodyPr>
          <a:lstStyle/>
          <a:p>
            <a:pPr marL="285750" indent="-285750">
              <a:buFont typeface="Arial" pitchFamily="34" charset="0"/>
              <a:buChar char="•"/>
            </a:pPr>
            <a:r>
              <a:rPr lang="es-ES" b="1" dirty="0"/>
              <a:t>@</a:t>
            </a:r>
            <a:r>
              <a:rPr lang="es-ES" b="1" dirty="0" err="1"/>
              <a:t>Controller</a:t>
            </a:r>
            <a:r>
              <a:rPr lang="es-ES" b="1" dirty="0"/>
              <a:t> : </a:t>
            </a:r>
            <a:r>
              <a:rPr lang="es-ES" dirty="0"/>
              <a:t>Esta anotación sirve para registrar los controladores que son los encargados de enlazarnos con la capa de presentación en el modelo MVC y de registrar las diferentes URLS a las que el componente responde a través de los diferentes @</a:t>
            </a:r>
            <a:r>
              <a:rPr lang="es-ES" dirty="0" err="1"/>
              <a:t>RequestMappings</a:t>
            </a:r>
            <a:r>
              <a:rPr lang="es-ES" dirty="0" smtClean="0"/>
              <a:t>.</a:t>
            </a:r>
          </a:p>
          <a:p>
            <a:pPr marL="285750" indent="-285750">
              <a:buFont typeface="Arial" pitchFamily="34" charset="0"/>
              <a:buChar char="•"/>
            </a:pPr>
            <a:endParaRPr lang="es-ES" dirty="0"/>
          </a:p>
          <a:p>
            <a:pPr marL="285750" indent="-285750">
              <a:buFont typeface="Arial" pitchFamily="34" charset="0"/>
              <a:buChar char="•"/>
            </a:pPr>
            <a:endParaRPr lang="es-ES" dirty="0" smtClean="0"/>
          </a:p>
          <a:p>
            <a:pPr marL="285750" indent="-285750">
              <a:buFont typeface="Arial" pitchFamily="34" charset="0"/>
              <a:buChar char="•"/>
            </a:pPr>
            <a:endParaRPr lang="es-ES" dirty="0"/>
          </a:p>
          <a:p>
            <a:pPr marL="285750" indent="-285750">
              <a:buFont typeface="Arial" pitchFamily="34" charset="0"/>
              <a:buChar char="•"/>
            </a:pPr>
            <a:endParaRPr lang="es-ES" dirty="0" smtClean="0"/>
          </a:p>
          <a:p>
            <a:pPr marL="285750" indent="-285750">
              <a:buFont typeface="Arial" pitchFamily="34" charset="0"/>
              <a:buChar char="•"/>
            </a:pPr>
            <a:endParaRPr lang="es-ES" dirty="0"/>
          </a:p>
          <a:p>
            <a:pPr marL="285750" indent="-285750">
              <a:buFont typeface="Arial" pitchFamily="34" charset="0"/>
              <a:buChar char="•"/>
            </a:pPr>
            <a:endParaRPr lang="es-ES" dirty="0" smtClean="0"/>
          </a:p>
          <a:p>
            <a:pPr marL="285750" indent="-285750">
              <a:buFont typeface="Arial" pitchFamily="34" charset="0"/>
              <a:buChar char="•"/>
            </a:pPr>
            <a:endParaRPr lang="es-ES" dirty="0" smtClean="0"/>
          </a:p>
          <a:p>
            <a:pPr marL="285750" indent="-285750">
              <a:buFont typeface="Arial" pitchFamily="34" charset="0"/>
              <a:buChar char="•"/>
            </a:pPr>
            <a:endParaRPr lang="es-ES" dirty="0"/>
          </a:p>
          <a:p>
            <a:pPr marL="285750" indent="-285750">
              <a:buFont typeface="Arial" pitchFamily="34" charset="0"/>
              <a:buChar char="•"/>
            </a:pPr>
            <a:endParaRPr lang="es-ES" dirty="0" smtClean="0"/>
          </a:p>
          <a:p>
            <a:pPr marL="285750" indent="-285750">
              <a:buFont typeface="Arial" pitchFamily="34" charset="0"/>
              <a:buChar char="•"/>
            </a:pPr>
            <a:r>
              <a:rPr lang="es-ES" b="1" dirty="0"/>
              <a:t>@</a:t>
            </a:r>
            <a:r>
              <a:rPr lang="es-ES" b="1" dirty="0" err="1"/>
              <a:t>RestController</a:t>
            </a:r>
            <a:r>
              <a:rPr lang="es-ES" b="1" dirty="0"/>
              <a:t> :</a:t>
            </a:r>
            <a:r>
              <a:rPr lang="es-ES" dirty="0"/>
              <a:t> En el caso de la anotación de @</a:t>
            </a:r>
            <a:r>
              <a:rPr lang="es-ES" dirty="0" err="1"/>
              <a:t>Controler</a:t>
            </a:r>
            <a:r>
              <a:rPr lang="es-ES" dirty="0"/>
              <a:t> existen otra anotación más especializada que es la de @</a:t>
            </a:r>
            <a:r>
              <a:rPr lang="es-ES" dirty="0" err="1"/>
              <a:t>RestController</a:t>
            </a:r>
            <a:r>
              <a:rPr lang="es-ES" dirty="0"/>
              <a:t> en el caso de que deseemos publicar servicios REST.</a:t>
            </a:r>
          </a:p>
        </p:txBody>
      </p:sp>
      <p:pic>
        <p:nvPicPr>
          <p:cNvPr id="1126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2341" y="3618907"/>
            <a:ext cx="8185025" cy="2211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162627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a16="http://schemas.microsoft.com/office/drawing/2014/main" xmlns="" id="{42586C2D-89D1-4B8A-9675-E07D4898191B}"/>
              </a:ext>
            </a:extLst>
          </p:cNvPr>
          <p:cNvSpPr txBox="1"/>
          <p:nvPr/>
        </p:nvSpPr>
        <p:spPr>
          <a:xfrm>
            <a:off x="1801504" y="2022493"/>
            <a:ext cx="9044687" cy="4784329"/>
          </a:xfrm>
          <a:prstGeom prst="rect">
            <a:avLst/>
          </a:prstGeom>
          <a:noFill/>
          <a:ln>
            <a:noFill/>
          </a:ln>
        </p:spPr>
        <p:txBody>
          <a:bodyPr spcFirstLastPara="1" wrap="square" lIns="121900" tIns="121900" rIns="121900" bIns="121900" anchor="ctr" anchorCtr="0">
            <a:noAutofit/>
          </a:bodyPr>
          <a:lstStyle/>
          <a:p>
            <a:r>
              <a:rPr lang="es-AR" sz="4000" b="1" dirty="0" smtClean="0">
                <a:solidFill>
                  <a:srgbClr val="0070C0"/>
                </a:solidFill>
                <a:latin typeface="Georgia"/>
                <a:ea typeface="Georgia"/>
                <a:cs typeface="Georgia"/>
              </a:rPr>
              <a:t>Spring </a:t>
            </a:r>
            <a:r>
              <a:rPr lang="es-AR" sz="4000" b="1" dirty="0" err="1">
                <a:solidFill>
                  <a:srgbClr val="0070C0"/>
                </a:solidFill>
                <a:latin typeface="Georgia"/>
                <a:ea typeface="Georgia"/>
                <a:cs typeface="Georgia"/>
              </a:rPr>
              <a:t>GetMapping</a:t>
            </a:r>
            <a:r>
              <a:rPr lang="es-AR" sz="4000" b="1" dirty="0">
                <a:solidFill>
                  <a:srgbClr val="0070C0"/>
                </a:solidFill>
                <a:latin typeface="Georgia"/>
                <a:ea typeface="Georgia"/>
                <a:cs typeface="Georgia"/>
              </a:rPr>
              <a:t> </a:t>
            </a:r>
            <a:r>
              <a:rPr lang="es-AR" sz="4000" b="1" dirty="0" smtClean="0">
                <a:solidFill>
                  <a:srgbClr val="0070C0"/>
                </a:solidFill>
                <a:latin typeface="Georgia"/>
                <a:ea typeface="Georgia"/>
                <a:cs typeface="Georgia"/>
              </a:rPr>
              <a:t>, </a:t>
            </a:r>
            <a:r>
              <a:rPr lang="es-AR" sz="4000" b="1" dirty="0" err="1" smtClean="0">
                <a:solidFill>
                  <a:srgbClr val="0070C0"/>
                </a:solidFill>
                <a:latin typeface="Georgia"/>
                <a:ea typeface="Georgia"/>
                <a:cs typeface="Georgia"/>
              </a:rPr>
              <a:t>PostMapping</a:t>
            </a:r>
            <a:r>
              <a:rPr lang="es-AR" sz="4000" b="1" dirty="0" smtClean="0">
                <a:solidFill>
                  <a:srgbClr val="0070C0"/>
                </a:solidFill>
                <a:latin typeface="Georgia"/>
                <a:ea typeface="Georgia"/>
                <a:cs typeface="Georgia"/>
              </a:rPr>
              <a:t> </a:t>
            </a:r>
            <a:r>
              <a:rPr lang="es-AR" sz="4000" b="1" dirty="0" err="1">
                <a:solidFill>
                  <a:srgbClr val="0070C0"/>
                </a:solidFill>
                <a:latin typeface="Georgia"/>
                <a:ea typeface="Georgia"/>
                <a:cs typeface="Georgia"/>
              </a:rPr>
              <a:t>etc</a:t>
            </a:r>
            <a:endParaRPr lang="es-AR" sz="4000" b="1" dirty="0">
              <a:solidFill>
                <a:srgbClr val="0070C0"/>
              </a:solidFill>
              <a:latin typeface="Georgia"/>
              <a:ea typeface="Georgia"/>
              <a:cs typeface="Georgia"/>
            </a:endParaRPr>
          </a:p>
          <a:p>
            <a:endParaRPr lang="es-ES" sz="4000" b="1" dirty="0">
              <a:solidFill>
                <a:srgbClr val="0070C0"/>
              </a:solidFill>
              <a:latin typeface="Georgia"/>
              <a:ea typeface="Georgia"/>
              <a:cs typeface="Georgia"/>
            </a:endParaRPr>
          </a:p>
          <a:p>
            <a:r>
              <a:rPr lang="es-ES" sz="4000" b="1" dirty="0" smtClean="0">
                <a:solidFill>
                  <a:srgbClr val="0070C0"/>
                </a:solidFill>
                <a:latin typeface="Georgia"/>
                <a:ea typeface="Georgia"/>
                <a:cs typeface="Georgia"/>
                <a:sym typeface="Georgia"/>
              </a:rPr>
              <a:t>Quinta </a:t>
            </a:r>
            <a:r>
              <a:rPr lang="es-AR" sz="4000" b="1" dirty="0" smtClean="0">
                <a:solidFill>
                  <a:srgbClr val="0070C0"/>
                </a:solidFill>
                <a:latin typeface="Georgia"/>
                <a:ea typeface="Georgia"/>
                <a:cs typeface="Georgia"/>
                <a:sym typeface="Georgia"/>
              </a:rPr>
              <a:t>Parte</a:t>
            </a:r>
            <a:endParaRPr lang="es-ES" sz="4000"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389722133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AR" sz="2400" b="1" dirty="0" smtClean="0">
                <a:latin typeface="Encode Sans" panose="020B0604020202020204"/>
                <a:ea typeface="Calibri" panose="020F0502020204030204" pitchFamily="34" charset="0"/>
              </a:rPr>
              <a:t>Spring </a:t>
            </a:r>
            <a:r>
              <a:rPr lang="es-AR" sz="2400" b="1" dirty="0" err="1">
                <a:latin typeface="Encode Sans" panose="020B0604020202020204"/>
                <a:ea typeface="Calibri" panose="020F0502020204030204" pitchFamily="34" charset="0"/>
              </a:rPr>
              <a:t>GetMapping</a:t>
            </a:r>
            <a:r>
              <a:rPr lang="es-AR" sz="2400" b="1" dirty="0">
                <a:latin typeface="Encode Sans" panose="020B0604020202020204"/>
                <a:ea typeface="Calibri" panose="020F0502020204030204" pitchFamily="34" charset="0"/>
              </a:rPr>
              <a:t> , </a:t>
            </a:r>
            <a:r>
              <a:rPr lang="es-AR" sz="2400" b="1" dirty="0" err="1">
                <a:latin typeface="Encode Sans" panose="020B0604020202020204"/>
                <a:ea typeface="Calibri" panose="020F0502020204030204" pitchFamily="34" charset="0"/>
              </a:rPr>
              <a:t>PostMapping</a:t>
            </a:r>
            <a:r>
              <a:rPr lang="es-AR" sz="2400" b="1" dirty="0">
                <a:latin typeface="Encode Sans" panose="020B0604020202020204"/>
                <a:ea typeface="Calibri" panose="020F0502020204030204" pitchFamily="34" charset="0"/>
              </a:rPr>
              <a:t> </a:t>
            </a:r>
            <a:r>
              <a:rPr lang="es-AR" sz="2400" b="1" dirty="0" err="1">
                <a:latin typeface="Encode Sans" panose="020B0604020202020204"/>
                <a:ea typeface="Calibri" panose="020F0502020204030204" pitchFamily="34" charset="0"/>
              </a:rPr>
              <a:t>etc</a:t>
            </a:r>
            <a:endParaRPr lang="es-AR"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923330"/>
          </a:xfrm>
          <a:prstGeom prst="rect">
            <a:avLst/>
          </a:prstGeom>
        </p:spPr>
        <p:txBody>
          <a:bodyPr wrap="square">
            <a:spAutoFit/>
          </a:bodyPr>
          <a:lstStyle/>
          <a:p>
            <a:pPr marL="285750" indent="-285750">
              <a:buFont typeface="Arial" pitchFamily="34" charset="0"/>
              <a:buChar char="•"/>
            </a:pPr>
            <a:r>
              <a:rPr lang="es-ES" b="1" dirty="0"/>
              <a:t>Spring </a:t>
            </a:r>
            <a:r>
              <a:rPr lang="es-ES" b="1" dirty="0" err="1"/>
              <a:t>GetMapping</a:t>
            </a:r>
            <a:r>
              <a:rPr lang="es-ES" dirty="0"/>
              <a:t> es una anotación de Spring Framework </a:t>
            </a:r>
            <a:r>
              <a:rPr lang="es-ES" b="1" dirty="0"/>
              <a:t>que aparece con Spring 4.3</a:t>
            </a:r>
            <a:r>
              <a:rPr lang="es-ES" dirty="0"/>
              <a:t> y nos permite simplificar el manejo de los diferentes</a:t>
            </a:r>
            <a:r>
              <a:rPr lang="es-ES" b="1" dirty="0"/>
              <a:t> métodos de Spring MVC y los @</a:t>
            </a:r>
            <a:r>
              <a:rPr lang="es-ES" b="1" dirty="0" err="1"/>
              <a:t>RequestMappings</a:t>
            </a:r>
            <a:r>
              <a:rPr lang="es-ES" b="1" dirty="0"/>
              <a:t> que a veces se hacen un poco pesados</a:t>
            </a:r>
            <a:r>
              <a:rPr lang="es-ES" dirty="0"/>
              <a:t>.</a:t>
            </a:r>
          </a:p>
        </p:txBody>
      </p:sp>
      <p:pic>
        <p:nvPicPr>
          <p:cNvPr id="1229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75383" y="3429000"/>
            <a:ext cx="4902361" cy="3275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758664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AR" sz="2400" b="1" dirty="0" smtClean="0">
                <a:latin typeface="Encode Sans" panose="020B0604020202020204"/>
                <a:ea typeface="Calibri" panose="020F0502020204030204" pitchFamily="34" charset="0"/>
              </a:rPr>
              <a:t>Spring </a:t>
            </a:r>
            <a:r>
              <a:rPr lang="es-AR" sz="2400" b="1" dirty="0" err="1">
                <a:latin typeface="Encode Sans" panose="020B0604020202020204"/>
                <a:ea typeface="Calibri" panose="020F0502020204030204" pitchFamily="34" charset="0"/>
              </a:rPr>
              <a:t>GetMapping</a:t>
            </a:r>
            <a:r>
              <a:rPr lang="es-AR" sz="2400" b="1" dirty="0">
                <a:latin typeface="Encode Sans" panose="020B0604020202020204"/>
                <a:ea typeface="Calibri" panose="020F0502020204030204" pitchFamily="34" charset="0"/>
              </a:rPr>
              <a:t> , </a:t>
            </a:r>
            <a:r>
              <a:rPr lang="es-AR" sz="2400" b="1" dirty="0" err="1">
                <a:latin typeface="Encode Sans" panose="020B0604020202020204"/>
                <a:ea typeface="Calibri" panose="020F0502020204030204" pitchFamily="34" charset="0"/>
              </a:rPr>
              <a:t>PostMapping</a:t>
            </a:r>
            <a:r>
              <a:rPr lang="es-AR" sz="2400" b="1" dirty="0">
                <a:latin typeface="Encode Sans" panose="020B0604020202020204"/>
                <a:ea typeface="Calibri" panose="020F0502020204030204" pitchFamily="34" charset="0"/>
              </a:rPr>
              <a:t> </a:t>
            </a:r>
            <a:r>
              <a:rPr lang="es-AR" sz="2400" b="1" dirty="0" err="1">
                <a:latin typeface="Encode Sans" panose="020B0604020202020204"/>
                <a:ea typeface="Calibri" panose="020F0502020204030204" pitchFamily="34" charset="0"/>
              </a:rPr>
              <a:t>etc</a:t>
            </a:r>
            <a:endParaRPr lang="es-AR"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2585323"/>
          </a:xfrm>
          <a:prstGeom prst="rect">
            <a:avLst/>
          </a:prstGeom>
        </p:spPr>
        <p:txBody>
          <a:bodyPr wrap="square">
            <a:spAutoFit/>
          </a:bodyPr>
          <a:lstStyle/>
          <a:p>
            <a:pPr marL="285750" indent="-285750">
              <a:buFont typeface="Arial" pitchFamily="34" charset="0"/>
              <a:buChar char="•"/>
            </a:pPr>
            <a:r>
              <a:rPr lang="es-ES" dirty="0"/>
              <a:t>A partir de ahora nosotros podemos usar estas anotaciones </a:t>
            </a:r>
            <a:r>
              <a:rPr lang="es-ES" b="1" dirty="0"/>
              <a:t>y simplificar el código.</a:t>
            </a:r>
            <a:r>
              <a:rPr lang="es-ES" dirty="0"/>
              <a:t> </a:t>
            </a:r>
            <a:endParaRPr lang="es-ES" dirty="0" smtClean="0"/>
          </a:p>
          <a:p>
            <a:pPr marL="285750" indent="-285750">
              <a:buFont typeface="Arial" pitchFamily="34" charset="0"/>
              <a:buChar char="•"/>
            </a:pPr>
            <a:endParaRPr lang="es-ES" dirty="0"/>
          </a:p>
          <a:p>
            <a:pPr marL="285750" indent="-285750">
              <a:buFont typeface="Arial" pitchFamily="34" charset="0"/>
              <a:buChar char="•"/>
            </a:pPr>
            <a:r>
              <a:rPr lang="es-ES" dirty="0" smtClean="0"/>
              <a:t>Para </a:t>
            </a:r>
            <a:r>
              <a:rPr lang="es-ES" dirty="0"/>
              <a:t>ello vamos a construir un ejemplo utilizando </a:t>
            </a:r>
            <a:r>
              <a:rPr lang="es-ES" b="1" dirty="0"/>
              <a:t>Spring </a:t>
            </a:r>
            <a:r>
              <a:rPr lang="es-ES" b="1" dirty="0" err="1"/>
              <a:t>Boot</a:t>
            </a:r>
            <a:r>
              <a:rPr lang="es-ES" b="1" dirty="0"/>
              <a:t> y con las dependencias de MVC y </a:t>
            </a:r>
            <a:r>
              <a:rPr lang="es-ES" b="1" dirty="0" err="1"/>
              <a:t>Thymeleaf</a:t>
            </a:r>
            <a:r>
              <a:rPr lang="es-ES" b="1" dirty="0" smtClean="0"/>
              <a:t>.</a:t>
            </a:r>
          </a:p>
          <a:p>
            <a:pPr marL="285750" indent="-285750">
              <a:buFont typeface="Arial" pitchFamily="34" charset="0"/>
              <a:buChar char="•"/>
            </a:pPr>
            <a:endParaRPr lang="es-ES" b="1" dirty="0"/>
          </a:p>
          <a:p>
            <a:pPr marL="285750" indent="-285750">
              <a:buFont typeface="Arial" pitchFamily="34" charset="0"/>
              <a:buChar char="•"/>
            </a:pPr>
            <a:r>
              <a:rPr lang="es-ES" dirty="0" smtClean="0"/>
              <a:t>Realizar los pasos de la </a:t>
            </a:r>
            <a:r>
              <a:rPr lang="es-ES" dirty="0" err="1" smtClean="0"/>
              <a:t>ppt</a:t>
            </a:r>
            <a:r>
              <a:rPr lang="es-ES" dirty="0" smtClean="0"/>
              <a:t> 7 a la 20</a:t>
            </a:r>
          </a:p>
          <a:p>
            <a:pPr marL="285750" indent="-285750">
              <a:buFont typeface="Arial" pitchFamily="34" charset="0"/>
              <a:buChar char="•"/>
            </a:pPr>
            <a:endParaRPr lang="es-ES" dirty="0"/>
          </a:p>
          <a:p>
            <a:pPr marL="285750" indent="-285750">
              <a:buFont typeface="Arial" pitchFamily="34" charset="0"/>
              <a:buChar char="•"/>
            </a:pPr>
            <a:r>
              <a:rPr lang="es-ES" dirty="0" smtClean="0"/>
              <a:t>Una </a:t>
            </a:r>
            <a:r>
              <a:rPr lang="es-ES" dirty="0"/>
              <a:t>vez tenemos </a:t>
            </a:r>
            <a:r>
              <a:rPr lang="es-ES" dirty="0" smtClean="0"/>
              <a:t>el proyecto generado y nuestro archivo index.html pasaremos al </a:t>
            </a:r>
            <a:r>
              <a:rPr lang="es-ES" dirty="0"/>
              <a:t>siguiente </a:t>
            </a:r>
            <a:r>
              <a:rPr lang="es-ES" dirty="0" smtClean="0"/>
              <a:t>paso que </a:t>
            </a:r>
            <a:r>
              <a:rPr lang="es-ES" dirty="0"/>
              <a:t>es dar de alta un </a:t>
            </a:r>
            <a:r>
              <a:rPr lang="es-ES" dirty="0" smtClean="0"/>
              <a:t>controlador al que llamaremos </a:t>
            </a:r>
            <a:r>
              <a:rPr lang="es-AR" dirty="0" err="1" smtClean="0"/>
              <a:t>HolaController</a:t>
            </a:r>
            <a:r>
              <a:rPr lang="es-ES" dirty="0" smtClean="0"/>
              <a:t>.java</a:t>
            </a:r>
            <a:endParaRPr lang="es-AR" dirty="0"/>
          </a:p>
        </p:txBody>
      </p:sp>
      <p:pic>
        <p:nvPicPr>
          <p:cNvPr id="133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85966" y="5148742"/>
            <a:ext cx="3958626" cy="1504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13305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AR" sz="2400" b="1" dirty="0" smtClean="0">
                <a:latin typeface="Encode Sans" panose="020B0604020202020204"/>
                <a:ea typeface="Calibri" panose="020F0502020204030204" pitchFamily="34" charset="0"/>
              </a:rPr>
              <a:t>Spring </a:t>
            </a:r>
            <a:r>
              <a:rPr lang="es-AR" sz="2400" b="1" dirty="0" err="1">
                <a:latin typeface="Encode Sans" panose="020B0604020202020204"/>
                <a:ea typeface="Calibri" panose="020F0502020204030204" pitchFamily="34" charset="0"/>
              </a:rPr>
              <a:t>GetMapping</a:t>
            </a:r>
            <a:r>
              <a:rPr lang="es-AR" sz="2400" b="1" dirty="0">
                <a:latin typeface="Encode Sans" panose="020B0604020202020204"/>
                <a:ea typeface="Calibri" panose="020F0502020204030204" pitchFamily="34" charset="0"/>
              </a:rPr>
              <a:t> , </a:t>
            </a:r>
            <a:r>
              <a:rPr lang="es-AR" sz="2400" b="1" dirty="0" err="1">
                <a:latin typeface="Encode Sans" panose="020B0604020202020204"/>
                <a:ea typeface="Calibri" panose="020F0502020204030204" pitchFamily="34" charset="0"/>
              </a:rPr>
              <a:t>PostMapping</a:t>
            </a:r>
            <a:r>
              <a:rPr lang="es-AR" sz="2400" b="1" dirty="0">
                <a:latin typeface="Encode Sans" panose="020B0604020202020204"/>
                <a:ea typeface="Calibri" panose="020F0502020204030204" pitchFamily="34" charset="0"/>
              </a:rPr>
              <a:t> </a:t>
            </a:r>
            <a:r>
              <a:rPr lang="es-AR" sz="2400" b="1" dirty="0" err="1">
                <a:latin typeface="Encode Sans" panose="020B0604020202020204"/>
                <a:ea typeface="Calibri" panose="020F0502020204030204" pitchFamily="34" charset="0"/>
              </a:rPr>
              <a:t>etc</a:t>
            </a:r>
            <a:endParaRPr lang="es-AR"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4247317"/>
          </a:xfrm>
          <a:prstGeom prst="rect">
            <a:avLst/>
          </a:prstGeom>
        </p:spPr>
        <p:txBody>
          <a:bodyPr wrap="square">
            <a:spAutoFit/>
          </a:bodyPr>
          <a:lstStyle/>
          <a:p>
            <a:pPr marL="285750" indent="-285750">
              <a:buFont typeface="Arial" pitchFamily="34" charset="0"/>
              <a:buChar char="•"/>
            </a:pPr>
            <a:r>
              <a:rPr lang="es-ES" dirty="0" smtClean="0"/>
              <a:t>El código fuente de nuestro controlador es el siguiente:</a:t>
            </a:r>
          </a:p>
          <a:p>
            <a:pPr marL="285750" indent="-285750">
              <a:buFont typeface="Arial" pitchFamily="34" charset="0"/>
              <a:buChar char="•"/>
            </a:pPr>
            <a:endParaRPr lang="es-ES" dirty="0"/>
          </a:p>
          <a:p>
            <a:r>
              <a:rPr lang="es-AR" dirty="0" err="1"/>
              <a:t>package</a:t>
            </a:r>
            <a:r>
              <a:rPr lang="es-AR" dirty="0"/>
              <a:t> </a:t>
            </a:r>
            <a:r>
              <a:rPr lang="es-AR" dirty="0" err="1"/>
              <a:t>com.mvc.ejemplo.mvcejemplo.controller</a:t>
            </a:r>
            <a:r>
              <a:rPr lang="es-AR" dirty="0"/>
              <a:t>;</a:t>
            </a:r>
          </a:p>
          <a:p>
            <a:r>
              <a:rPr lang="es-AR" dirty="0"/>
              <a:t/>
            </a:r>
            <a:br>
              <a:rPr lang="es-AR" dirty="0"/>
            </a:br>
            <a:r>
              <a:rPr lang="es-AR" dirty="0" err="1"/>
              <a:t>import</a:t>
            </a:r>
            <a:r>
              <a:rPr lang="es-AR" dirty="0"/>
              <a:t> </a:t>
            </a:r>
            <a:r>
              <a:rPr lang="es-AR" dirty="0" err="1"/>
              <a:t>org.springframework.stereotype.Controller</a:t>
            </a:r>
            <a:r>
              <a:rPr lang="es-AR" dirty="0"/>
              <a:t>;</a:t>
            </a:r>
          </a:p>
          <a:p>
            <a:r>
              <a:rPr lang="es-AR" dirty="0" err="1"/>
              <a:t>import</a:t>
            </a:r>
            <a:r>
              <a:rPr lang="es-AR" dirty="0"/>
              <a:t> </a:t>
            </a:r>
            <a:r>
              <a:rPr lang="es-AR" dirty="0" err="1"/>
              <a:t>org.springframework.web.bind.annotation.GetMapping</a:t>
            </a:r>
            <a:r>
              <a:rPr lang="es-AR" dirty="0"/>
              <a:t>;</a:t>
            </a:r>
          </a:p>
          <a:p>
            <a:r>
              <a:rPr lang="es-AR" dirty="0" err="1"/>
              <a:t>import</a:t>
            </a:r>
            <a:r>
              <a:rPr lang="es-AR" dirty="0"/>
              <a:t> </a:t>
            </a:r>
            <a:r>
              <a:rPr lang="es-AR" dirty="0" err="1"/>
              <a:t>org.springframework.web.bind.annotation.PostMapping</a:t>
            </a:r>
            <a:r>
              <a:rPr lang="es-AR" dirty="0"/>
              <a:t>;</a:t>
            </a:r>
          </a:p>
          <a:p>
            <a:r>
              <a:rPr lang="es-AR" dirty="0" err="1" smtClean="0"/>
              <a:t>import</a:t>
            </a:r>
            <a:r>
              <a:rPr lang="es-AR" dirty="0" smtClean="0"/>
              <a:t> </a:t>
            </a:r>
            <a:r>
              <a:rPr lang="es-AR" dirty="0" err="1"/>
              <a:t>org.springframework.web.bind.annotation.ResponseBody</a:t>
            </a:r>
            <a:r>
              <a:rPr lang="es-AR" dirty="0"/>
              <a:t>;</a:t>
            </a:r>
          </a:p>
          <a:p>
            <a:r>
              <a:rPr lang="es-AR" dirty="0"/>
              <a:t/>
            </a:r>
            <a:br>
              <a:rPr lang="es-AR" dirty="0"/>
            </a:br>
            <a:r>
              <a:rPr lang="es-AR" dirty="0" smtClean="0"/>
              <a:t>@</a:t>
            </a:r>
            <a:r>
              <a:rPr lang="es-AR" dirty="0" err="1" smtClean="0"/>
              <a:t>Controller</a:t>
            </a:r>
            <a:endParaRPr lang="es-AR" dirty="0" smtClean="0"/>
          </a:p>
          <a:p>
            <a:r>
              <a:rPr lang="es-AR" dirty="0" err="1" smtClean="0"/>
              <a:t>public</a:t>
            </a:r>
            <a:r>
              <a:rPr lang="es-AR" dirty="0" smtClean="0"/>
              <a:t> </a:t>
            </a:r>
            <a:r>
              <a:rPr lang="es-AR" dirty="0" err="1" smtClean="0"/>
              <a:t>class</a:t>
            </a:r>
            <a:r>
              <a:rPr lang="es-AR" dirty="0" smtClean="0"/>
              <a:t> </a:t>
            </a:r>
            <a:r>
              <a:rPr lang="es-AR" dirty="0" err="1" smtClean="0"/>
              <a:t>HolaController</a:t>
            </a:r>
            <a:r>
              <a:rPr lang="es-AR" dirty="0" smtClean="0"/>
              <a:t> {</a:t>
            </a:r>
          </a:p>
          <a:p>
            <a:r>
              <a:rPr lang="es-AR" dirty="0" smtClean="0"/>
              <a:t>    </a:t>
            </a:r>
          </a:p>
          <a:p>
            <a:r>
              <a:rPr lang="es-AR" dirty="0" smtClean="0"/>
              <a:t>    @</a:t>
            </a:r>
            <a:r>
              <a:rPr lang="es-AR" dirty="0" err="1" smtClean="0"/>
              <a:t>GetMapping</a:t>
            </a:r>
            <a:r>
              <a:rPr lang="es-AR" dirty="0" smtClean="0"/>
              <a:t>("/hola")</a:t>
            </a:r>
          </a:p>
          <a:p>
            <a:r>
              <a:rPr lang="es-AR" dirty="0" smtClean="0"/>
              <a:t>    @</a:t>
            </a:r>
            <a:r>
              <a:rPr lang="es-AR" dirty="0" err="1" smtClean="0"/>
              <a:t>ResponseBody</a:t>
            </a:r>
            <a:endParaRPr lang="es-AR" dirty="0" smtClean="0"/>
          </a:p>
          <a:p>
            <a:r>
              <a:rPr lang="es-AR" dirty="0" smtClean="0"/>
              <a:t>    </a:t>
            </a:r>
            <a:r>
              <a:rPr lang="es-AR" dirty="0" err="1" smtClean="0"/>
              <a:t>public</a:t>
            </a:r>
            <a:r>
              <a:rPr lang="es-AR" dirty="0" smtClean="0"/>
              <a:t> </a:t>
            </a:r>
            <a:r>
              <a:rPr lang="es-AR" dirty="0" err="1" smtClean="0"/>
              <a:t>String</a:t>
            </a:r>
            <a:r>
              <a:rPr lang="es-AR" dirty="0" smtClean="0"/>
              <a:t> hola() { </a:t>
            </a:r>
            <a:r>
              <a:rPr lang="es-AR" dirty="0" err="1" smtClean="0"/>
              <a:t>return</a:t>
            </a:r>
            <a:r>
              <a:rPr lang="es-AR" dirty="0" smtClean="0"/>
              <a:t> "has hecho una </a:t>
            </a:r>
            <a:r>
              <a:rPr lang="es-AR" dirty="0" err="1" smtClean="0"/>
              <a:t>peticion</a:t>
            </a:r>
            <a:r>
              <a:rPr lang="es-AR" dirty="0" smtClean="0"/>
              <a:t> </a:t>
            </a:r>
            <a:r>
              <a:rPr lang="es-AR" dirty="0" err="1" smtClean="0"/>
              <a:t>get</a:t>
            </a:r>
            <a:r>
              <a:rPr lang="es-AR" dirty="0" smtClean="0"/>
              <a:t>"; }</a:t>
            </a:r>
          </a:p>
        </p:txBody>
      </p:sp>
    </p:spTree>
    <p:extLst>
      <p:ext uri="{BB962C8B-B14F-4D97-AF65-F5344CB8AC3E}">
        <p14:creationId xmlns:p14="http://schemas.microsoft.com/office/powerpoint/2010/main" val="26527130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AR" sz="2400" b="1" dirty="0" smtClean="0">
                <a:latin typeface="Encode Sans" panose="020B0604020202020204"/>
                <a:ea typeface="Calibri" panose="020F0502020204030204" pitchFamily="34" charset="0"/>
              </a:rPr>
              <a:t>Spring </a:t>
            </a:r>
            <a:r>
              <a:rPr lang="es-AR" sz="2400" b="1" dirty="0" err="1">
                <a:latin typeface="Encode Sans" panose="020B0604020202020204"/>
                <a:ea typeface="Calibri" panose="020F0502020204030204" pitchFamily="34" charset="0"/>
              </a:rPr>
              <a:t>GetMapping</a:t>
            </a:r>
            <a:r>
              <a:rPr lang="es-AR" sz="2400" b="1" dirty="0">
                <a:latin typeface="Encode Sans" panose="020B0604020202020204"/>
                <a:ea typeface="Calibri" panose="020F0502020204030204" pitchFamily="34" charset="0"/>
              </a:rPr>
              <a:t> , </a:t>
            </a:r>
            <a:r>
              <a:rPr lang="es-AR" sz="2400" b="1" dirty="0" err="1">
                <a:latin typeface="Encode Sans" panose="020B0604020202020204"/>
                <a:ea typeface="Calibri" panose="020F0502020204030204" pitchFamily="34" charset="0"/>
              </a:rPr>
              <a:t>PostMapping</a:t>
            </a:r>
            <a:r>
              <a:rPr lang="es-AR" sz="2400" b="1" dirty="0">
                <a:latin typeface="Encode Sans" panose="020B0604020202020204"/>
                <a:ea typeface="Calibri" panose="020F0502020204030204" pitchFamily="34" charset="0"/>
              </a:rPr>
              <a:t> </a:t>
            </a:r>
            <a:r>
              <a:rPr lang="es-AR" sz="2400" b="1" dirty="0" err="1">
                <a:latin typeface="Encode Sans" panose="020B0604020202020204"/>
                <a:ea typeface="Calibri" panose="020F0502020204030204" pitchFamily="34" charset="0"/>
              </a:rPr>
              <a:t>etc</a:t>
            </a:r>
            <a:endParaRPr lang="es-AR"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2308324"/>
          </a:xfrm>
          <a:prstGeom prst="rect">
            <a:avLst/>
          </a:prstGeom>
        </p:spPr>
        <p:txBody>
          <a:bodyPr wrap="square">
            <a:spAutoFit/>
          </a:bodyPr>
          <a:lstStyle/>
          <a:p>
            <a:r>
              <a:rPr lang="es-AR" dirty="0"/>
              <a:t>    @</a:t>
            </a:r>
            <a:r>
              <a:rPr lang="es-AR" dirty="0" err="1"/>
              <a:t>GetMapping</a:t>
            </a:r>
            <a:r>
              <a:rPr lang="es-AR" dirty="0"/>
              <a:t>("/formulario")</a:t>
            </a:r>
          </a:p>
          <a:p>
            <a:r>
              <a:rPr lang="es-AR" dirty="0"/>
              <a:t>    </a:t>
            </a:r>
            <a:r>
              <a:rPr lang="es-AR" dirty="0" err="1"/>
              <a:t>public</a:t>
            </a:r>
            <a:r>
              <a:rPr lang="es-AR" dirty="0"/>
              <a:t> </a:t>
            </a:r>
            <a:r>
              <a:rPr lang="es-AR" dirty="0" err="1"/>
              <a:t>String</a:t>
            </a:r>
            <a:r>
              <a:rPr lang="es-AR" dirty="0"/>
              <a:t> hola2() { </a:t>
            </a:r>
            <a:r>
              <a:rPr lang="es-AR" dirty="0" err="1"/>
              <a:t>return</a:t>
            </a:r>
            <a:r>
              <a:rPr lang="es-AR" dirty="0"/>
              <a:t> "formulario"; }</a:t>
            </a:r>
          </a:p>
          <a:p>
            <a:r>
              <a:rPr lang="es-AR" dirty="0"/>
              <a:t/>
            </a:r>
            <a:br>
              <a:rPr lang="es-AR" dirty="0"/>
            </a:br>
            <a:r>
              <a:rPr lang="es-AR" dirty="0"/>
              <a:t>    @</a:t>
            </a:r>
            <a:r>
              <a:rPr lang="es-AR" dirty="0" err="1"/>
              <a:t>PostMapping</a:t>
            </a:r>
            <a:r>
              <a:rPr lang="es-AR" dirty="0"/>
              <a:t>("/</a:t>
            </a:r>
            <a:r>
              <a:rPr lang="es-AR" dirty="0" err="1"/>
              <a:t>holapost</a:t>
            </a:r>
            <a:r>
              <a:rPr lang="es-AR" dirty="0"/>
              <a:t>")</a:t>
            </a:r>
          </a:p>
          <a:p>
            <a:r>
              <a:rPr lang="es-AR" dirty="0"/>
              <a:t>    @</a:t>
            </a:r>
            <a:r>
              <a:rPr lang="es-AR" dirty="0" err="1"/>
              <a:t>ResponseBody</a:t>
            </a:r>
            <a:endParaRPr lang="es-AR" dirty="0"/>
          </a:p>
          <a:p>
            <a:r>
              <a:rPr lang="es-AR" dirty="0"/>
              <a:t>    </a:t>
            </a:r>
            <a:r>
              <a:rPr lang="es-AR" dirty="0" err="1"/>
              <a:t>public</a:t>
            </a:r>
            <a:r>
              <a:rPr lang="es-AR" dirty="0"/>
              <a:t> </a:t>
            </a:r>
            <a:r>
              <a:rPr lang="es-AR" dirty="0" err="1"/>
              <a:t>String</a:t>
            </a:r>
            <a:r>
              <a:rPr lang="es-AR" dirty="0"/>
              <a:t> </a:t>
            </a:r>
            <a:r>
              <a:rPr lang="es-AR" dirty="0" err="1"/>
              <a:t>holaPost</a:t>
            </a:r>
            <a:r>
              <a:rPr lang="es-AR" dirty="0"/>
              <a:t>() { </a:t>
            </a:r>
            <a:r>
              <a:rPr lang="es-AR" dirty="0" err="1"/>
              <a:t>return</a:t>
            </a:r>
            <a:r>
              <a:rPr lang="es-AR" dirty="0"/>
              <a:t> "has hecho una </a:t>
            </a:r>
            <a:r>
              <a:rPr lang="es-AR" dirty="0" err="1"/>
              <a:t>peticion</a:t>
            </a:r>
            <a:r>
              <a:rPr lang="es-AR" dirty="0"/>
              <a:t> post"; }</a:t>
            </a:r>
          </a:p>
          <a:p>
            <a:r>
              <a:rPr lang="es-AR" dirty="0"/>
              <a:t/>
            </a:r>
            <a:br>
              <a:rPr lang="es-AR" dirty="0"/>
            </a:br>
            <a:r>
              <a:rPr lang="es-AR" dirty="0" smtClean="0"/>
              <a:t>}</a:t>
            </a:r>
          </a:p>
        </p:txBody>
      </p:sp>
    </p:spTree>
    <p:extLst>
      <p:ext uri="{BB962C8B-B14F-4D97-AF65-F5344CB8AC3E}">
        <p14:creationId xmlns:p14="http://schemas.microsoft.com/office/powerpoint/2010/main" val="9232902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AR" sz="2400" b="1" dirty="0" smtClean="0">
                <a:latin typeface="Encode Sans" panose="020B0604020202020204"/>
                <a:ea typeface="Calibri" panose="020F0502020204030204" pitchFamily="34" charset="0"/>
              </a:rPr>
              <a:t>Spring </a:t>
            </a:r>
            <a:r>
              <a:rPr lang="es-AR" sz="2400" b="1" dirty="0" err="1">
                <a:latin typeface="Encode Sans" panose="020B0604020202020204"/>
                <a:ea typeface="Calibri" panose="020F0502020204030204" pitchFamily="34" charset="0"/>
              </a:rPr>
              <a:t>GetMapping</a:t>
            </a:r>
            <a:r>
              <a:rPr lang="es-AR" sz="2400" b="1" dirty="0">
                <a:latin typeface="Encode Sans" panose="020B0604020202020204"/>
                <a:ea typeface="Calibri" panose="020F0502020204030204" pitchFamily="34" charset="0"/>
              </a:rPr>
              <a:t> , </a:t>
            </a:r>
            <a:r>
              <a:rPr lang="es-AR" sz="2400" b="1" dirty="0" err="1">
                <a:latin typeface="Encode Sans" panose="020B0604020202020204"/>
                <a:ea typeface="Calibri" panose="020F0502020204030204" pitchFamily="34" charset="0"/>
              </a:rPr>
              <a:t>PostMapping</a:t>
            </a:r>
            <a:r>
              <a:rPr lang="es-AR" sz="2400" b="1" dirty="0">
                <a:latin typeface="Encode Sans" panose="020B0604020202020204"/>
                <a:ea typeface="Calibri" panose="020F0502020204030204" pitchFamily="34" charset="0"/>
              </a:rPr>
              <a:t> </a:t>
            </a:r>
            <a:r>
              <a:rPr lang="es-AR" sz="2400" b="1" dirty="0" err="1">
                <a:latin typeface="Encode Sans" panose="020B0604020202020204"/>
                <a:ea typeface="Calibri" panose="020F0502020204030204" pitchFamily="34" charset="0"/>
              </a:rPr>
              <a:t>etc</a:t>
            </a:r>
            <a:endParaRPr lang="es-AR"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3416320"/>
          </a:xfrm>
          <a:prstGeom prst="rect">
            <a:avLst/>
          </a:prstGeom>
        </p:spPr>
        <p:txBody>
          <a:bodyPr wrap="square">
            <a:spAutoFit/>
          </a:bodyPr>
          <a:lstStyle/>
          <a:p>
            <a:pPr marL="285750" indent="-285750">
              <a:buFont typeface="Arial" pitchFamily="34" charset="0"/>
              <a:buChar char="•"/>
            </a:pPr>
            <a:r>
              <a:rPr lang="es-ES" dirty="0" smtClean="0"/>
              <a:t>El código fuente de nuestro template formulario.html es el siguiente:</a:t>
            </a:r>
          </a:p>
          <a:p>
            <a:pPr marL="285750" indent="-285750">
              <a:buFont typeface="Arial" pitchFamily="34" charset="0"/>
              <a:buChar char="•"/>
            </a:pPr>
            <a:endParaRPr lang="es-ES" dirty="0" smtClean="0"/>
          </a:p>
          <a:p>
            <a:r>
              <a:rPr lang="es-AR" dirty="0"/>
              <a:t>&lt;!DOCTYPE </a:t>
            </a:r>
            <a:r>
              <a:rPr lang="es-AR" dirty="0" err="1"/>
              <a:t>html</a:t>
            </a:r>
            <a:r>
              <a:rPr lang="es-AR" dirty="0"/>
              <a:t>&gt;</a:t>
            </a:r>
          </a:p>
          <a:p>
            <a:r>
              <a:rPr lang="es-AR" dirty="0"/>
              <a:t>&lt;</a:t>
            </a:r>
            <a:r>
              <a:rPr lang="es-AR" dirty="0" err="1"/>
              <a:t>html</a:t>
            </a:r>
            <a:r>
              <a:rPr lang="es-AR" dirty="0"/>
              <a:t>&gt;</a:t>
            </a:r>
          </a:p>
          <a:p>
            <a:r>
              <a:rPr lang="es-AR" dirty="0"/>
              <a:t>&lt;</a:t>
            </a:r>
            <a:r>
              <a:rPr lang="es-AR" dirty="0" err="1"/>
              <a:t>body</a:t>
            </a:r>
            <a:r>
              <a:rPr lang="es-AR" dirty="0"/>
              <a:t>&gt;</a:t>
            </a:r>
          </a:p>
          <a:p>
            <a:r>
              <a:rPr lang="es-AR" dirty="0"/>
              <a:t>    &lt;div&gt;</a:t>
            </a:r>
          </a:p>
          <a:p>
            <a:r>
              <a:rPr lang="es-AR" dirty="0"/>
              <a:t>        &lt;</a:t>
            </a:r>
            <a:r>
              <a:rPr lang="es-AR" dirty="0" err="1"/>
              <a:t>form</a:t>
            </a:r>
            <a:r>
              <a:rPr lang="es-AR" dirty="0"/>
              <a:t> </a:t>
            </a:r>
            <a:r>
              <a:rPr lang="es-AR" dirty="0" err="1"/>
              <a:t>action</a:t>
            </a:r>
            <a:r>
              <a:rPr lang="es-AR" dirty="0"/>
              <a:t>="</a:t>
            </a:r>
            <a:r>
              <a:rPr lang="es-AR" dirty="0" err="1"/>
              <a:t>holapost</a:t>
            </a:r>
            <a:r>
              <a:rPr lang="es-AR" dirty="0"/>
              <a:t>" </a:t>
            </a:r>
            <a:r>
              <a:rPr lang="es-AR" dirty="0" err="1"/>
              <a:t>method</a:t>
            </a:r>
            <a:r>
              <a:rPr lang="es-AR" dirty="0"/>
              <a:t>="post"&gt;</a:t>
            </a:r>
          </a:p>
          <a:p>
            <a:r>
              <a:rPr lang="es-AR" dirty="0"/>
              <a:t>            &lt;input </a:t>
            </a:r>
            <a:r>
              <a:rPr lang="es-AR" dirty="0" err="1"/>
              <a:t>type</a:t>
            </a:r>
            <a:r>
              <a:rPr lang="es-AR" dirty="0"/>
              <a:t>="</a:t>
            </a:r>
            <a:r>
              <a:rPr lang="es-AR" dirty="0" err="1"/>
              <a:t>submit</a:t>
            </a:r>
            <a:r>
              <a:rPr lang="es-AR" dirty="0"/>
              <a:t>" </a:t>
            </a:r>
            <a:r>
              <a:rPr lang="es-AR" dirty="0" err="1"/>
              <a:t>value</a:t>
            </a:r>
            <a:r>
              <a:rPr lang="es-AR" dirty="0"/>
              <a:t>="Enviar"&gt;</a:t>
            </a:r>
          </a:p>
          <a:p>
            <a:r>
              <a:rPr lang="es-AR" dirty="0"/>
              <a:t>        &lt;/</a:t>
            </a:r>
            <a:r>
              <a:rPr lang="es-AR" dirty="0" err="1"/>
              <a:t>form</a:t>
            </a:r>
            <a:r>
              <a:rPr lang="es-AR" dirty="0"/>
              <a:t>&gt;</a:t>
            </a:r>
          </a:p>
          <a:p>
            <a:r>
              <a:rPr lang="es-AR" dirty="0"/>
              <a:t>    &lt;/div&gt;</a:t>
            </a:r>
          </a:p>
          <a:p>
            <a:r>
              <a:rPr lang="es-AR" dirty="0"/>
              <a:t>&lt;/</a:t>
            </a:r>
            <a:r>
              <a:rPr lang="es-AR" dirty="0" err="1"/>
              <a:t>body</a:t>
            </a:r>
            <a:r>
              <a:rPr lang="es-AR" dirty="0"/>
              <a:t>&gt;</a:t>
            </a:r>
          </a:p>
          <a:p>
            <a:r>
              <a:rPr lang="es-AR" dirty="0"/>
              <a:t>&lt;/</a:t>
            </a:r>
            <a:r>
              <a:rPr lang="es-AR" dirty="0" err="1"/>
              <a:t>html</a:t>
            </a:r>
            <a:r>
              <a:rPr lang="es-AR" dirty="0" smtClean="0"/>
              <a:t>&gt;</a:t>
            </a:r>
            <a:endParaRPr lang="es-AR" dirty="0"/>
          </a:p>
        </p:txBody>
      </p:sp>
      <p:pic>
        <p:nvPicPr>
          <p:cNvPr id="1536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53300" y="3382674"/>
            <a:ext cx="4452550" cy="2249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721484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AR" sz="2400" b="1" dirty="0" smtClean="0">
                <a:latin typeface="Encode Sans" panose="020B0604020202020204"/>
                <a:ea typeface="Calibri" panose="020F0502020204030204" pitchFamily="34" charset="0"/>
              </a:rPr>
              <a:t>Spring </a:t>
            </a:r>
            <a:r>
              <a:rPr lang="es-AR" sz="2400" b="1" dirty="0" err="1">
                <a:latin typeface="Encode Sans" panose="020B0604020202020204"/>
                <a:ea typeface="Calibri" panose="020F0502020204030204" pitchFamily="34" charset="0"/>
              </a:rPr>
              <a:t>GetMapping</a:t>
            </a:r>
            <a:r>
              <a:rPr lang="es-AR" sz="2400" b="1" dirty="0">
                <a:latin typeface="Encode Sans" panose="020B0604020202020204"/>
                <a:ea typeface="Calibri" panose="020F0502020204030204" pitchFamily="34" charset="0"/>
              </a:rPr>
              <a:t> , </a:t>
            </a:r>
            <a:r>
              <a:rPr lang="es-AR" sz="2400" b="1" dirty="0" err="1">
                <a:latin typeface="Encode Sans" panose="020B0604020202020204"/>
                <a:ea typeface="Calibri" panose="020F0502020204030204" pitchFamily="34" charset="0"/>
              </a:rPr>
              <a:t>PostMapping</a:t>
            </a:r>
            <a:r>
              <a:rPr lang="es-AR" sz="2400" b="1" dirty="0">
                <a:latin typeface="Encode Sans" panose="020B0604020202020204"/>
                <a:ea typeface="Calibri" panose="020F0502020204030204" pitchFamily="34" charset="0"/>
              </a:rPr>
              <a:t> </a:t>
            </a:r>
            <a:r>
              <a:rPr lang="es-AR" sz="2400" b="1" dirty="0" err="1">
                <a:latin typeface="Encode Sans" panose="020B0604020202020204"/>
                <a:ea typeface="Calibri" panose="020F0502020204030204" pitchFamily="34" charset="0"/>
              </a:rPr>
              <a:t>etc</a:t>
            </a:r>
            <a:endParaRPr lang="es-AR"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1477328"/>
          </a:xfrm>
          <a:prstGeom prst="rect">
            <a:avLst/>
          </a:prstGeom>
        </p:spPr>
        <p:txBody>
          <a:bodyPr wrap="square">
            <a:spAutoFit/>
          </a:bodyPr>
          <a:lstStyle/>
          <a:p>
            <a:pPr marL="285750" indent="-285750">
              <a:buFont typeface="Arial" pitchFamily="34" charset="0"/>
              <a:buChar char="•"/>
            </a:pPr>
            <a:r>
              <a:rPr lang="es-ES" dirty="0" smtClean="0"/>
              <a:t>Este </a:t>
            </a:r>
            <a:r>
              <a:rPr lang="es-ES" dirty="0"/>
              <a:t>controlador hace uso de las nuevas anotaciones de </a:t>
            </a:r>
            <a:r>
              <a:rPr lang="es-ES" b="1" dirty="0" err="1"/>
              <a:t>spring</a:t>
            </a:r>
            <a:r>
              <a:rPr lang="es-ES" b="1" dirty="0"/>
              <a:t> @</a:t>
            </a:r>
            <a:r>
              <a:rPr lang="es-ES" b="1" dirty="0" err="1"/>
              <a:t>GetMapping</a:t>
            </a:r>
            <a:r>
              <a:rPr lang="es-ES" b="1" dirty="0"/>
              <a:t> ,@</a:t>
            </a:r>
            <a:r>
              <a:rPr lang="es-ES" b="1" dirty="0" err="1"/>
              <a:t>PostMapping</a:t>
            </a:r>
            <a:r>
              <a:rPr lang="es-ES" b="1" dirty="0"/>
              <a:t> </a:t>
            </a:r>
            <a:r>
              <a:rPr lang="es-ES" dirty="0"/>
              <a:t>etc. </a:t>
            </a:r>
            <a:endParaRPr lang="es-ES" dirty="0" smtClean="0"/>
          </a:p>
          <a:p>
            <a:pPr marL="285750" indent="-285750">
              <a:buFont typeface="Arial" pitchFamily="34" charset="0"/>
              <a:buChar char="•"/>
            </a:pPr>
            <a:endParaRPr lang="es-ES" dirty="0"/>
          </a:p>
          <a:p>
            <a:pPr marL="285750" indent="-285750">
              <a:buFont typeface="Arial" pitchFamily="34" charset="0"/>
              <a:buChar char="•"/>
            </a:pPr>
            <a:r>
              <a:rPr lang="es-ES" dirty="0" smtClean="0"/>
              <a:t>Como </a:t>
            </a:r>
            <a:r>
              <a:rPr lang="es-ES" dirty="0"/>
              <a:t>se puede ver si solicitamos la </a:t>
            </a:r>
            <a:r>
              <a:rPr lang="es-ES" dirty="0" err="1"/>
              <a:t>url</a:t>
            </a:r>
            <a:r>
              <a:rPr lang="es-ES" dirty="0"/>
              <a:t> “/hola” nos devolverá “has hecho una </a:t>
            </a:r>
            <a:r>
              <a:rPr lang="es-ES" dirty="0" err="1"/>
              <a:t>peticion</a:t>
            </a:r>
            <a:r>
              <a:rPr lang="es-ES" dirty="0"/>
              <a:t> </a:t>
            </a:r>
            <a:r>
              <a:rPr lang="es-ES" dirty="0" err="1"/>
              <a:t>get</a:t>
            </a:r>
            <a:r>
              <a:rPr lang="es-ES" dirty="0"/>
              <a:t>” . </a:t>
            </a:r>
            <a:endParaRPr lang="es-ES" dirty="0" smtClean="0"/>
          </a:p>
          <a:p>
            <a:pPr marL="285750" indent="-285750">
              <a:buFont typeface="Arial" pitchFamily="34" charset="0"/>
              <a:buChar char="•"/>
            </a:pPr>
            <a:endParaRPr lang="es-ES" dirty="0"/>
          </a:p>
          <a:p>
            <a:pPr marL="285750" indent="-285750">
              <a:buFont typeface="Arial" pitchFamily="34" charset="0"/>
              <a:buChar char="•"/>
            </a:pPr>
            <a:r>
              <a:rPr lang="es-ES" dirty="0" smtClean="0"/>
              <a:t>Vamos </a:t>
            </a:r>
            <a:r>
              <a:rPr lang="es-ES" dirty="0"/>
              <a:t>a arrancar la aplicación de </a:t>
            </a:r>
            <a:r>
              <a:rPr lang="es-ES" dirty="0" err="1"/>
              <a:t>SpringBoot</a:t>
            </a:r>
            <a:r>
              <a:rPr lang="es-ES" dirty="0"/>
              <a:t> y probarlo.</a:t>
            </a:r>
            <a:endParaRPr lang="es-AR" dirty="0"/>
          </a:p>
        </p:txBody>
      </p:sp>
      <p:pic>
        <p:nvPicPr>
          <p:cNvPr id="1433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2027" y="4375253"/>
            <a:ext cx="3473080" cy="1348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39"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91733" y="3771544"/>
            <a:ext cx="3992207" cy="1421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4039" y="5300244"/>
            <a:ext cx="3888963" cy="14224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2 Flecha abajo"/>
          <p:cNvSpPr/>
          <p:nvPr/>
        </p:nvSpPr>
        <p:spPr>
          <a:xfrm rot="2832814">
            <a:off x="7245716" y="4885125"/>
            <a:ext cx="304309" cy="83023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7736490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AR" sz="2400" b="1" dirty="0" smtClean="0">
                <a:latin typeface="Encode Sans" panose="020B0604020202020204"/>
                <a:ea typeface="Calibri" panose="020F0502020204030204" pitchFamily="34" charset="0"/>
              </a:rPr>
              <a:t>Spring </a:t>
            </a:r>
            <a:r>
              <a:rPr lang="es-AR" sz="2400" b="1" dirty="0" err="1">
                <a:latin typeface="Encode Sans" panose="020B0604020202020204"/>
                <a:ea typeface="Calibri" panose="020F0502020204030204" pitchFamily="34" charset="0"/>
              </a:rPr>
              <a:t>GetMapping</a:t>
            </a:r>
            <a:r>
              <a:rPr lang="es-AR" sz="2400" b="1" dirty="0">
                <a:latin typeface="Encode Sans" panose="020B0604020202020204"/>
                <a:ea typeface="Calibri" panose="020F0502020204030204" pitchFamily="34" charset="0"/>
              </a:rPr>
              <a:t> , </a:t>
            </a:r>
            <a:r>
              <a:rPr lang="es-AR" sz="2400" b="1" dirty="0" err="1">
                <a:latin typeface="Encode Sans" panose="020B0604020202020204"/>
                <a:ea typeface="Calibri" panose="020F0502020204030204" pitchFamily="34" charset="0"/>
              </a:rPr>
              <a:t>PostMapping</a:t>
            </a:r>
            <a:r>
              <a:rPr lang="es-AR" sz="2400" b="1" dirty="0">
                <a:latin typeface="Encode Sans" panose="020B0604020202020204"/>
                <a:ea typeface="Calibri" panose="020F0502020204030204" pitchFamily="34" charset="0"/>
              </a:rPr>
              <a:t> </a:t>
            </a:r>
            <a:r>
              <a:rPr lang="es-AR" sz="2400" b="1" dirty="0" err="1">
                <a:latin typeface="Encode Sans" panose="020B0604020202020204"/>
                <a:ea typeface="Calibri" panose="020F0502020204030204" pitchFamily="34" charset="0"/>
              </a:rPr>
              <a:t>etc</a:t>
            </a:r>
            <a:endParaRPr lang="es-AR"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646331"/>
          </a:xfrm>
          <a:prstGeom prst="rect">
            <a:avLst/>
          </a:prstGeom>
        </p:spPr>
        <p:txBody>
          <a:bodyPr wrap="square">
            <a:spAutoFit/>
          </a:bodyPr>
          <a:lstStyle/>
          <a:p>
            <a:pPr marL="285750" indent="-285750">
              <a:buFont typeface="Arial" pitchFamily="34" charset="0"/>
              <a:buChar char="•"/>
            </a:pPr>
            <a:r>
              <a:rPr lang="es-ES" dirty="0" smtClean="0"/>
              <a:t>La idea del uso de estos nuevos comandos </a:t>
            </a:r>
            <a:r>
              <a:rPr lang="es-ES" b="1" dirty="0" err="1" smtClean="0"/>
              <a:t>spring</a:t>
            </a:r>
            <a:r>
              <a:rPr lang="es-ES" b="1" dirty="0" smtClean="0"/>
              <a:t> </a:t>
            </a:r>
            <a:r>
              <a:rPr lang="es-ES" b="1" dirty="0" err="1"/>
              <a:t>GetMapping</a:t>
            </a:r>
            <a:r>
              <a:rPr lang="es-ES" b="1" dirty="0"/>
              <a:t> y </a:t>
            </a:r>
            <a:r>
              <a:rPr lang="es-ES" b="1" dirty="0" err="1"/>
              <a:t>PostMapping</a:t>
            </a:r>
            <a:r>
              <a:rPr lang="es-ES" dirty="0"/>
              <a:t> </a:t>
            </a:r>
            <a:r>
              <a:rPr lang="es-ES" dirty="0" smtClean="0"/>
              <a:t>es para </a:t>
            </a:r>
            <a:r>
              <a:rPr lang="es-ES" dirty="0"/>
              <a:t>trabajar con Spring MVC y eliminar el uso de @</a:t>
            </a:r>
            <a:r>
              <a:rPr lang="es-ES" dirty="0" err="1"/>
              <a:t>RequestMapping</a:t>
            </a:r>
            <a:r>
              <a:rPr lang="es-ES" dirty="0"/>
              <a:t>.</a:t>
            </a:r>
            <a:endParaRPr lang="es-AR" dirty="0"/>
          </a:p>
        </p:txBody>
      </p:sp>
    </p:spTree>
    <p:extLst>
      <p:ext uri="{BB962C8B-B14F-4D97-AF65-F5344CB8AC3E}">
        <p14:creationId xmlns:p14="http://schemas.microsoft.com/office/powerpoint/2010/main" val="9731627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a16="http://schemas.microsoft.com/office/drawing/2014/main" xmlns="" id="{42586C2D-89D1-4B8A-9675-E07D4898191B}"/>
              </a:ext>
            </a:extLst>
          </p:cNvPr>
          <p:cNvSpPr txBox="1"/>
          <p:nvPr/>
        </p:nvSpPr>
        <p:spPr>
          <a:xfrm>
            <a:off x="1801504" y="2022493"/>
            <a:ext cx="9044687" cy="4784329"/>
          </a:xfrm>
          <a:prstGeom prst="rect">
            <a:avLst/>
          </a:prstGeom>
          <a:noFill/>
          <a:ln>
            <a:noFill/>
          </a:ln>
        </p:spPr>
        <p:txBody>
          <a:bodyPr spcFirstLastPara="1" wrap="square" lIns="121900" tIns="121900" rIns="121900" bIns="121900" anchor="ctr" anchorCtr="0">
            <a:noAutofit/>
          </a:bodyPr>
          <a:lstStyle/>
          <a:p>
            <a:r>
              <a:rPr lang="es-ES" sz="4000" b="1" dirty="0" smtClean="0">
                <a:solidFill>
                  <a:srgbClr val="0070C0"/>
                </a:solidFill>
                <a:latin typeface="Georgia"/>
                <a:ea typeface="Georgia"/>
                <a:cs typeface="Georgia"/>
              </a:rPr>
              <a:t>Spring </a:t>
            </a:r>
            <a:r>
              <a:rPr lang="es-ES" sz="4000" b="1" dirty="0" err="1">
                <a:solidFill>
                  <a:srgbClr val="0070C0"/>
                </a:solidFill>
                <a:latin typeface="Georgia"/>
                <a:ea typeface="Georgia"/>
                <a:cs typeface="Georgia"/>
              </a:rPr>
              <a:t>Boot</a:t>
            </a:r>
            <a:r>
              <a:rPr lang="es-ES" sz="4000" b="1" dirty="0">
                <a:solidFill>
                  <a:srgbClr val="0070C0"/>
                </a:solidFill>
                <a:latin typeface="Georgia"/>
                <a:ea typeface="Georgia"/>
                <a:cs typeface="Georgia"/>
              </a:rPr>
              <a:t> </a:t>
            </a:r>
            <a:r>
              <a:rPr lang="es-ES" sz="4000" b="1" dirty="0" smtClean="0">
                <a:solidFill>
                  <a:srgbClr val="0070C0"/>
                </a:solidFill>
                <a:latin typeface="Georgia"/>
                <a:ea typeface="Georgia"/>
                <a:cs typeface="Georgia"/>
              </a:rPr>
              <a:t>JDBC con </a:t>
            </a:r>
            <a:r>
              <a:rPr lang="es-ES" sz="4000" b="1" dirty="0" err="1" smtClean="0">
                <a:solidFill>
                  <a:srgbClr val="0070C0"/>
                </a:solidFill>
                <a:latin typeface="Georgia"/>
                <a:ea typeface="Georgia"/>
                <a:cs typeface="Georgia"/>
              </a:rPr>
              <a:t>MySQL</a:t>
            </a:r>
            <a:endParaRPr lang="es-ES" sz="4000" b="1" dirty="0">
              <a:solidFill>
                <a:srgbClr val="0070C0"/>
              </a:solidFill>
              <a:latin typeface="Georgia"/>
              <a:ea typeface="Georgia"/>
              <a:cs typeface="Georgia"/>
            </a:endParaRPr>
          </a:p>
          <a:p>
            <a:endParaRPr lang="es-ES" sz="4000" b="1" dirty="0">
              <a:solidFill>
                <a:srgbClr val="0070C0"/>
              </a:solidFill>
              <a:latin typeface="Georgia"/>
              <a:ea typeface="Georgia"/>
              <a:cs typeface="Georgia"/>
            </a:endParaRPr>
          </a:p>
          <a:p>
            <a:r>
              <a:rPr lang="es-ES" sz="4000" b="1" dirty="0" smtClean="0">
                <a:solidFill>
                  <a:srgbClr val="0070C0"/>
                </a:solidFill>
                <a:latin typeface="Georgia"/>
                <a:ea typeface="Georgia"/>
                <a:cs typeface="Georgia"/>
                <a:sym typeface="Georgia"/>
              </a:rPr>
              <a:t>Sexta </a:t>
            </a:r>
            <a:r>
              <a:rPr lang="es-AR" sz="4000" b="1" dirty="0" smtClean="0">
                <a:solidFill>
                  <a:srgbClr val="0070C0"/>
                </a:solidFill>
                <a:latin typeface="Georgia"/>
                <a:ea typeface="Georgia"/>
                <a:cs typeface="Georgia"/>
                <a:sym typeface="Georgia"/>
              </a:rPr>
              <a:t>Parte</a:t>
            </a:r>
            <a:endParaRPr lang="es-ES" sz="4000"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238625566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smtClean="0">
                <a:latin typeface="Encode Sans" panose="020B0604020202020204"/>
                <a:ea typeface="Calibri" panose="020F0502020204030204" pitchFamily="34" charset="0"/>
              </a:rPr>
              <a:t>Spring </a:t>
            </a:r>
            <a:r>
              <a:rPr lang="es-ES" sz="2400" b="1" dirty="0" err="1">
                <a:latin typeface="Encode Sans" panose="020B0604020202020204"/>
                <a:ea typeface="Calibri" panose="020F0502020204030204" pitchFamily="34" charset="0"/>
              </a:rPr>
              <a:t>Boot</a:t>
            </a:r>
            <a:r>
              <a:rPr lang="es-ES" sz="2400" b="1" dirty="0">
                <a:latin typeface="Encode Sans" panose="020B0604020202020204"/>
                <a:ea typeface="Calibri" panose="020F0502020204030204" pitchFamily="34" charset="0"/>
              </a:rPr>
              <a:t> </a:t>
            </a:r>
            <a:r>
              <a:rPr lang="es-ES" sz="2400" b="1" dirty="0" smtClean="0">
                <a:latin typeface="Encode Sans" panose="020B0604020202020204"/>
                <a:ea typeface="Calibri" panose="020F0502020204030204" pitchFamily="34" charset="0"/>
              </a:rPr>
              <a:t>JDBC</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1200329"/>
          </a:xfrm>
          <a:prstGeom prst="rect">
            <a:avLst/>
          </a:prstGeom>
        </p:spPr>
        <p:txBody>
          <a:bodyPr wrap="square">
            <a:spAutoFit/>
          </a:bodyPr>
          <a:lstStyle/>
          <a:p>
            <a:pPr marL="285750" indent="-285750">
              <a:buFont typeface="Arial" pitchFamily="34" charset="0"/>
              <a:buChar char="•"/>
            </a:pPr>
            <a:r>
              <a:rPr lang="es-ES" dirty="0"/>
              <a:t>El uso de Spring </a:t>
            </a:r>
            <a:r>
              <a:rPr lang="es-ES" dirty="0" err="1"/>
              <a:t>Boot</a:t>
            </a:r>
            <a:r>
              <a:rPr lang="es-ES" dirty="0"/>
              <a:t> JDBC , sigue siendo una opción bastante habitual con proyectos que tienen consultas SQL complejas o bases de datos </a:t>
            </a:r>
            <a:r>
              <a:rPr lang="es-ES" dirty="0" err="1"/>
              <a:t>legacy</a:t>
            </a:r>
            <a:r>
              <a:rPr lang="es-ES" dirty="0"/>
              <a:t> en la que preferimos hacer uso de consultas SQL planas y configurar todo un poco </a:t>
            </a:r>
            <a:r>
              <a:rPr lang="es-ES" dirty="0" smtClean="0"/>
              <a:t>sin </a:t>
            </a:r>
            <a:r>
              <a:rPr lang="es-ES" dirty="0"/>
              <a:t>abordar temas de </a:t>
            </a:r>
            <a:r>
              <a:rPr lang="es-ES" dirty="0" err="1"/>
              <a:t>frameworks</a:t>
            </a:r>
            <a:r>
              <a:rPr lang="es-ES" dirty="0"/>
              <a:t> ORM como </a:t>
            </a:r>
            <a:r>
              <a:rPr lang="es-ES" dirty="0" smtClean="0"/>
              <a:t>Hibérnate </a:t>
            </a:r>
            <a:r>
              <a:rPr lang="es-ES" dirty="0"/>
              <a:t>o </a:t>
            </a:r>
            <a:r>
              <a:rPr lang="es-ES" dirty="0" smtClean="0"/>
              <a:t>estándares </a:t>
            </a:r>
            <a:r>
              <a:rPr lang="es-ES" dirty="0"/>
              <a:t>tipo </a:t>
            </a:r>
            <a:r>
              <a:rPr lang="es-ES" dirty="0" smtClean="0"/>
              <a:t>JPA.</a:t>
            </a:r>
          </a:p>
          <a:p>
            <a:pPr marL="285750" indent="-285750">
              <a:buFont typeface="Arial" pitchFamily="34" charset="0"/>
              <a:buChar char="•"/>
            </a:pPr>
            <a:endParaRPr lang="es-ES" dirty="0"/>
          </a:p>
        </p:txBody>
      </p:sp>
      <p:pic>
        <p:nvPicPr>
          <p:cNvPr id="1638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5879" y="3619004"/>
            <a:ext cx="5794973" cy="3101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518244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a:latin typeface="Encode Sans" panose="020B0604020202020204"/>
                <a:ea typeface="Calibri" panose="020F0502020204030204" pitchFamily="34" charset="0"/>
              </a:rPr>
              <a:t>Spring </a:t>
            </a:r>
            <a:r>
              <a:rPr lang="es-ES" sz="2400" b="1" dirty="0" err="1">
                <a:latin typeface="Encode Sans" panose="020B0604020202020204"/>
                <a:ea typeface="Calibri" panose="020F0502020204030204" pitchFamily="34" charset="0"/>
              </a:rPr>
              <a:t>Boot</a:t>
            </a:r>
            <a:r>
              <a:rPr lang="es-ES" sz="2400" b="1" dirty="0">
                <a:latin typeface="Encode Sans" panose="020B0604020202020204"/>
                <a:ea typeface="Calibri" panose="020F0502020204030204" pitchFamily="34" charset="0"/>
              </a:rPr>
              <a:t> JDBC</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646331"/>
          </a:xfrm>
          <a:prstGeom prst="rect">
            <a:avLst/>
          </a:prstGeom>
        </p:spPr>
        <p:txBody>
          <a:bodyPr wrap="square">
            <a:spAutoFit/>
          </a:bodyPr>
          <a:lstStyle/>
          <a:p>
            <a:pPr marL="285750" indent="-285750">
              <a:buFont typeface="Arial" pitchFamily="34" charset="0"/>
              <a:buChar char="•"/>
            </a:pPr>
            <a:r>
              <a:rPr lang="es-ES" dirty="0" smtClean="0"/>
              <a:t>Una </a:t>
            </a:r>
            <a:r>
              <a:rPr lang="es-ES" dirty="0"/>
              <a:t>vez tenemos declaradas las dependencias a nivel de Spring </a:t>
            </a:r>
            <a:r>
              <a:rPr lang="es-ES" dirty="0" err="1"/>
              <a:t>Boot</a:t>
            </a:r>
            <a:r>
              <a:rPr lang="es-ES" dirty="0"/>
              <a:t> el siguiente paso es configurar el </a:t>
            </a:r>
            <a:r>
              <a:rPr lang="es-ES" dirty="0" err="1"/>
              <a:t>dataSource</a:t>
            </a:r>
            <a:r>
              <a:rPr lang="es-ES" dirty="0"/>
              <a:t> con la cadena de conexión usuario  y </a:t>
            </a:r>
            <a:r>
              <a:rPr lang="es-ES" dirty="0" smtClean="0"/>
              <a:t>clave a nuestro motor </a:t>
            </a:r>
            <a:r>
              <a:rPr lang="es-ES" dirty="0" err="1" smtClean="0"/>
              <a:t>MySQL</a:t>
            </a:r>
            <a:r>
              <a:rPr lang="es-ES" dirty="0" smtClean="0"/>
              <a:t>:</a:t>
            </a:r>
            <a:endParaRPr lang="es-AR" dirty="0"/>
          </a:p>
        </p:txBody>
      </p:sp>
      <p:pic>
        <p:nvPicPr>
          <p:cNvPr id="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44086" y="3341882"/>
            <a:ext cx="9147884" cy="1975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447507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a:latin typeface="Encode Sans" panose="020B0604020202020204"/>
                <a:ea typeface="Calibri" panose="020F0502020204030204" pitchFamily="34" charset="0"/>
              </a:rPr>
              <a:t>Spring </a:t>
            </a:r>
            <a:r>
              <a:rPr lang="es-ES" sz="2400" b="1" dirty="0" err="1">
                <a:latin typeface="Encode Sans" panose="020B0604020202020204"/>
                <a:ea typeface="Calibri" panose="020F0502020204030204" pitchFamily="34" charset="0"/>
              </a:rPr>
              <a:t>Boot</a:t>
            </a:r>
            <a:r>
              <a:rPr lang="es-ES" sz="2400" b="1" dirty="0">
                <a:latin typeface="Encode Sans" panose="020B0604020202020204"/>
                <a:ea typeface="Calibri" panose="020F0502020204030204" pitchFamily="34" charset="0"/>
              </a:rPr>
              <a:t> JDBC</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369332"/>
          </a:xfrm>
          <a:prstGeom prst="rect">
            <a:avLst/>
          </a:prstGeom>
        </p:spPr>
        <p:txBody>
          <a:bodyPr wrap="square">
            <a:spAutoFit/>
          </a:bodyPr>
          <a:lstStyle/>
          <a:p>
            <a:pPr marL="285750" indent="-285750">
              <a:buFont typeface="Arial" pitchFamily="34" charset="0"/>
              <a:buChar char="•"/>
            </a:pPr>
            <a:r>
              <a:rPr lang="es-ES" dirty="0" smtClean="0"/>
              <a:t>Código fuente del archivo de configuración según mi pc:</a:t>
            </a:r>
            <a:endParaRPr lang="es-AR" dirty="0"/>
          </a:p>
        </p:txBody>
      </p:sp>
    </p:spTree>
    <p:extLst>
      <p:ext uri="{BB962C8B-B14F-4D97-AF65-F5344CB8AC3E}">
        <p14:creationId xmlns:p14="http://schemas.microsoft.com/office/powerpoint/2010/main" val="32591735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Shape 136"/>
        <p:cNvGrpSpPr/>
        <p:nvPr/>
      </p:nvGrpSpPr>
      <p:grpSpPr>
        <a:xfrm>
          <a:off x="0" y="0"/>
          <a:ext cx="0" cy="0"/>
          <a:chOff x="0" y="0"/>
          <a:chExt cx="0" cy="0"/>
        </a:xfrm>
      </p:grpSpPr>
      <p:sp>
        <p:nvSpPr>
          <p:cNvPr id="137" name="Google Shape;137;p31"/>
          <p:cNvSpPr txBox="1"/>
          <p:nvPr/>
        </p:nvSpPr>
        <p:spPr>
          <a:xfrm>
            <a:off x="804220" y="2251200"/>
            <a:ext cx="9507200" cy="1816800"/>
          </a:xfrm>
          <a:prstGeom prst="rect">
            <a:avLst/>
          </a:prstGeom>
          <a:noFill/>
          <a:ln>
            <a:noFill/>
          </a:ln>
        </p:spPr>
        <p:txBody>
          <a:bodyPr spcFirstLastPara="1" wrap="square" lIns="121900" tIns="120000" rIns="121900" bIns="0" anchor="t" anchorCtr="0">
            <a:noAutofit/>
          </a:bodyPr>
          <a:lstStyle/>
          <a:p>
            <a:pPr defTabSz="1219170">
              <a:buClr>
                <a:srgbClr val="000000"/>
              </a:buClr>
              <a:buSzPts val="4000"/>
            </a:pPr>
            <a:r>
              <a:rPr lang="es-AR" sz="5333" b="1" kern="0" dirty="0" smtClean="0">
                <a:solidFill>
                  <a:srgbClr val="FADA54"/>
                </a:solidFill>
                <a:latin typeface="Encode Sans"/>
                <a:ea typeface="Encode Sans"/>
                <a:cs typeface="Encode Sans"/>
                <a:sym typeface="Encode Sans"/>
              </a:rPr>
              <a:t>Fin Presentación.</a:t>
            </a:r>
            <a:endParaRPr sz="5333" b="1" kern="0" dirty="0">
              <a:solidFill>
                <a:srgbClr val="FADA54"/>
              </a:solidFill>
              <a:latin typeface="Encode Sans"/>
              <a:ea typeface="Encode Sans"/>
              <a:cs typeface="Encode Sans"/>
              <a:sym typeface="Encode Sans"/>
            </a:endParaRPr>
          </a:p>
        </p:txBody>
      </p:sp>
      <p:cxnSp>
        <p:nvCxnSpPr>
          <p:cNvPr id="139" name="Google Shape;139;p31"/>
          <p:cNvCxnSpPr/>
          <p:nvPr/>
        </p:nvCxnSpPr>
        <p:spPr>
          <a:xfrm rot="10800000">
            <a:off x="959347" y="4522684"/>
            <a:ext cx="2529200" cy="3200"/>
          </a:xfrm>
          <a:prstGeom prst="straightConnector1">
            <a:avLst/>
          </a:prstGeom>
          <a:noFill/>
          <a:ln w="9525" cap="flat" cmpd="sng">
            <a:solidFill>
              <a:srgbClr val="F2F2F2"/>
            </a:solidFill>
            <a:prstDash val="solid"/>
            <a:round/>
            <a:headEnd type="none" w="sm" len="sm"/>
            <a:tailEnd type="none" w="sm" len="sm"/>
          </a:ln>
        </p:spPr>
      </p:cxnSp>
    </p:spTree>
    <p:extLst>
      <p:ext uri="{BB962C8B-B14F-4D97-AF65-F5344CB8AC3E}">
        <p14:creationId xmlns:p14="http://schemas.microsoft.com/office/powerpoint/2010/main" val="17631908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a:solidFill>
                  <a:srgbClr val="FDE23D"/>
                </a:solidFill>
                <a:latin typeface="Encode Sans"/>
                <a:sym typeface="Encode Sans"/>
              </a:rPr>
              <a:t>Módulo 8 - Back </a:t>
            </a:r>
            <a:r>
              <a:rPr lang="es-ES" sz="4000" b="1" kern="0" dirty="0" err="1">
                <a:solidFill>
                  <a:srgbClr val="FDE23D"/>
                </a:solidFill>
                <a:latin typeface="Encode Sans"/>
                <a:sym typeface="Encode Sans"/>
              </a:rPr>
              <a:t>End</a:t>
            </a:r>
            <a:r>
              <a:rPr lang="es-ES" sz="4000" b="1" kern="0" dirty="0">
                <a:solidFill>
                  <a:srgbClr val="FDE23D"/>
                </a:solidFill>
                <a:latin typeface="Encode Sans"/>
                <a:sym typeface="Encode Sans"/>
              </a:rPr>
              <a:t> - 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4"/>
            <a:ext cx="11131990" cy="4732232"/>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Agregado algunos complementos</a:t>
            </a:r>
            <a:endParaRPr lang="es-MX" sz="2400" b="1" dirty="0" smtClean="0">
              <a:effectLst/>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En nuestro caso agregaremos los siguientes complementos:</a:t>
            </a:r>
          </a:p>
          <a:p>
            <a:pPr marL="285750" indent="-285750">
              <a:buFont typeface="Arial" pitchFamily="34" charset="0"/>
              <a:buChar char="•"/>
            </a:pPr>
            <a:endParaRPr lang="es-ES" dirty="0" smtClean="0"/>
          </a:p>
          <a:p>
            <a:pPr marL="742950" lvl="1" indent="-285750">
              <a:buFont typeface="Arial" pitchFamily="34" charset="0"/>
              <a:buChar char="•"/>
            </a:pPr>
            <a:r>
              <a:rPr lang="es-AR" b="1" dirty="0" smtClean="0"/>
              <a:t>Spring Web</a:t>
            </a:r>
          </a:p>
          <a:p>
            <a:pPr marL="742950" lvl="1" indent="-285750">
              <a:buFont typeface="Arial" pitchFamily="34" charset="0"/>
              <a:buChar char="•"/>
            </a:pPr>
            <a:endParaRPr lang="es-ES" b="1" dirty="0" smtClean="0"/>
          </a:p>
          <a:p>
            <a:pPr marL="742950" lvl="1" indent="-285750">
              <a:buFont typeface="Arial" pitchFamily="34" charset="0"/>
              <a:buChar char="•"/>
            </a:pPr>
            <a:r>
              <a:rPr lang="es-AR" b="1" dirty="0" smtClean="0"/>
              <a:t>Spring </a:t>
            </a:r>
            <a:r>
              <a:rPr lang="es-AR" b="1" dirty="0" err="1" smtClean="0"/>
              <a:t>Boot</a:t>
            </a:r>
            <a:r>
              <a:rPr lang="es-AR" b="1" dirty="0" smtClean="0"/>
              <a:t> </a:t>
            </a:r>
            <a:r>
              <a:rPr lang="es-AR" b="1" dirty="0" err="1" smtClean="0"/>
              <a:t>DevTools</a:t>
            </a:r>
            <a:endParaRPr lang="es-ES" dirty="0" smtClean="0"/>
          </a:p>
          <a:p>
            <a:pPr marL="742950" lvl="1" indent="-285750">
              <a:buFont typeface="Arial" pitchFamily="34" charset="0"/>
              <a:buChar char="•"/>
            </a:pPr>
            <a:endParaRPr lang="es-ES" dirty="0" smtClean="0"/>
          </a:p>
          <a:p>
            <a:pPr marL="742950" lvl="1" indent="-285750">
              <a:buFont typeface="Arial" pitchFamily="34" charset="0"/>
              <a:buChar char="•"/>
            </a:pPr>
            <a:r>
              <a:rPr lang="es-ES" dirty="0" smtClean="0"/>
              <a:t>Además utilizaremos un complemento llamado </a:t>
            </a:r>
            <a:r>
              <a:rPr lang="es-AR" b="1" dirty="0" err="1" smtClean="0"/>
              <a:t>Thymeleaf</a:t>
            </a:r>
            <a:r>
              <a:rPr lang="es-AR" b="1" dirty="0" smtClean="0"/>
              <a:t>  </a:t>
            </a:r>
            <a:r>
              <a:rPr lang="es-AR" dirty="0" smtClean="0"/>
              <a:t>que es una evolución de nuestro lenguaje </a:t>
            </a:r>
            <a:r>
              <a:rPr lang="es-AR" b="1" dirty="0" smtClean="0"/>
              <a:t>JSP Java</a:t>
            </a:r>
            <a:r>
              <a:rPr lang="es-ES" dirty="0" smtClean="0"/>
              <a:t> con diferentes mejoras y que se integra perfectamente con Spring.</a:t>
            </a:r>
          </a:p>
          <a:p>
            <a:pPr marL="285750" indent="-285750">
              <a:buFont typeface="Arial" pitchFamily="34" charset="0"/>
              <a:buChar char="•"/>
            </a:pPr>
            <a:endParaRPr lang="es-ES" dirty="0"/>
          </a:p>
          <a:p>
            <a:pPr marL="285750" indent="-285750">
              <a:buFont typeface="Arial" pitchFamily="34" charset="0"/>
              <a:buChar char="•"/>
            </a:pPr>
            <a:r>
              <a:rPr lang="es-ES" dirty="0" smtClean="0">
                <a:hlinkClick r:id="rId4"/>
              </a:rPr>
              <a:t>http://www.profesor-p.com/2018/08/28/ejemplo-aplicacion-mvc-con-spring-boot-usando-netbeans-9/</a:t>
            </a:r>
            <a:endParaRPr lang="es-ES" dirty="0" smtClean="0"/>
          </a:p>
          <a:p>
            <a:pPr marL="285750" indent="-285750">
              <a:buFont typeface="Arial" pitchFamily="34" charset="0"/>
              <a:buChar char="•"/>
            </a:pPr>
            <a:endParaRPr lang="es-ES" dirty="0" smtClean="0"/>
          </a:p>
          <a:p>
            <a:pPr marL="285750" indent="-285750">
              <a:buFont typeface="Arial" pitchFamily="34" charset="0"/>
              <a:buChar char="•"/>
            </a:pPr>
            <a:r>
              <a:rPr lang="es-ES" dirty="0" smtClean="0">
                <a:hlinkClick r:id="rId5"/>
              </a:rPr>
              <a:t>https://www.youtube.com/watch?v=SyoEVbeEFEQ</a:t>
            </a:r>
            <a:endParaRPr lang="es-ES" dirty="0" smtClean="0"/>
          </a:p>
          <a:p>
            <a:pPr marL="285750" indent="-285750">
              <a:buFont typeface="Arial" pitchFamily="34" charset="0"/>
              <a:buChar char="•"/>
            </a:pPr>
            <a:endParaRPr lang="es-ES" dirty="0" smtClean="0"/>
          </a:p>
          <a:p>
            <a:pPr marL="285750" indent="-285750">
              <a:buFont typeface="Arial" pitchFamily="34" charset="0"/>
              <a:buChar char="•"/>
            </a:pPr>
            <a:r>
              <a:rPr lang="es-ES" dirty="0" smtClean="0">
                <a:hlinkClick r:id="rId6"/>
              </a:rPr>
              <a:t>https://www.youtube.com/watch?v=uq4GjRF_860&amp;t=1104s</a:t>
            </a:r>
            <a:endParaRPr lang="es-ES" dirty="0" smtClean="0"/>
          </a:p>
          <a:p>
            <a:pPr marL="285750" indent="-285750">
              <a:buFont typeface="Arial" pitchFamily="34" charset="0"/>
              <a:buChar char="•"/>
            </a:pPr>
            <a:endParaRPr lang="es-ES" dirty="0"/>
          </a:p>
        </p:txBody>
      </p:sp>
    </p:spTree>
    <p:extLst>
      <p:ext uri="{BB962C8B-B14F-4D97-AF65-F5344CB8AC3E}">
        <p14:creationId xmlns:p14="http://schemas.microsoft.com/office/powerpoint/2010/main" val="36162543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a:solidFill>
                  <a:srgbClr val="FDE23D"/>
                </a:solidFill>
                <a:latin typeface="Encode Sans"/>
                <a:sym typeface="Encode Sans"/>
              </a:rPr>
              <a:t>Módulo 8 - Back </a:t>
            </a:r>
            <a:r>
              <a:rPr lang="es-ES" sz="4000" b="1" kern="0" dirty="0" err="1">
                <a:solidFill>
                  <a:srgbClr val="FDE23D"/>
                </a:solidFill>
                <a:latin typeface="Encode Sans"/>
                <a:sym typeface="Encode Sans"/>
              </a:rPr>
              <a:t>End</a:t>
            </a:r>
            <a:r>
              <a:rPr lang="es-ES" sz="4000" b="1" kern="0" dirty="0">
                <a:solidFill>
                  <a:srgbClr val="FDE23D"/>
                </a:solidFill>
                <a:latin typeface="Encode Sans"/>
                <a:sym typeface="Encode Sans"/>
              </a:rPr>
              <a:t> - 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4"/>
            <a:ext cx="11131990" cy="2642175"/>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Agregado algunos complementos</a:t>
            </a:r>
            <a:endParaRPr lang="es-MX" sz="2400" b="1" dirty="0" smtClean="0">
              <a:effectLst/>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a:hlinkClick r:id="rId4"/>
              </a:rPr>
              <a:t>https://www.arquitecturajava.com/spring-mvc-configuracion/</a:t>
            </a:r>
            <a:endParaRPr lang="es-ES" dirty="0"/>
          </a:p>
          <a:p>
            <a:pPr marL="285750" indent="-285750">
              <a:buFont typeface="Arial" pitchFamily="34" charset="0"/>
              <a:buChar char="•"/>
            </a:pPr>
            <a:endParaRPr lang="es-ES" dirty="0"/>
          </a:p>
          <a:p>
            <a:pPr marL="285750" indent="-285750">
              <a:buFont typeface="Arial" pitchFamily="34" charset="0"/>
              <a:buChar char="•"/>
            </a:pPr>
            <a:r>
              <a:rPr lang="es-ES" dirty="0"/>
              <a:t>https://www.arquitecturajava.com/spring-getmapping-postmapping-etc/</a:t>
            </a:r>
          </a:p>
          <a:p>
            <a:pPr marL="285750" indent="-285750">
              <a:buFont typeface="Arial" pitchFamily="34" charset="0"/>
              <a:buChar char="•"/>
            </a:pPr>
            <a:endParaRPr lang="es-ES" dirty="0" smtClean="0"/>
          </a:p>
          <a:p>
            <a:pPr marL="285750" indent="-285750">
              <a:buFont typeface="Arial" pitchFamily="34" charset="0"/>
              <a:buChar char="•"/>
            </a:pPr>
            <a:r>
              <a:rPr lang="es-ES" dirty="0" smtClean="0"/>
              <a:t>https</a:t>
            </a:r>
            <a:r>
              <a:rPr lang="es-ES" dirty="0"/>
              <a:t>://www.arquitecturajava.com/spring-boot-jdbc-y-su-configuracion/</a:t>
            </a:r>
            <a:endParaRPr lang="es-ES" dirty="0" smtClean="0"/>
          </a:p>
        </p:txBody>
      </p:sp>
    </p:spTree>
    <p:extLst>
      <p:ext uri="{BB962C8B-B14F-4D97-AF65-F5344CB8AC3E}">
        <p14:creationId xmlns:p14="http://schemas.microsoft.com/office/powerpoint/2010/main" val="2293668645"/>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14155</TotalTime>
  <Words>1846</Words>
  <Application>Microsoft Office PowerPoint</Application>
  <PresentationFormat>Personalizado</PresentationFormat>
  <Paragraphs>375</Paragraphs>
  <Slides>53</Slides>
  <Notes>53</Notes>
  <HiddenSlides>0</HiddenSlides>
  <MMClips>0</MMClips>
  <ScaleCrop>false</ScaleCrop>
  <HeadingPairs>
    <vt:vector size="4" baseType="variant">
      <vt:variant>
        <vt:lpstr>Tema</vt:lpstr>
      </vt:variant>
      <vt:variant>
        <vt:i4>1</vt:i4>
      </vt:variant>
      <vt:variant>
        <vt:lpstr>Títulos de diapositiva</vt:lpstr>
      </vt:variant>
      <vt:variant>
        <vt:i4>53</vt:i4>
      </vt:variant>
    </vt:vector>
  </HeadingPairs>
  <TitlesOfParts>
    <vt:vector size="54" baseType="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Estrella Noemí Pujol</dc:creator>
  <cp:lastModifiedBy>Jomolca</cp:lastModifiedBy>
  <cp:revision>629</cp:revision>
  <cp:lastPrinted>2021-12-27T10:45:11Z</cp:lastPrinted>
  <dcterms:created xsi:type="dcterms:W3CDTF">2021-07-26T23:29:19Z</dcterms:created>
  <dcterms:modified xsi:type="dcterms:W3CDTF">2022-03-07T17:03:42Z</dcterms:modified>
</cp:coreProperties>
</file>