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4"/>
  </p:notesMasterIdLst>
  <p:sldIdLst>
    <p:sldId id="862" r:id="rId2"/>
    <p:sldId id="525" r:id="rId3"/>
    <p:sldId id="878" r:id="rId4"/>
    <p:sldId id="662" r:id="rId5"/>
    <p:sldId id="869" r:id="rId6"/>
    <p:sldId id="870" r:id="rId7"/>
    <p:sldId id="871" r:id="rId8"/>
    <p:sldId id="872" r:id="rId9"/>
    <p:sldId id="873" r:id="rId10"/>
    <p:sldId id="874" r:id="rId11"/>
    <p:sldId id="875" r:id="rId12"/>
    <p:sldId id="876" r:id="rId13"/>
    <p:sldId id="879" r:id="rId14"/>
    <p:sldId id="877" r:id="rId15"/>
    <p:sldId id="881" r:id="rId16"/>
    <p:sldId id="898" r:id="rId17"/>
    <p:sldId id="882" r:id="rId18"/>
    <p:sldId id="883" r:id="rId19"/>
    <p:sldId id="884" r:id="rId20"/>
    <p:sldId id="885" r:id="rId21"/>
    <p:sldId id="886" r:id="rId22"/>
    <p:sldId id="887" r:id="rId23"/>
    <p:sldId id="888" r:id="rId24"/>
    <p:sldId id="889" r:id="rId25"/>
    <p:sldId id="890" r:id="rId26"/>
    <p:sldId id="891" r:id="rId27"/>
    <p:sldId id="892" r:id="rId28"/>
    <p:sldId id="893" r:id="rId29"/>
    <p:sldId id="894" r:id="rId30"/>
    <p:sldId id="896" r:id="rId31"/>
    <p:sldId id="895" r:id="rId32"/>
    <p:sldId id="897" r:id="rId33"/>
    <p:sldId id="899" r:id="rId34"/>
    <p:sldId id="900" r:id="rId35"/>
    <p:sldId id="901" r:id="rId36"/>
    <p:sldId id="902" r:id="rId37"/>
    <p:sldId id="903" r:id="rId38"/>
    <p:sldId id="904" r:id="rId39"/>
    <p:sldId id="905" r:id="rId40"/>
    <p:sldId id="906" r:id="rId41"/>
    <p:sldId id="907" r:id="rId42"/>
    <p:sldId id="908" r:id="rId43"/>
    <p:sldId id="909" r:id="rId44"/>
    <p:sldId id="910" r:id="rId45"/>
    <p:sldId id="911" r:id="rId46"/>
    <p:sldId id="912" r:id="rId47"/>
    <p:sldId id="913" r:id="rId48"/>
    <p:sldId id="914" r:id="rId49"/>
    <p:sldId id="915" r:id="rId50"/>
    <p:sldId id="916" r:id="rId51"/>
    <p:sldId id="917" r:id="rId52"/>
    <p:sldId id="302" r:id="rId5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DA54"/>
    <a:srgbClr val="FDE23D"/>
    <a:srgbClr val="FBE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79" autoAdjust="0"/>
    <p:restoredTop sz="94660"/>
  </p:normalViewPr>
  <p:slideViewPr>
    <p:cSldViewPr snapToGrid="0">
      <p:cViewPr>
        <p:scale>
          <a:sx n="60" d="100"/>
          <a:sy n="60" d="100"/>
        </p:scale>
        <p:origin x="-1110" y="-3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4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E8C58-22A4-4B46-91FB-20BA2CD12ABB}" type="datetimeFigureOut">
              <a:rPr lang="es-AR" smtClean="0"/>
              <a:t>7/5/2022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1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4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5ED687-2B03-400F-8981-3FC49579929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46432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3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186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" name="Google Shape;14;p3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54019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36079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4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3" name="Google Shape;33;p4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7421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6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6" name="Google Shape;36;p4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27907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7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7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0" name="Google Shape;40;p47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1" name="Google Shape;41;p47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4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93711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8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4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93323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391563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6" r:id="rId2"/>
    <p:sldLayoutId id="2147483667" r:id="rId3"/>
    <p:sldLayoutId id="2147483668" r:id="rId4"/>
    <p:sldLayoutId id="2147483669" r:id="rId5"/>
    <p:sldLayoutId id="2147483670" r:id="rId6"/>
  </p:sldLayoutIdLst>
  <mc:AlternateContent xmlns:mc="http://schemas.openxmlformats.org/markup-compatibility/2006" xmlns:p14="http://schemas.microsoft.com/office/powerpoint/2010/main">
    <mc:Choice Requires="p14">
      <p:transition spd="slow" p14:dur="25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ever-cloud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ever-cloud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hyperlink" Target="https://www.heroku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irebase.google.com/?hl=es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4"/>
            <a:ext cx="11131990" cy="4684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Índice</a:t>
            </a:r>
            <a:endParaRPr lang="es-MX" sz="2400" b="1" dirty="0">
              <a:latin typeface="Encode Sans" panose="020B0604020202020204"/>
              <a:ea typeface="Calibri" panose="020F0502020204030204" pitchFamily="34" charset="0"/>
            </a:endParaRPr>
          </a:p>
          <a:p>
            <a:endParaRPr lang="es-AR" dirty="0" smtClean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 smtClean="0">
                <a:sym typeface="Georgia"/>
              </a:rPr>
              <a:t>Modificando </a:t>
            </a:r>
            <a:r>
              <a:rPr lang="es-AR" dirty="0">
                <a:sym typeface="Georgia"/>
              </a:rPr>
              <a:t>interfaz y controlador de nuestro CRUD y algo más– </a:t>
            </a:r>
            <a:r>
              <a:rPr lang="es-AR" dirty="0" err="1">
                <a:sym typeface="Georgia"/>
              </a:rPr>
              <a:t>Backend</a:t>
            </a:r>
            <a:endParaRPr lang="es-AR" dirty="0">
              <a:sym typeface="Georgia"/>
            </a:endParaRPr>
          </a:p>
          <a:p>
            <a:endParaRPr lang="es-ES" dirty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>
                <a:sym typeface="Georgia"/>
              </a:rPr>
              <a:t>CRUD Angular Front </a:t>
            </a:r>
            <a:r>
              <a:rPr lang="es-AR" dirty="0" err="1" smtClean="0">
                <a:sym typeface="Georgia"/>
              </a:rPr>
              <a:t>End</a:t>
            </a:r>
            <a:endParaRPr lang="es-AR" dirty="0" smtClean="0">
              <a:sym typeface="Georgia"/>
            </a:endParaRPr>
          </a:p>
          <a:p>
            <a:pPr marL="742950" lvl="1" indent="-285750">
              <a:buFont typeface="Arial" pitchFamily="34" charset="0"/>
              <a:buChar char="•"/>
            </a:pPr>
            <a:endParaRPr lang="es-AR" dirty="0">
              <a:sym typeface="Georgia"/>
            </a:endParaRPr>
          </a:p>
          <a:p>
            <a:pPr marL="742950" lvl="1" indent="-285750">
              <a:buFont typeface="Arial" pitchFamily="34" charset="0"/>
              <a:buChar char="•"/>
            </a:pPr>
            <a:r>
              <a:rPr lang="es-AR" dirty="0" err="1" smtClean="0">
                <a:sym typeface="Georgia"/>
              </a:rPr>
              <a:t>Linkeando</a:t>
            </a:r>
            <a:r>
              <a:rPr lang="es-AR" dirty="0" smtClean="0">
                <a:sym typeface="Georgia"/>
              </a:rPr>
              <a:t> </a:t>
            </a:r>
            <a:r>
              <a:rPr lang="es-AR" dirty="0">
                <a:sym typeface="Georgia"/>
              </a:rPr>
              <a:t>librerías e instalando complemento para los mensajes emergentes - CRUD Angular Front </a:t>
            </a:r>
            <a:r>
              <a:rPr lang="es-AR" dirty="0" err="1">
                <a:sym typeface="Georgia"/>
              </a:rPr>
              <a:t>End</a:t>
            </a:r>
            <a:endParaRPr lang="es-AR" dirty="0">
              <a:sym typeface="Georgia"/>
            </a:endParaRPr>
          </a:p>
          <a:p>
            <a:endParaRPr lang="es-ES" dirty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>
                <a:sym typeface="Georgia"/>
              </a:rPr>
              <a:t>Generando los controladores para todo nuestro ABM - CRUD Angular Front </a:t>
            </a:r>
            <a:r>
              <a:rPr lang="es-AR" dirty="0" err="1">
                <a:sym typeface="Georgia"/>
              </a:rPr>
              <a:t>End</a:t>
            </a:r>
            <a:endParaRPr lang="es-AR" dirty="0">
              <a:sym typeface="Georgia"/>
            </a:endParaRPr>
          </a:p>
          <a:p>
            <a:endParaRPr lang="es-ES" dirty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>
                <a:sym typeface="Georgia"/>
              </a:rPr>
              <a:t>Programando clase usuario - CRUD Angular Front </a:t>
            </a:r>
            <a:r>
              <a:rPr lang="es-AR" dirty="0" err="1" smtClean="0">
                <a:sym typeface="Georgia"/>
              </a:rPr>
              <a:t>End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31180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Servidor CLEVER-CLOUD para nuestra base de datos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MySQL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52494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Creando Base de datos en CLEVER-CLOUD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89008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217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generar nuestra base de datos en un servidor </a:t>
            </a:r>
            <a:r>
              <a:rPr lang="es-ES" dirty="0" err="1" smtClean="0"/>
              <a:t>MySQL</a:t>
            </a:r>
            <a:r>
              <a:rPr lang="es-ES" dirty="0" smtClean="0"/>
              <a:t> online existen múltiples alternativas, nosotros utilizaremos como propuesta de trabajo al servidor </a:t>
            </a:r>
            <a:r>
              <a:rPr lang="es-ES" b="1" dirty="0" err="1" smtClean="0"/>
              <a:t>Clever</a:t>
            </a:r>
            <a:r>
              <a:rPr lang="es-ES" b="1" dirty="0" smtClean="0"/>
              <a:t>-Cloud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acceder al mismo deberemos de ingresar la siguiente </a:t>
            </a:r>
            <a:r>
              <a:rPr lang="es-ES" dirty="0" err="1" smtClean="0"/>
              <a:t>url</a:t>
            </a:r>
            <a:endParaRPr lang="es-ES" dirty="0" smtClean="0"/>
          </a:p>
          <a:p>
            <a:pPr lvl="2"/>
            <a:endParaRPr lang="es-ES" dirty="0">
              <a:hlinkClick r:id="rId3"/>
            </a:endParaRPr>
          </a:p>
          <a:p>
            <a:pPr lvl="2"/>
            <a:r>
              <a:rPr lang="es-ES" dirty="0" smtClean="0">
                <a:hlinkClick r:id="rId3"/>
              </a:rPr>
              <a:t>https</a:t>
            </a:r>
            <a:r>
              <a:rPr lang="es-ES" dirty="0">
                <a:hlinkClick r:id="rId3"/>
              </a:rPr>
              <a:t>://www.clever-cloud.com</a:t>
            </a:r>
            <a:r>
              <a:rPr lang="es-ES" dirty="0" smtClean="0">
                <a:hlinkClick r:id="rId3"/>
              </a:rPr>
              <a:t>/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Estamos dentro de este sitio generamos una cuenta de usuario.</a:t>
            </a:r>
            <a:endParaRPr lang="es-E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09243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884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820" y="2790498"/>
            <a:ext cx="11744325" cy="2600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0080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4650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Tenemos dos posibilidades de generar el usuario, una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posibilidad es gestionar una de forma local opción A y otro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Forma es utilizar una validación externa mediante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github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B.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 forma local se nos pide correo y un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password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como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datos iniciales, luego esto deriva en un proceso de validación y </a:t>
            </a:r>
          </a:p>
          <a:p>
            <a:r>
              <a:rPr lang="es-MX" dirty="0">
                <a:latin typeface="+mj-lt"/>
                <a:ea typeface="Calibri" panose="020F0502020204030204" pitchFamily="34" charset="0"/>
              </a:rPr>
              <a:t>c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orroboración de correo ingresado para dar por valida la cuenta y</a:t>
            </a:r>
          </a:p>
          <a:p>
            <a:r>
              <a:rPr lang="es-MX" dirty="0">
                <a:latin typeface="+mj-lt"/>
                <a:ea typeface="Calibri" panose="020F0502020204030204" pitchFamily="34" charset="0"/>
              </a:rPr>
              <a:t>h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abilitación de la misma.</a:t>
            </a:r>
          </a:p>
          <a:p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 seleccionar la opción B se nos pide ingresar los datos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que utilizamos para ingresar al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GItHub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simplemente, se realiza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Una negociación entre estos servidores y si todo esta ok se nos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habilita el acceso al panel de control de 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hosting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568" y="1051489"/>
            <a:ext cx="4258870" cy="55053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37481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584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Panel de </a:t>
            </a:r>
          </a:p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control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3076" y="1004880"/>
            <a:ext cx="9857424" cy="54905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40531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343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Desde dentro de nuestro panel de control accedemos a </a:t>
            </a:r>
            <a:r>
              <a:rPr lang="es-ES" b="1" dirty="0" smtClean="0"/>
              <a:t>«Personal </a:t>
            </a:r>
            <a:r>
              <a:rPr lang="es-ES" b="1" dirty="0" err="1"/>
              <a:t>S</a:t>
            </a:r>
            <a:r>
              <a:rPr lang="es-ES" b="1" dirty="0" err="1" smtClean="0"/>
              <a:t>pace</a:t>
            </a:r>
            <a:r>
              <a:rPr lang="es-ES" b="1" dirty="0" smtClean="0"/>
              <a:t>»</a:t>
            </a:r>
            <a:r>
              <a:rPr lang="es-ES" dirty="0" smtClean="0"/>
              <a:t> (A) mediante 1 </a:t>
            </a:r>
            <a:r>
              <a:rPr lang="es-ES" dirty="0" err="1" smtClean="0"/>
              <a:t>click</a:t>
            </a:r>
            <a:r>
              <a:rPr lang="es-ES" dirty="0" smtClean="0"/>
              <a:t> izquierdo.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Esto nos habilitara un menú en </a:t>
            </a:r>
          </a:p>
          <a:p>
            <a:r>
              <a:rPr lang="es-ES" dirty="0" smtClean="0"/>
              <a:t>donde nos muestra un menú donde </a:t>
            </a:r>
          </a:p>
          <a:p>
            <a:r>
              <a:rPr lang="es-ES" dirty="0" smtClean="0"/>
              <a:t>podremos hacer 1 </a:t>
            </a:r>
            <a:r>
              <a:rPr lang="es-ES" dirty="0" err="1" smtClean="0"/>
              <a:t>click</a:t>
            </a:r>
            <a:r>
              <a:rPr lang="es-ES" dirty="0" smtClean="0"/>
              <a:t> izquierdo </a:t>
            </a:r>
          </a:p>
          <a:p>
            <a:r>
              <a:rPr lang="es-ES" dirty="0" smtClean="0"/>
              <a:t>sobre el botón </a:t>
            </a:r>
            <a:r>
              <a:rPr lang="es-ES" b="1" dirty="0" smtClean="0"/>
              <a:t>«</a:t>
            </a:r>
            <a:r>
              <a:rPr lang="es-ES" b="1" dirty="0" err="1" smtClean="0"/>
              <a:t>Create</a:t>
            </a:r>
            <a:r>
              <a:rPr lang="es-ES" b="1" dirty="0" smtClean="0"/>
              <a:t>…»</a:t>
            </a:r>
            <a:r>
              <a:rPr lang="es-ES" dirty="0" smtClean="0"/>
              <a:t> (B).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3550" y="3168868"/>
            <a:ext cx="7398241" cy="29997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533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564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Del listado que se nos muestra </a:t>
            </a:r>
          </a:p>
          <a:p>
            <a:r>
              <a:rPr lang="es-ES" dirty="0" smtClean="0"/>
              <a:t>seleccionamos la opción </a:t>
            </a:r>
            <a:r>
              <a:rPr lang="es-ES" b="1" dirty="0" smtClean="0"/>
              <a:t>«</a:t>
            </a:r>
            <a:r>
              <a:rPr lang="es-ES" b="1" dirty="0" err="1" smtClean="0"/>
              <a:t>an</a:t>
            </a:r>
            <a:r>
              <a:rPr lang="es-ES" b="1" dirty="0" smtClean="0"/>
              <a:t> </a:t>
            </a:r>
            <a:r>
              <a:rPr lang="es-ES" b="1" dirty="0" err="1" smtClean="0"/>
              <a:t>add</a:t>
            </a:r>
            <a:r>
              <a:rPr lang="es-ES" b="1" dirty="0" smtClean="0"/>
              <a:t> </a:t>
            </a:r>
            <a:r>
              <a:rPr lang="es-ES" b="1" dirty="0" err="1" smtClean="0"/>
              <a:t>on</a:t>
            </a:r>
            <a:r>
              <a:rPr lang="es-ES" b="1" dirty="0" smtClean="0"/>
              <a:t>»</a:t>
            </a:r>
            <a:r>
              <a:rPr lang="es-ES" dirty="0" smtClean="0"/>
              <a:t>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 esta acción se nos habilita un panel de opciones donde deberemos</a:t>
            </a:r>
          </a:p>
          <a:p>
            <a:r>
              <a:rPr lang="es-ES" dirty="0" smtClean="0"/>
              <a:t>de buscar y elegir la opción </a:t>
            </a:r>
            <a:r>
              <a:rPr lang="es-ES" b="1" dirty="0" err="1" smtClean="0"/>
              <a:t>MySQL</a:t>
            </a:r>
            <a:endParaRPr lang="es-ES" b="1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060" y="2333299"/>
            <a:ext cx="3175115" cy="2286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3833" y="2909563"/>
            <a:ext cx="3839137" cy="3826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645517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462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Del listado elegimos la opción primera ya que no demanda gasto de algún pago.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b="1" dirty="0"/>
          </a:p>
          <a:p>
            <a:pPr marL="285750" indent="-285750">
              <a:buFont typeface="Arial" pitchFamily="34" charset="0"/>
              <a:buChar char="•"/>
            </a:pPr>
            <a:endParaRPr lang="es-ES" b="1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b="1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Por </a:t>
            </a:r>
            <a:r>
              <a:rPr lang="es-ES" dirty="0"/>
              <a:t>último presionamos en el  botón </a:t>
            </a:r>
            <a:r>
              <a:rPr lang="es-ES" b="1" dirty="0"/>
              <a:t>«NEXT» </a:t>
            </a:r>
            <a:r>
              <a:rPr lang="es-ES" dirty="0"/>
              <a:t>que se encuentra al final del listado.</a:t>
            </a:r>
            <a:endParaRPr lang="es-ES" b="1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478" y="3110941"/>
            <a:ext cx="9629775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2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9051" y="3105797"/>
            <a:ext cx="1857375" cy="2295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23" name="Picture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6567" y="5557509"/>
            <a:ext cx="2448910" cy="1186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333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2492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Indicamos en nombre de nuestra base de datos a crear. </a:t>
            </a:r>
          </a:p>
          <a:p>
            <a:r>
              <a:rPr lang="es-ES" dirty="0" smtClean="0"/>
              <a:t>En esta caso la llamaremos «portfolio» (A).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Dejamos por defecto la zona de nuestro servidor (B).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Por último presionamos en </a:t>
            </a:r>
            <a:r>
              <a:rPr lang="es-ES" b="1" dirty="0" smtClean="0"/>
              <a:t>«NEXT» </a:t>
            </a:r>
            <a:r>
              <a:rPr lang="es-ES" dirty="0" smtClean="0"/>
              <a:t>(C)</a:t>
            </a:r>
            <a:endParaRPr lang="es-E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53" y="554914"/>
            <a:ext cx="4853316" cy="5749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7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9019" y="5696752"/>
            <a:ext cx="2108284" cy="1161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58790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4258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Datos de acceso a la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BDs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Finalizado el proceso de </a:t>
            </a:r>
          </a:p>
          <a:p>
            <a:r>
              <a:rPr lang="es-ES" dirty="0" smtClean="0"/>
              <a:t>generación de nuestra base de </a:t>
            </a:r>
          </a:p>
          <a:p>
            <a:r>
              <a:rPr lang="es-ES" dirty="0" smtClean="0"/>
              <a:t>datos se nos devuelve una </a:t>
            </a:r>
            <a:r>
              <a:rPr lang="es-ES" dirty="0" err="1" smtClean="0"/>
              <a:t>pag</a:t>
            </a:r>
            <a:r>
              <a:rPr lang="es-ES" dirty="0" smtClean="0"/>
              <a:t>. </a:t>
            </a:r>
          </a:p>
          <a:p>
            <a:r>
              <a:rPr lang="es-ES" dirty="0" smtClean="0"/>
              <a:t>con el detalle de los datos de </a:t>
            </a:r>
          </a:p>
          <a:p>
            <a:r>
              <a:rPr lang="es-ES" dirty="0" smtClean="0"/>
              <a:t>acceso para poder consumir la </a:t>
            </a:r>
          </a:p>
          <a:p>
            <a:r>
              <a:rPr lang="es-ES" dirty="0" smtClean="0"/>
              <a:t>misma desde nuestra aplicación, </a:t>
            </a:r>
          </a:p>
          <a:p>
            <a:r>
              <a:rPr lang="es-ES" dirty="0" smtClean="0"/>
              <a:t>entre otros detalles.</a:t>
            </a:r>
          </a:p>
          <a:p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Como se puede observar </a:t>
            </a:r>
          </a:p>
          <a:p>
            <a:r>
              <a:rPr lang="es-ES" dirty="0" smtClean="0"/>
              <a:t>contamos con los datos que </a:t>
            </a:r>
          </a:p>
          <a:p>
            <a:r>
              <a:rPr lang="es-ES" dirty="0" smtClean="0"/>
              <a:t>Usaremos luego en nuestra </a:t>
            </a:r>
            <a:r>
              <a:rPr lang="es-ES" dirty="0" err="1" smtClean="0"/>
              <a:t>app</a:t>
            </a:r>
            <a:r>
              <a:rPr lang="es-ES" dirty="0" smtClean="0"/>
              <a:t>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b="1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668447"/>
            <a:ext cx="7696200" cy="6181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30798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Modificando datos de configuración de acceso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10549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204952" y="1906075"/>
            <a:ext cx="11761076" cy="4431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Modificando parámetros</a:t>
            </a:r>
          </a:p>
          <a:p>
            <a:endParaRPr lang="es-MX" sz="2400" b="1" dirty="0">
              <a:latin typeface="Encode Sans" panose="020B0604020202020204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Dentro de nuestra aplicación de Java accedemos a nuestro archivo de configuración en donde disponemos la configuración </a:t>
            </a:r>
            <a:r>
              <a:rPr lang="es-ES" dirty="0"/>
              <a:t>que nos permite conectarnos a nuestra base de datos.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Valores definidos inicialmente en nuestra conexión a base de datos local: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lvl="1"/>
            <a:r>
              <a:rPr lang="es-AR" b="1" dirty="0" err="1" smtClean="0"/>
              <a:t>spring.jpa.hibernate.ddl</a:t>
            </a:r>
            <a:r>
              <a:rPr lang="es-AR" b="1" dirty="0" smtClean="0"/>
              <a:t>-auto=</a:t>
            </a:r>
            <a:r>
              <a:rPr lang="es-AR" sz="2000" b="1" dirty="0" err="1" smtClean="0">
                <a:solidFill>
                  <a:srgbClr val="FF0000"/>
                </a:solidFill>
              </a:rPr>
              <a:t>none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/>
              <a:t>spring.datasource.url=</a:t>
            </a:r>
            <a:r>
              <a:rPr lang="es-AR" b="1" dirty="0" err="1"/>
              <a:t>jdbc:mysql</a:t>
            </a:r>
            <a:r>
              <a:rPr lang="es-AR" b="1" dirty="0"/>
              <a:t>://${</a:t>
            </a:r>
            <a:r>
              <a:rPr lang="es-AR" b="1" dirty="0" err="1" smtClean="0"/>
              <a:t>MYSQL_HOST:</a:t>
            </a:r>
            <a:r>
              <a:rPr lang="es-AR" sz="2000" b="1" dirty="0" err="1" smtClean="0">
                <a:solidFill>
                  <a:srgbClr val="FF0000"/>
                </a:solidFill>
              </a:rPr>
              <a:t>localhost</a:t>
            </a:r>
            <a:r>
              <a:rPr lang="es-AR" b="1" dirty="0" smtClean="0"/>
              <a:t>}:</a:t>
            </a:r>
            <a:r>
              <a:rPr lang="es-AR" sz="2000" b="1" dirty="0" smtClean="0">
                <a:solidFill>
                  <a:srgbClr val="FF0000"/>
                </a:solidFill>
              </a:rPr>
              <a:t>3306</a:t>
            </a:r>
            <a:r>
              <a:rPr lang="es-AR" b="1" dirty="0" smtClean="0"/>
              <a:t>/</a:t>
            </a:r>
            <a:r>
              <a:rPr lang="es-AR" sz="2000" b="1" dirty="0" err="1" smtClean="0">
                <a:solidFill>
                  <a:srgbClr val="FF0000"/>
                </a:solidFill>
              </a:rPr>
              <a:t>dbportfolio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spring.datasource.username</a:t>
            </a:r>
            <a:r>
              <a:rPr lang="es-AR" b="1" dirty="0" smtClean="0"/>
              <a:t>=</a:t>
            </a:r>
            <a:r>
              <a:rPr lang="es-AR" sz="2000" b="1" dirty="0" err="1" smtClean="0">
                <a:solidFill>
                  <a:srgbClr val="FF0000"/>
                </a:solidFill>
              </a:rPr>
              <a:t>root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spring.datasource.password</a:t>
            </a:r>
            <a:r>
              <a:rPr lang="es-AR" b="1" dirty="0" smtClean="0"/>
              <a:t>=</a:t>
            </a:r>
            <a:r>
              <a:rPr lang="es-AR" sz="2000" b="1" dirty="0" smtClean="0">
                <a:solidFill>
                  <a:srgbClr val="FF0000"/>
                </a:solidFill>
              </a:rPr>
              <a:t>123456a$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/>
              <a:t>spring.datasource.driver-class-name</a:t>
            </a:r>
            <a:r>
              <a:rPr lang="es-AR" b="1" dirty="0"/>
              <a:t> =</a:t>
            </a:r>
            <a:r>
              <a:rPr lang="es-AR" b="1" dirty="0" err="1" smtClean="0"/>
              <a:t>com.mysql.jdbc.Driver</a:t>
            </a:r>
            <a:endParaRPr lang="es-AR" b="1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19277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204952" y="1906075"/>
            <a:ext cx="11761076" cy="4431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Modificando parámetros</a:t>
            </a:r>
          </a:p>
          <a:p>
            <a:endParaRPr lang="es-MX" sz="2400" b="1" dirty="0">
              <a:latin typeface="Encode Sans" panose="020B0604020202020204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Modificamos </a:t>
            </a:r>
            <a:r>
              <a:rPr lang="es-ES" dirty="0"/>
              <a:t>los valores </a:t>
            </a:r>
            <a:r>
              <a:rPr lang="es-ES" dirty="0" smtClean="0"/>
              <a:t>de nuestro archivo «</a:t>
            </a:r>
            <a:r>
              <a:rPr lang="es-ES" b="1" dirty="0" err="1" smtClean="0"/>
              <a:t>application.properties</a:t>
            </a:r>
            <a:r>
              <a:rPr lang="es-ES" b="1" dirty="0" smtClean="0"/>
              <a:t>»</a:t>
            </a:r>
            <a:r>
              <a:rPr lang="es-ES" dirty="0" smtClean="0"/>
              <a:t> para nuestra </a:t>
            </a:r>
            <a:r>
              <a:rPr lang="es-ES" dirty="0" err="1" smtClean="0"/>
              <a:t>bds</a:t>
            </a:r>
            <a:r>
              <a:rPr lang="es-ES" dirty="0" smtClean="0"/>
              <a:t> online: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lvl="1"/>
            <a:r>
              <a:rPr lang="es-AR" b="1" dirty="0" err="1" smtClean="0"/>
              <a:t>spring.jpa.hibernate.ddl</a:t>
            </a:r>
            <a:r>
              <a:rPr lang="es-AR" b="1" dirty="0"/>
              <a:t>-auto= </a:t>
            </a:r>
            <a:r>
              <a:rPr lang="es-AR" b="1" dirty="0" err="1">
                <a:solidFill>
                  <a:srgbClr val="FF0000"/>
                </a:solidFill>
              </a:rPr>
              <a:t>update</a:t>
            </a:r>
            <a:r>
              <a:rPr lang="es-AR" dirty="0"/>
              <a:t> </a:t>
            </a:r>
            <a:r>
              <a:rPr lang="es-AR" dirty="0" smtClean="0"/>
              <a:t>(Para genere las tablas se indica </a:t>
            </a:r>
            <a:r>
              <a:rPr lang="es-AR" b="1" dirty="0" err="1" smtClean="0"/>
              <a:t>update</a:t>
            </a:r>
            <a:r>
              <a:rPr lang="es-AR" dirty="0" smtClean="0"/>
              <a:t> de lo contrario </a:t>
            </a:r>
            <a:r>
              <a:rPr lang="es-AR" b="1" dirty="0" err="1" smtClean="0"/>
              <a:t>none</a:t>
            </a:r>
            <a:r>
              <a:rPr lang="es-AR" b="1" dirty="0" smtClean="0"/>
              <a:t> </a:t>
            </a:r>
            <a:r>
              <a:rPr lang="es-AR" dirty="0" smtClean="0"/>
              <a:t>y esto no afectara a la estructura de la base de datos)</a:t>
            </a:r>
          </a:p>
          <a:p>
            <a:pPr lvl="1"/>
            <a:endParaRPr lang="es-AR" b="1" dirty="0"/>
          </a:p>
          <a:p>
            <a:pPr lvl="1"/>
            <a:r>
              <a:rPr lang="es-AR" b="1" dirty="0"/>
              <a:t>spring.datasource.url=</a:t>
            </a:r>
            <a:r>
              <a:rPr lang="es-AR" b="1" dirty="0" err="1"/>
              <a:t>jdbc:mysql</a:t>
            </a:r>
            <a:r>
              <a:rPr lang="es-AR" b="1" dirty="0"/>
              <a:t>://${</a:t>
            </a:r>
            <a:r>
              <a:rPr lang="es-AR" b="1" dirty="0" err="1" smtClean="0"/>
              <a:t>MYSQL_HOST:l</a:t>
            </a:r>
            <a:r>
              <a:rPr lang="es-AR" b="1" dirty="0">
                <a:solidFill>
                  <a:srgbClr val="FF0000"/>
                </a:solidFill>
              </a:rPr>
              <a:t> bpytq4gofoeogfdehijc-mysql.services.clever-cloud.com</a:t>
            </a:r>
            <a:r>
              <a:rPr lang="es-AR" b="1" dirty="0" smtClean="0"/>
              <a:t>}:</a:t>
            </a:r>
            <a:r>
              <a:rPr lang="es-AR" b="1" dirty="0" smtClean="0">
                <a:solidFill>
                  <a:srgbClr val="FF0000"/>
                </a:solidFill>
              </a:rPr>
              <a:t>3306</a:t>
            </a:r>
            <a:r>
              <a:rPr lang="es-AR" b="1" dirty="0" smtClean="0"/>
              <a:t>/</a:t>
            </a:r>
            <a:r>
              <a:rPr lang="es-AR" b="1" dirty="0">
                <a:solidFill>
                  <a:srgbClr val="FF0000"/>
                </a:solidFill>
              </a:rPr>
              <a:t> </a:t>
            </a:r>
            <a:r>
              <a:rPr lang="es-AR" b="1" dirty="0" smtClean="0">
                <a:solidFill>
                  <a:srgbClr val="FF0000"/>
                </a:solidFill>
              </a:rPr>
              <a:t>bpytq4gofoeogfdehijc</a:t>
            </a:r>
          </a:p>
          <a:p>
            <a:pPr lvl="1"/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spring.datasource.username</a:t>
            </a:r>
            <a:r>
              <a:rPr lang="es-AR" b="1" dirty="0" smtClean="0"/>
              <a:t>=</a:t>
            </a:r>
            <a:r>
              <a:rPr lang="es-AR" b="1" dirty="0">
                <a:solidFill>
                  <a:srgbClr val="FF0000"/>
                </a:solidFill>
              </a:rPr>
              <a:t> </a:t>
            </a:r>
            <a:r>
              <a:rPr lang="es-AR" b="1" dirty="0" err="1" smtClean="0">
                <a:solidFill>
                  <a:srgbClr val="FF0000"/>
                </a:solidFill>
              </a:rPr>
              <a:t>udssesbzkvxjxubo</a:t>
            </a:r>
            <a:endParaRPr lang="es-AR" b="1" dirty="0" smtClean="0">
              <a:solidFill>
                <a:srgbClr val="FF0000"/>
              </a:solidFill>
            </a:endParaRPr>
          </a:p>
          <a:p>
            <a:pPr lvl="1"/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spring.datasource.password</a:t>
            </a:r>
            <a:r>
              <a:rPr lang="es-AR" b="1" dirty="0" smtClean="0"/>
              <a:t>=</a:t>
            </a:r>
            <a:r>
              <a:rPr lang="es-AR" b="1" dirty="0">
                <a:solidFill>
                  <a:srgbClr val="FF0000"/>
                </a:solidFill>
              </a:rPr>
              <a:t> </a:t>
            </a:r>
            <a:r>
              <a:rPr lang="es-AR" b="1" dirty="0" smtClean="0">
                <a:solidFill>
                  <a:srgbClr val="FF0000"/>
                </a:solidFill>
              </a:rPr>
              <a:t>46UzJWqGyOmYipHkKGNP</a:t>
            </a:r>
          </a:p>
          <a:p>
            <a:pPr lvl="1"/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/>
              <a:t>spring.datasource.driver-class-name</a:t>
            </a:r>
            <a:r>
              <a:rPr lang="es-AR" b="1" dirty="0"/>
              <a:t> =</a:t>
            </a:r>
            <a:r>
              <a:rPr lang="es-AR" b="1" dirty="0" err="1" smtClean="0"/>
              <a:t>com.mysql.jdbc.Driver</a:t>
            </a:r>
            <a:endParaRPr lang="es-AR" b="1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70755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204952" y="1906075"/>
            <a:ext cx="11761076" cy="1215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Modificando parámetros</a:t>
            </a:r>
          </a:p>
          <a:p>
            <a:endParaRPr lang="es-MX" sz="2400" b="1" dirty="0">
              <a:latin typeface="Encode Sans" panose="020B0604020202020204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Por ultimo se corre proyecto de </a:t>
            </a:r>
            <a:r>
              <a:rPr lang="es-ES" dirty="0" err="1" smtClean="0"/>
              <a:t>spring</a:t>
            </a:r>
            <a:r>
              <a:rPr lang="es-ES" dirty="0" smtClean="0"/>
              <a:t> </a:t>
            </a:r>
            <a:r>
              <a:rPr lang="es-ES" dirty="0" err="1" smtClean="0"/>
              <a:t>boot</a:t>
            </a:r>
            <a:r>
              <a:rPr lang="es-ES" dirty="0" smtClean="0"/>
              <a:t> para que genere la o las tablas correspondientes en la base de datos</a:t>
            </a:r>
            <a:endParaRPr lang="es-AR" b="1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68562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Servidor HEROKU para nuestra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de java con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spring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boot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1490" y="1054919"/>
            <a:ext cx="3554960" cy="1033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41571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Generando y subiendo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final para desplegar en HEROKU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03642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217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Subiendo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Heroku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subir nuestra aplicación java deberemos de ingresar al siguiente servidor de trabajo llamado </a:t>
            </a:r>
            <a:r>
              <a:rPr lang="es-ES" b="1" dirty="0" err="1" smtClean="0"/>
              <a:t>Heroku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acceder al mismo deberemos de ingresar la siguiente </a:t>
            </a:r>
            <a:r>
              <a:rPr lang="es-ES" dirty="0" err="1" smtClean="0"/>
              <a:t>url</a:t>
            </a:r>
            <a:endParaRPr lang="es-ES" dirty="0" smtClean="0"/>
          </a:p>
          <a:p>
            <a:pPr lvl="2"/>
            <a:endParaRPr lang="es-ES" dirty="0">
              <a:hlinkClick r:id="rId3"/>
            </a:endParaRPr>
          </a:p>
          <a:p>
            <a:pPr lvl="2"/>
            <a:r>
              <a:rPr lang="es-ES" dirty="0">
                <a:hlinkClick r:id="rId4"/>
              </a:rPr>
              <a:t>https://www.heroku.com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pPr lvl="2"/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Estamos dentro de este sitio generamos una cuenta de usuario.</a:t>
            </a:r>
            <a:endParaRPr lang="es-E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34063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884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" y="2743199"/>
            <a:ext cx="11887200" cy="309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48353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4"/>
            <a:ext cx="11131990" cy="4084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Tenemos que completar todos los datos o por lo menos los obligatorios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que son los indicados con un asterisco color rojo.</a:t>
            </a:r>
          </a:p>
          <a:p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Por último presionar  en el botón de generar cuenta.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Existe una verificación por correo sobre los datos para dar por finalizado</a:t>
            </a:r>
          </a:p>
          <a:p>
            <a:r>
              <a:rPr lang="es-MX" dirty="0">
                <a:latin typeface="+mj-lt"/>
                <a:ea typeface="Calibri" panose="020F0502020204030204" pitchFamily="34" charset="0"/>
              </a:rPr>
              <a:t>e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l ciclo de la generación de la cuenta re direccionándonos mediante un link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Que esta dentro del correo a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pag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Heroku</a:t>
            </a:r>
            <a:endParaRPr lang="es-MX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9247" y="151413"/>
            <a:ext cx="3496660" cy="6420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2337" y="4085565"/>
            <a:ext cx="4723488" cy="1085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2 Flecha abajo"/>
          <p:cNvSpPr/>
          <p:nvPr/>
        </p:nvSpPr>
        <p:spPr>
          <a:xfrm rot="5400000">
            <a:off x="7243177" y="3738720"/>
            <a:ext cx="630620" cy="15269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06116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2303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Dentro de la pagina se nos pedirá ingresar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password</a:t>
            </a:r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y repetirlo.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Finalmente deberemos de presionar el botón de </a:t>
            </a:r>
          </a:p>
          <a:p>
            <a:r>
              <a:rPr lang="es-MX" b="1" dirty="0" smtClean="0">
                <a:latin typeface="+mj-lt"/>
                <a:ea typeface="Calibri" panose="020F0502020204030204" pitchFamily="34" charset="0"/>
              </a:rPr>
              <a:t>SET PASSWORD AND LOG IN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7692" y="185363"/>
            <a:ext cx="5252929" cy="6358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151891">
            <a:off x="4232767" y="4419711"/>
            <a:ext cx="2889869" cy="7094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11403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2046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Se nos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muestra la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siguiente pantalla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a la que deberemos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de aceptar</a:t>
            </a:r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0322" y="3885413"/>
            <a:ext cx="7994155" cy="28606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0475" y="2230933"/>
            <a:ext cx="9702338" cy="30567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33200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2046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deberemos de crear un espacio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donde subiremos nuestra aplicación, por ser una cuenta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free permite crear un máximo de hasta 5 cuentas.</a:t>
            </a:r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4014" y="2621510"/>
            <a:ext cx="4873567" cy="37570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79028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2145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deberemos de indicar un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nombre de nuestra aplicación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(I)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, región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(II)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y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por último creamos la misma presionando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sobre el botón </a:t>
            </a:r>
            <a:r>
              <a:rPr lang="es-MX" sz="2000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sz="2000" b="1" dirty="0" err="1" smtClean="0">
                <a:latin typeface="+mj-lt"/>
                <a:ea typeface="Calibri" panose="020F0502020204030204" pitchFamily="34" charset="0"/>
              </a:rPr>
              <a:t>create</a:t>
            </a:r>
            <a:r>
              <a:rPr lang="es-MX" sz="20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MX" sz="2000" b="1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sz="2000" b="1" dirty="0" smtClean="0">
                <a:latin typeface="+mj-lt"/>
                <a:ea typeface="Calibri" panose="020F0502020204030204" pitchFamily="34" charset="0"/>
              </a:rPr>
              <a:t>» (III)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00" y="2520106"/>
            <a:ext cx="7107428" cy="422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044514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1072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Se nos muestra la siguiente ventana de nuestro espacio.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513" y="3136020"/>
            <a:ext cx="9957158" cy="3595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302311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4557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Si deseamos borrar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nos dirigimos a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Settings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y buscamos al final el botón que dice 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Delete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…»</a:t>
            </a:r>
          </a:p>
          <a:p>
            <a:pPr marL="285750" indent="-285750">
              <a:buFont typeface="Arial" pitchFamily="34" charset="0"/>
              <a:buChar char="•"/>
            </a:pPr>
            <a:endParaRPr lang="es-MX" b="1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Pero en nuestro caso debemos de desplegar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para ello deberemos de irnos a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Deploy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», 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y seguimos los pasos que nos indica el sitio para poder hacer el despliegue de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, pasos que se indican más debajo de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pag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 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96551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5"/>
            <a:ext cx="11541893" cy="2366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Como primer paso se instala una aplicación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cliente. Es una instalación simple y tradicional de </a:t>
            </a:r>
          </a:p>
          <a:p>
            <a:r>
              <a:rPr lang="es-MX" dirty="0" err="1" smtClean="0">
                <a:latin typeface="+mj-lt"/>
                <a:ea typeface="Calibri" panose="020F0502020204030204" pitchFamily="34" charset="0"/>
              </a:rPr>
              <a:t>windows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MX" dirty="0">
              <a:latin typeface="+mj-lt"/>
              <a:ea typeface="Calibri" panose="020F0502020204030204" pitchFamily="34" charset="0"/>
            </a:endParaRP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Existe un instalador según plataforma, en mi caso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descargo para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windows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64bits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520" y="2639716"/>
            <a:ext cx="6268930" cy="3551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16819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112" y="2910868"/>
            <a:ext cx="4987870" cy="38726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884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Presionamos en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Next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luego en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Install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y por último en el botón de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Close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90" y="3069627"/>
            <a:ext cx="4512392" cy="35045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8979" y="2954880"/>
            <a:ext cx="5376068" cy="382868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981237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5"/>
            <a:ext cx="11541893" cy="2366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abrimos una terminal con CMD y deberemos de pararnos dentro de la carpeta donde esta nuestro proyecto java a subir.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Dentro de esta y estando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logueado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previamente en la pagina ejecutamos el siguiente comando: </a:t>
            </a:r>
            <a:r>
              <a:rPr lang="es-AR" b="1" dirty="0" err="1" smtClean="0"/>
              <a:t>heroku</a:t>
            </a:r>
            <a:r>
              <a:rPr lang="es-AR" b="1" dirty="0" smtClean="0"/>
              <a:t> </a:t>
            </a:r>
            <a:r>
              <a:rPr lang="es-AR" b="1" dirty="0" err="1" smtClean="0"/>
              <a:t>login</a:t>
            </a:r>
            <a:r>
              <a:rPr lang="es-AR" dirty="0" smtClean="0"/>
              <a:t>, esto nos dará un mensaje que nos pedirá presionar </a:t>
            </a:r>
            <a:r>
              <a:rPr lang="es-AR" dirty="0" err="1" smtClean="0"/>
              <a:t>intro</a:t>
            </a:r>
            <a:r>
              <a:rPr lang="es-AR" dirty="0" smtClean="0"/>
              <a:t> para que posteriormente se nos abra un navegador con una ventana que nos pedirá acceso.</a:t>
            </a:r>
          </a:p>
          <a:p>
            <a:pPr algn="ctr"/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552" y="4201924"/>
            <a:ext cx="8456966" cy="2522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676" y="3903365"/>
            <a:ext cx="3886774" cy="2820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oblada hacia arriba"/>
          <p:cNvSpPr/>
          <p:nvPr/>
        </p:nvSpPr>
        <p:spPr>
          <a:xfrm rot="5400000">
            <a:off x="6391254" y="4294444"/>
            <a:ext cx="879021" cy="3641308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69953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5"/>
            <a:ext cx="11541893" cy="2366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ejecutaremos el siguiente comando que básicamente nos permite inicializar un repositorio en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Git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: </a:t>
            </a:r>
          </a:p>
          <a:p>
            <a:r>
              <a:rPr lang="es-ES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s-ES" sz="2000" b="1" dirty="0" err="1" smtClean="0">
                <a:latin typeface="+mj-lt"/>
                <a:ea typeface="Calibri" panose="020F0502020204030204" pitchFamily="34" charset="0"/>
              </a:rPr>
              <a:t>git</a:t>
            </a:r>
            <a:r>
              <a:rPr lang="es-ES" sz="20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ES" sz="2000" b="1" dirty="0" err="1" smtClean="0">
                <a:latin typeface="+mj-lt"/>
                <a:ea typeface="Calibri" panose="020F0502020204030204" pitchFamily="34" charset="0"/>
              </a:rPr>
              <a:t>init</a:t>
            </a:r>
            <a:endParaRPr lang="es-ES" sz="2000" b="1" dirty="0" smtClean="0">
              <a:latin typeface="+mj-lt"/>
              <a:ea typeface="Calibri" panose="020F0502020204030204" pitchFamily="34" charset="0"/>
            </a:endParaRPr>
          </a:p>
          <a:p>
            <a:r>
              <a:rPr lang="es-ES" sz="2000" b="1" dirty="0">
                <a:latin typeface="+mj-lt"/>
              </a:rPr>
              <a:t>	</a:t>
            </a:r>
            <a:r>
              <a:rPr lang="es-AR" sz="2000" b="1" dirty="0" err="1"/>
              <a:t>heroku</a:t>
            </a:r>
            <a:r>
              <a:rPr lang="es-AR" sz="2000" b="1" dirty="0"/>
              <a:t> </a:t>
            </a:r>
            <a:r>
              <a:rPr lang="es-AR" sz="2000" b="1" dirty="0" err="1"/>
              <a:t>git:remote</a:t>
            </a:r>
            <a:r>
              <a:rPr lang="es-AR" sz="2000" b="1" dirty="0"/>
              <a:t> -a backend-portfolio-1</a:t>
            </a:r>
            <a:endParaRPr lang="es-AR" sz="2000" b="1" dirty="0" smtClean="0"/>
          </a:p>
          <a:p>
            <a:pPr algn="ctr"/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986" y="4041229"/>
            <a:ext cx="8998395" cy="26483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033189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desplegamos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dentro de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heroku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con los siguientes comandos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: </a:t>
            </a:r>
          </a:p>
          <a:p>
            <a:pPr marL="742950" lvl="1" indent="-285750">
              <a:buFont typeface="Arial" pitchFamily="34" charset="0"/>
              <a:buChar char="•"/>
            </a:pP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pPr marL="742950" lvl="1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Indico que se realizara una copia desde la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raiz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r>
              <a:rPr lang="es-ES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s-ES" b="1" dirty="0" smtClean="0">
                <a:latin typeface="+mj-lt"/>
                <a:ea typeface="Calibri" panose="020F0502020204030204" pitchFamily="34" charset="0"/>
              </a:rPr>
              <a:t>	</a:t>
            </a:r>
            <a:r>
              <a:rPr lang="es-ES" sz="2400" b="1" dirty="0" err="1" smtClean="0">
                <a:latin typeface="+mj-lt"/>
                <a:ea typeface="Calibri" panose="020F0502020204030204" pitchFamily="34" charset="0"/>
              </a:rPr>
              <a:t>git</a:t>
            </a:r>
            <a:r>
              <a:rPr lang="es-ES" sz="24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ES" sz="2400" b="1" dirty="0" err="1" smtClean="0">
                <a:latin typeface="+mj-lt"/>
                <a:ea typeface="Calibri" panose="020F0502020204030204" pitchFamily="34" charset="0"/>
              </a:rPr>
              <a:t>add</a:t>
            </a:r>
            <a:r>
              <a:rPr lang="es-ES" sz="2400" b="1" dirty="0" smtClean="0">
                <a:latin typeface="+mj-lt"/>
                <a:ea typeface="Calibri" panose="020F0502020204030204" pitchFamily="34" charset="0"/>
              </a:rPr>
              <a:t> .</a:t>
            </a:r>
          </a:p>
          <a:p>
            <a:pPr marL="342900" indent="-342900">
              <a:buFont typeface="Arial" pitchFamily="34" charset="0"/>
              <a:buChar char="•"/>
            </a:pPr>
            <a:endParaRPr lang="es-ES" sz="2000" dirty="0" smtClean="0">
              <a:latin typeface="+mj-lt"/>
              <a:ea typeface="Calibri" panose="020F0502020204030204" pitchFamily="34" charset="0"/>
            </a:endParaRPr>
          </a:p>
          <a:p>
            <a:pPr marL="800100" lvl="1" indent="-342900">
              <a:buFont typeface="Arial" pitchFamily="34" charset="0"/>
              <a:buChar char="•"/>
            </a:pPr>
            <a:r>
              <a:rPr lang="es-ES" sz="2000" dirty="0" smtClean="0">
                <a:latin typeface="+mj-lt"/>
                <a:ea typeface="Calibri" panose="020F0502020204030204" pitchFamily="34" charset="0"/>
              </a:rPr>
              <a:t>Mando a pendiente con un comentario</a:t>
            </a:r>
          </a:p>
          <a:p>
            <a:r>
              <a:rPr lang="es-ES" sz="2000" b="1" dirty="0">
                <a:latin typeface="+mj-lt"/>
              </a:rPr>
              <a:t>	</a:t>
            </a:r>
            <a:r>
              <a:rPr lang="es-ES" sz="2000" b="1" dirty="0" smtClean="0">
                <a:latin typeface="+mj-lt"/>
              </a:rPr>
              <a:t>	</a:t>
            </a:r>
            <a:r>
              <a:rPr lang="en-US" sz="2400" b="1" dirty="0" err="1" smtClean="0"/>
              <a:t>git</a:t>
            </a:r>
            <a:r>
              <a:rPr lang="en-US" sz="2400" b="1" dirty="0" smtClean="0"/>
              <a:t> </a:t>
            </a:r>
            <a:r>
              <a:rPr lang="en-US" sz="2400" b="1" dirty="0"/>
              <a:t>commit -am </a:t>
            </a:r>
            <a:r>
              <a:rPr lang="en-US" sz="2400" b="1" dirty="0" smtClean="0"/>
              <a:t>“</a:t>
            </a:r>
            <a:r>
              <a:rPr lang="en-US" sz="2400" b="1" dirty="0" err="1" smtClean="0"/>
              <a:t>comentario</a:t>
            </a:r>
            <a:r>
              <a:rPr lang="en-US" sz="2400" b="1" dirty="0" smtClean="0"/>
              <a:t>“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2000" dirty="0" smtClean="0"/>
          </a:p>
          <a:p>
            <a:pPr marL="800100" lvl="1" indent="-342900">
              <a:buFont typeface="Arial" pitchFamily="34" charset="0"/>
              <a:buChar char="•"/>
            </a:pPr>
            <a:r>
              <a:rPr lang="en-US" sz="2000" dirty="0" err="1" smtClean="0"/>
              <a:t>Inicio</a:t>
            </a:r>
            <a:r>
              <a:rPr lang="en-US" sz="2000" dirty="0" smtClean="0"/>
              <a:t> </a:t>
            </a:r>
            <a:r>
              <a:rPr lang="en-US" sz="2000" dirty="0" err="1" smtClean="0"/>
              <a:t>proceso</a:t>
            </a:r>
            <a:r>
              <a:rPr lang="en-US" sz="2000" dirty="0" smtClean="0"/>
              <a:t> de </a:t>
            </a:r>
            <a:r>
              <a:rPr lang="en-US" sz="2000" dirty="0" err="1" smtClean="0"/>
              <a:t>subida</a:t>
            </a:r>
            <a:r>
              <a:rPr lang="en-US" sz="2000" dirty="0" smtClean="0"/>
              <a:t> de </a:t>
            </a:r>
            <a:r>
              <a:rPr lang="en-US" sz="2000" dirty="0" err="1" smtClean="0"/>
              <a:t>nuestra</a:t>
            </a:r>
            <a:r>
              <a:rPr lang="en-US" sz="2000" dirty="0" smtClean="0"/>
              <a:t> app local al </a:t>
            </a:r>
            <a:r>
              <a:rPr lang="en-US" sz="2000" dirty="0" err="1" smtClean="0"/>
              <a:t>repositorio</a:t>
            </a:r>
            <a:r>
              <a:rPr lang="en-US" sz="2000" dirty="0" smtClean="0"/>
              <a:t> web de </a:t>
            </a:r>
            <a:r>
              <a:rPr lang="en-US" sz="2000" dirty="0" err="1" smtClean="0"/>
              <a:t>heroku</a:t>
            </a:r>
            <a:endParaRPr lang="en-US" sz="2000" dirty="0" smtClean="0"/>
          </a:p>
          <a:p>
            <a:r>
              <a:rPr lang="en-US" sz="2000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n-US" sz="2000" b="1" dirty="0" smtClean="0">
                <a:latin typeface="+mj-lt"/>
                <a:ea typeface="Calibri" panose="020F0502020204030204" pitchFamily="34" charset="0"/>
              </a:rPr>
              <a:t>	</a:t>
            </a:r>
            <a:r>
              <a:rPr lang="es-AR" sz="2000" b="1" dirty="0" err="1" smtClean="0"/>
              <a:t>git</a:t>
            </a:r>
            <a:r>
              <a:rPr lang="es-AR" sz="2000" b="1" dirty="0" smtClean="0"/>
              <a:t> </a:t>
            </a:r>
            <a:r>
              <a:rPr lang="es-AR" sz="2000" b="1" dirty="0" err="1"/>
              <a:t>push</a:t>
            </a:r>
            <a:r>
              <a:rPr lang="es-AR" sz="2000" b="1" dirty="0"/>
              <a:t> </a:t>
            </a:r>
            <a:r>
              <a:rPr lang="es-AR" sz="2000" b="1" dirty="0" err="1"/>
              <a:t>heroku</a:t>
            </a:r>
            <a:r>
              <a:rPr lang="es-AR" sz="2000" b="1" dirty="0"/>
              <a:t> master</a:t>
            </a:r>
            <a:endParaRPr lang="es-MX" sz="2000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99117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Servidor 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FIREBASE 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para nuestra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de 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angular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370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Generando 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el compilado de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321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un compilado de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directorio que contiene a nuestra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 de angular para poder ejecutar el siguiente comando: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sz="2000" b="1" dirty="0">
              <a:latin typeface="+mj-lt"/>
              <a:ea typeface="Calibri" panose="020F0502020204030204" pitchFamily="34" charset="0"/>
            </a:endParaRPr>
          </a:p>
          <a:p>
            <a:r>
              <a:rPr lang="es-ES" sz="2000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s-ES" sz="2000" b="1" dirty="0" smtClean="0">
                <a:latin typeface="+mj-lt"/>
                <a:ea typeface="Calibri" panose="020F0502020204030204" pitchFamily="34" charset="0"/>
              </a:rPr>
              <a:t>		</a:t>
            </a:r>
            <a:r>
              <a:rPr lang="es-ES" sz="2000" b="1" dirty="0" err="1" smtClean="0">
                <a:latin typeface="+mj-lt"/>
                <a:ea typeface="Calibri" panose="020F0502020204030204" pitchFamily="34" charset="0"/>
              </a:rPr>
              <a:t>ng</a:t>
            </a:r>
            <a:r>
              <a:rPr lang="es-ES" sz="20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ES" sz="2000" b="1" dirty="0" err="1" smtClean="0">
                <a:latin typeface="+mj-lt"/>
                <a:ea typeface="Calibri" panose="020F0502020204030204" pitchFamily="34" charset="0"/>
              </a:rPr>
              <a:t>build</a:t>
            </a:r>
            <a:r>
              <a:rPr lang="es-ES" sz="2000" b="1" dirty="0" smtClean="0">
                <a:latin typeface="+mj-lt"/>
                <a:ea typeface="Calibri" panose="020F0502020204030204" pitchFamily="34" charset="0"/>
              </a:rPr>
              <a:t> </a:t>
            </a:r>
          </a:p>
          <a:p>
            <a:endParaRPr lang="es-ES" sz="2000" b="1" dirty="0">
              <a:latin typeface="+mj-lt"/>
              <a:ea typeface="Calibri" panose="020F0502020204030204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s-ES" sz="2000" dirty="0" smtClean="0">
                <a:latin typeface="+mj-lt"/>
                <a:ea typeface="Calibri" panose="020F0502020204030204" pitchFamily="34" charset="0"/>
              </a:rPr>
              <a:t>Esto genera luego una carpeta llamada </a:t>
            </a:r>
            <a:r>
              <a:rPr lang="es-ES" sz="2000" dirty="0" err="1" smtClean="0">
                <a:latin typeface="+mj-lt"/>
                <a:ea typeface="Calibri" panose="020F0502020204030204" pitchFamily="34" charset="0"/>
              </a:rPr>
              <a:t>dist</a:t>
            </a:r>
            <a:r>
              <a:rPr lang="es-ES" sz="2000" dirty="0" smtClean="0">
                <a:latin typeface="+mj-lt"/>
                <a:ea typeface="Calibri" panose="020F0502020204030204" pitchFamily="34" charset="0"/>
              </a:rPr>
              <a:t>/ nombre del proyecto</a:t>
            </a:r>
            <a:endParaRPr lang="es-MX" sz="2000" dirty="0" smtClean="0">
              <a:latin typeface="+mj-lt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04809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Generando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en servidor FIREBASE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58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49408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" y="751567"/>
            <a:ext cx="5829300" cy="527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865" y="2282595"/>
            <a:ext cx="4410075" cy="449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07920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5638" y="800100"/>
            <a:ext cx="5800725" cy="525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968471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618" y="863864"/>
            <a:ext cx="7219950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2666" y="1351722"/>
            <a:ext cx="7781925" cy="5210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95632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281" y="1351722"/>
            <a:ext cx="4371975" cy="381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6617" y="2086632"/>
            <a:ext cx="5867400" cy="4324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996914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506" y="863864"/>
            <a:ext cx="6124575" cy="438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035305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24" y="863864"/>
            <a:ext cx="7924800" cy="547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277" y="3797934"/>
            <a:ext cx="4857750" cy="2867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54658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3150" y="751567"/>
            <a:ext cx="7505700" cy="493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581890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2123" y="863864"/>
            <a:ext cx="8087382" cy="5584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986739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08" y="1351722"/>
            <a:ext cx="7210373" cy="4170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692576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915" y="2227701"/>
            <a:ext cx="11228309" cy="2848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260464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11" y="2178105"/>
            <a:ext cx="10343739" cy="3481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74153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27" y="2169280"/>
            <a:ext cx="7734300" cy="3448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538985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ingresar a nuestro servidor mediante la siguiente dirección web</a:t>
            </a:r>
            <a:endParaRPr lang="es-ES" dirty="0">
              <a:latin typeface="+mj-lt"/>
              <a:ea typeface="Calibri" panose="020F0502020204030204" pitchFamily="34" charset="0"/>
            </a:endParaRPr>
          </a:p>
          <a:p>
            <a:endParaRPr lang="es-ES" dirty="0" smtClean="0">
              <a:latin typeface="+mj-lt"/>
              <a:ea typeface="Calibri" panose="020F0502020204030204" pitchFamily="34" charset="0"/>
              <a:hlinkClick r:id="rId3"/>
            </a:endParaRPr>
          </a:p>
          <a:p>
            <a:pPr algn="ctr"/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https</a:t>
            </a:r>
            <a:r>
              <a:rPr lang="es-ES" dirty="0">
                <a:latin typeface="+mj-lt"/>
                <a:ea typeface="Calibri" panose="020F0502020204030204" pitchFamily="34" charset="0"/>
                <a:hlinkClick r:id="rId3"/>
              </a:rPr>
              <a:t>://firebase.google.com/?</a:t>
            </a:r>
            <a:r>
              <a:rPr lang="es-ES" dirty="0" smtClean="0">
                <a:latin typeface="+mj-lt"/>
                <a:ea typeface="Calibri" panose="020F0502020204030204" pitchFamily="34" charset="0"/>
                <a:hlinkClick r:id="rId3"/>
              </a:rPr>
              <a:t>hl=es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endParaRPr lang="es-ES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Me valido como usuario mediante la cuenta de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google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ES" dirty="0" err="1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8189" y="1749287"/>
            <a:ext cx="7562850" cy="4295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66743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desplegamos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dentro de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heroku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con los siguientes comandos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: </a:t>
            </a:r>
          </a:p>
          <a:p>
            <a:pPr marL="742950" lvl="1" indent="-285750">
              <a:buFont typeface="Arial" pitchFamily="34" charset="0"/>
              <a:buChar char="•"/>
            </a:pP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s-ES" sz="2000" dirty="0" smtClean="0">
              <a:latin typeface="+mj-lt"/>
              <a:ea typeface="Calibri" panose="020F0502020204030204" pitchFamily="34" charset="0"/>
            </a:endParaRPr>
          </a:p>
          <a:p>
            <a:pPr marL="800100" lvl="1" indent="-342900">
              <a:buFont typeface="Arial" pitchFamily="34" charset="0"/>
              <a:buChar char="•"/>
            </a:pPr>
            <a:r>
              <a:rPr lang="es-ES" sz="2000" dirty="0" smtClean="0">
                <a:latin typeface="+mj-lt"/>
                <a:ea typeface="Calibri" panose="020F0502020204030204" pitchFamily="34" charset="0"/>
              </a:rPr>
              <a:t>Mando a pendiente con un comentario</a:t>
            </a:r>
          </a:p>
          <a:p>
            <a:r>
              <a:rPr lang="es-ES" sz="2000" b="1" dirty="0">
                <a:latin typeface="+mj-lt"/>
              </a:rPr>
              <a:t>	</a:t>
            </a:r>
            <a:r>
              <a:rPr lang="es-ES" sz="2000" b="1" dirty="0" smtClean="0">
                <a:latin typeface="+mj-lt"/>
              </a:rPr>
              <a:t>	</a:t>
            </a:r>
            <a:r>
              <a:rPr lang="en-US" sz="2400" b="1" dirty="0" err="1" smtClean="0"/>
              <a:t>git</a:t>
            </a:r>
            <a:r>
              <a:rPr lang="en-US" sz="2400" b="1" dirty="0" smtClean="0"/>
              <a:t> </a:t>
            </a:r>
            <a:r>
              <a:rPr lang="en-US" sz="2400" b="1" dirty="0"/>
              <a:t>commit -am </a:t>
            </a:r>
            <a:r>
              <a:rPr lang="en-US" sz="2400" b="1" dirty="0" smtClean="0"/>
              <a:t>“</a:t>
            </a:r>
            <a:r>
              <a:rPr lang="en-US" sz="2400" b="1" dirty="0" err="1" smtClean="0"/>
              <a:t>comentario</a:t>
            </a:r>
            <a:r>
              <a:rPr lang="en-US" sz="2400" b="1" dirty="0" smtClean="0"/>
              <a:t>“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2000" dirty="0" smtClean="0"/>
          </a:p>
          <a:p>
            <a:pPr marL="800100" lvl="1" indent="-342900">
              <a:buFont typeface="Arial" pitchFamily="34" charset="0"/>
              <a:buChar char="•"/>
            </a:pPr>
            <a:r>
              <a:rPr lang="en-US" sz="2000" dirty="0" err="1" smtClean="0"/>
              <a:t>Inicio</a:t>
            </a:r>
            <a:r>
              <a:rPr lang="en-US" sz="2000" dirty="0" smtClean="0"/>
              <a:t> </a:t>
            </a:r>
            <a:r>
              <a:rPr lang="en-US" sz="2000" dirty="0" err="1" smtClean="0"/>
              <a:t>proceso</a:t>
            </a:r>
            <a:r>
              <a:rPr lang="en-US" sz="2000" dirty="0" smtClean="0"/>
              <a:t> de </a:t>
            </a:r>
            <a:r>
              <a:rPr lang="en-US" sz="2000" dirty="0" err="1" smtClean="0"/>
              <a:t>subida</a:t>
            </a:r>
            <a:r>
              <a:rPr lang="en-US" sz="2000" dirty="0" smtClean="0"/>
              <a:t> de </a:t>
            </a:r>
            <a:r>
              <a:rPr lang="en-US" sz="2000" dirty="0" err="1" smtClean="0"/>
              <a:t>nuestra</a:t>
            </a:r>
            <a:r>
              <a:rPr lang="en-US" sz="2000" dirty="0" smtClean="0"/>
              <a:t> app local al </a:t>
            </a:r>
            <a:r>
              <a:rPr lang="en-US" sz="2000" dirty="0" err="1" smtClean="0"/>
              <a:t>repositorio</a:t>
            </a:r>
            <a:r>
              <a:rPr lang="en-US" sz="2000" dirty="0" smtClean="0"/>
              <a:t> web de </a:t>
            </a:r>
            <a:r>
              <a:rPr lang="en-US" sz="2000" dirty="0" err="1" smtClean="0"/>
              <a:t>heroku</a:t>
            </a:r>
            <a:endParaRPr lang="en-US" sz="2000" dirty="0" smtClean="0"/>
          </a:p>
          <a:p>
            <a:r>
              <a:rPr lang="en-US" sz="2000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n-US" sz="2000" b="1" dirty="0" smtClean="0">
                <a:latin typeface="+mj-lt"/>
                <a:ea typeface="Calibri" panose="020F0502020204030204" pitchFamily="34" charset="0"/>
              </a:rPr>
              <a:t>	</a:t>
            </a:r>
            <a:r>
              <a:rPr lang="es-AR" sz="2000" b="1" dirty="0" err="1" smtClean="0"/>
              <a:t>git</a:t>
            </a:r>
            <a:r>
              <a:rPr lang="es-AR" sz="2000" b="1" dirty="0" smtClean="0"/>
              <a:t> </a:t>
            </a:r>
            <a:r>
              <a:rPr lang="es-AR" sz="2000" b="1" dirty="0" err="1"/>
              <a:t>push</a:t>
            </a:r>
            <a:r>
              <a:rPr lang="es-AR" sz="2000" b="1" dirty="0"/>
              <a:t> </a:t>
            </a:r>
            <a:r>
              <a:rPr lang="es-AR" sz="2000" b="1" dirty="0" err="1"/>
              <a:t>heroku</a:t>
            </a:r>
            <a:r>
              <a:rPr lang="es-AR" sz="2000" b="1" dirty="0"/>
              <a:t> master</a:t>
            </a:r>
            <a:endParaRPr lang="es-MX" sz="2000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061220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1"/>
          <p:cNvSpPr txBox="1"/>
          <p:nvPr/>
        </p:nvSpPr>
        <p:spPr>
          <a:xfrm>
            <a:off x="804220" y="2251200"/>
            <a:ext cx="9507200" cy="18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0000" rIns="121900" bIns="0" anchor="t" anchorCtr="0">
            <a:noAutofit/>
          </a:bodyPr>
          <a:lstStyle/>
          <a:p>
            <a:pPr defTabSz="1219170">
              <a:buClr>
                <a:srgbClr val="000000"/>
              </a:buClr>
              <a:buSzPts val="4000"/>
            </a:pPr>
            <a:r>
              <a:rPr lang="es-AR" sz="5333" b="1" kern="0" dirty="0" smtClean="0">
                <a:solidFill>
                  <a:srgbClr val="FADA54"/>
                </a:solidFill>
                <a:latin typeface="Encode Sans"/>
                <a:ea typeface="Encode Sans"/>
                <a:cs typeface="Encode Sans"/>
                <a:sym typeface="Encode Sans"/>
              </a:rPr>
              <a:t>Fin Presentación.</a:t>
            </a:r>
            <a:endParaRPr sz="5333" b="1" kern="0" dirty="0">
              <a:solidFill>
                <a:srgbClr val="FADA54"/>
              </a:solidFill>
              <a:latin typeface="Encode Sans"/>
              <a:ea typeface="Encode Sans"/>
              <a:cs typeface="Encode Sans"/>
              <a:sym typeface="Encode Sans"/>
            </a:endParaRPr>
          </a:p>
        </p:txBody>
      </p:sp>
      <p:cxnSp>
        <p:nvCxnSpPr>
          <p:cNvPr id="139" name="Google Shape;139;p31"/>
          <p:cNvCxnSpPr/>
          <p:nvPr/>
        </p:nvCxnSpPr>
        <p:spPr>
          <a:xfrm rot="10800000">
            <a:off x="959347" y="4522684"/>
            <a:ext cx="2529200" cy="320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76319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16920</TotalTime>
  <Words>1688</Words>
  <Application>Microsoft Office PowerPoint</Application>
  <PresentationFormat>Personalizado</PresentationFormat>
  <Paragraphs>388</Paragraphs>
  <Slides>52</Slides>
  <Notes>52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52</vt:i4>
      </vt:variant>
    </vt:vector>
  </HeadingPairs>
  <TitlesOfParts>
    <vt:vector size="53" baseType="lpstr"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Estrella Noemí Pujol</dc:creator>
  <cp:lastModifiedBy>Jomolca</cp:lastModifiedBy>
  <cp:revision>810</cp:revision>
  <cp:lastPrinted>2021-12-27T10:45:11Z</cp:lastPrinted>
  <dcterms:created xsi:type="dcterms:W3CDTF">2021-07-26T23:29:19Z</dcterms:created>
  <dcterms:modified xsi:type="dcterms:W3CDTF">2022-05-07T16:42:10Z</dcterms:modified>
</cp:coreProperties>
</file>